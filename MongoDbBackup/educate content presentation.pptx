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72" r:id="rId3"/>
    <p:sldId id="343" r:id="rId4"/>
    <p:sldId id="257" r:id="rId5"/>
    <p:sldId id="273" r:id="rId6"/>
    <p:sldId id="275" r:id="rId7"/>
    <p:sldId id="258" r:id="rId8"/>
    <p:sldId id="274" r:id="rId9"/>
    <p:sldId id="280" r:id="rId10"/>
    <p:sldId id="259" r:id="rId11"/>
    <p:sldId id="269" r:id="rId12"/>
    <p:sldId id="265" r:id="rId13"/>
    <p:sldId id="261" r:id="rId14"/>
    <p:sldId id="342" r:id="rId15"/>
    <p:sldId id="264" r:id="rId16"/>
    <p:sldId id="270" r:id="rId17"/>
    <p:sldId id="271" r:id="rId18"/>
    <p:sldId id="344" r:id="rId19"/>
    <p:sldId id="292" r:id="rId20"/>
    <p:sldId id="277" r:id="rId21"/>
    <p:sldId id="294" r:id="rId22"/>
    <p:sldId id="298" r:id="rId23"/>
    <p:sldId id="302" r:id="rId24"/>
    <p:sldId id="310" r:id="rId25"/>
    <p:sldId id="317" r:id="rId26"/>
    <p:sldId id="318" r:id="rId27"/>
    <p:sldId id="311" r:id="rId28"/>
    <p:sldId id="319" r:id="rId29"/>
    <p:sldId id="313" r:id="rId30"/>
    <p:sldId id="315" r:id="rId31"/>
    <p:sldId id="335" r:id="rId32"/>
    <p:sldId id="336" r:id="rId33"/>
    <p:sldId id="338" r:id="rId34"/>
    <p:sldId id="339" r:id="rId35"/>
    <p:sldId id="321" r:id="rId36"/>
    <p:sldId id="323" r:id="rId37"/>
    <p:sldId id="325" r:id="rId38"/>
    <p:sldId id="326" r:id="rId39"/>
    <p:sldId id="327" r:id="rId40"/>
    <p:sldId id="331" r:id="rId41"/>
    <p:sldId id="332" r:id="rId42"/>
    <p:sldId id="334" r:id="rId43"/>
    <p:sldId id="340" r:id="rId44"/>
    <p:sldId id="293"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BEB"/>
    <a:srgbClr val="E7E5E5"/>
    <a:srgbClr val="EAF2FF"/>
    <a:srgbClr val="CAD7FA"/>
    <a:srgbClr val="CDDEEF"/>
    <a:srgbClr val="BC004C"/>
    <a:srgbClr val="9933FF"/>
    <a:srgbClr val="0033CC"/>
    <a:srgbClr val="00CCFF"/>
    <a:srgbClr val="F9FA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4610"/>
  </p:normalViewPr>
  <p:slideViewPr>
    <p:cSldViewPr snapToGrid="0" snapToObjects="1">
      <p:cViewPr varScale="1">
        <p:scale>
          <a:sx n="107" d="100"/>
          <a:sy n="107" d="100"/>
        </p:scale>
        <p:origin x="354" y="40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610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hyperlink" Target="https://github.com/saikatssg/student-education-portal/tree/main"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hlinkClick r:id="rId4"/>
            <a:extLst>
              <a:ext uri="{FF2B5EF4-FFF2-40B4-BE49-F238E27FC236}">
                <a16:creationId xmlns:a16="http://schemas.microsoft.com/office/drawing/2014/main" id="{F81AA35D-FDA1-464F-8069-39F013DC5C82}"/>
              </a:ext>
            </a:extLst>
          </p:cNvPr>
          <p:cNvSpPr txBox="1"/>
          <p:nvPr userDrawn="1"/>
        </p:nvSpPr>
        <p:spPr>
          <a:xfrm>
            <a:off x="10589623" y="6640770"/>
            <a:ext cx="1602377" cy="215444"/>
          </a:xfrm>
          <a:prstGeom prst="rect">
            <a:avLst/>
          </a:prstGeom>
          <a:noFill/>
        </p:spPr>
        <p:txBody>
          <a:bodyPr wrap="square">
            <a:spAutoFit/>
          </a:bodyPr>
          <a:lstStyle/>
          <a:p>
            <a:r>
              <a:rPr lang="en-IN" sz="800" b="0" i="0" dirty="0">
                <a:solidFill>
                  <a:schemeClr val="accent1">
                    <a:lumMod val="40000"/>
                    <a:lumOff val="60000"/>
                  </a:schemeClr>
                </a:solidFill>
                <a:effectLst/>
                <a:latin typeface="Segoe UI Light" panose="020B0502040204020203" pitchFamily="34" charset="0"/>
                <a:cs typeface="Segoe UI Light" panose="020B0502040204020203" pitchFamily="34" charset="0"/>
              </a:rPr>
              <a:t>Developed By : </a:t>
            </a:r>
            <a:r>
              <a:rPr lang="en-IN" sz="800" b="0" i="0" dirty="0" err="1">
                <a:solidFill>
                  <a:schemeClr val="accent1">
                    <a:lumMod val="40000"/>
                    <a:lumOff val="60000"/>
                  </a:schemeClr>
                </a:solidFill>
                <a:effectLst/>
                <a:latin typeface="Segoe UI Light" panose="020B0502040204020203" pitchFamily="34" charset="0"/>
                <a:cs typeface="Segoe UI Light" panose="020B0502040204020203" pitchFamily="34" charset="0"/>
              </a:rPr>
              <a:t>Saikat</a:t>
            </a:r>
            <a:r>
              <a:rPr lang="en-IN" sz="800" b="0" i="0" dirty="0">
                <a:solidFill>
                  <a:schemeClr val="accent1">
                    <a:lumMod val="40000"/>
                    <a:lumOff val="60000"/>
                  </a:schemeClr>
                </a:solidFill>
                <a:effectLst/>
                <a:latin typeface="Segoe UI Light" panose="020B0502040204020203" pitchFamily="34" charset="0"/>
                <a:cs typeface="Segoe UI Light" panose="020B0502040204020203" pitchFamily="34" charset="0"/>
              </a:rPr>
              <a:t> Sengupta</a:t>
            </a:r>
            <a:endParaRPr lang="en-IN" sz="800" b="0" dirty="0">
              <a:solidFill>
                <a:schemeClr val="accent1">
                  <a:lumMod val="40000"/>
                  <a:lumOff val="60000"/>
                </a:schemeClr>
              </a:solidFill>
              <a:latin typeface="Segoe UI Light" panose="020B0502040204020203" pitchFamily="34" charset="0"/>
              <a:cs typeface="Segoe UI Light" panose="020B0502040204020203"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4.png"/><Relationship Id="rId7" Type="http://schemas.openxmlformats.org/officeDocument/2006/relationships/image" Target="../media/image27.png"/><Relationship Id="rId12" Type="http://schemas.openxmlformats.org/officeDocument/2006/relationships/image" Target="../media/image31.sv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jpg"/><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5.png"/><Relationship Id="rId7" Type="http://schemas.openxmlformats.org/officeDocument/2006/relationships/image" Target="../media/image31.sv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4.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4.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56.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14.png"/><Relationship Id="rId9"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8.png"/><Relationship Id="rId4" Type="http://schemas.openxmlformats.org/officeDocument/2006/relationships/image" Target="../media/image63.png"/><Relationship Id="rId9" Type="http://schemas.openxmlformats.org/officeDocument/2006/relationships/image" Target="../media/image67.png"/></Relationships>
</file>

<file path=ppt/slides/_rels/slide2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3.png"/><Relationship Id="rId7" Type="http://schemas.openxmlformats.org/officeDocument/2006/relationships/image" Target="../media/image70.png"/><Relationship Id="rId12" Type="http://schemas.openxmlformats.org/officeDocument/2006/relationships/image" Target="../media/image61.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74.png"/><Relationship Id="rId5" Type="http://schemas.openxmlformats.org/officeDocument/2006/relationships/image" Target="../media/image65.png"/><Relationship Id="rId10" Type="http://schemas.openxmlformats.org/officeDocument/2006/relationships/image" Target="../media/image73.png"/><Relationship Id="rId4" Type="http://schemas.openxmlformats.org/officeDocument/2006/relationships/image" Target="../media/image69.png"/><Relationship Id="rId9" Type="http://schemas.openxmlformats.org/officeDocument/2006/relationships/image" Target="../media/image72.png"/></Relationships>
</file>

<file path=ppt/slides/_rels/slide2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75.png"/><Relationship Id="rId7" Type="http://schemas.openxmlformats.org/officeDocument/2006/relationships/image" Target="../media/image66.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2.png"/><Relationship Id="rId9" Type="http://schemas.openxmlformats.org/officeDocument/2006/relationships/image" Target="../media/image76.png"/></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80.png"/></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image" Target="../media/image82.png"/></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6.png"/></Relationships>
</file>

<file path=ppt/slides/_rels/slide3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84.png"/></Relationships>
</file>

<file path=ppt/slides/_rels/slide34.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92.png"/><Relationship Id="rId7" Type="http://schemas.openxmlformats.org/officeDocument/2006/relationships/image" Target="../media/image87.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83.png"/></Relationships>
</file>

<file path=ppt/slides/_rels/slide3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4.jp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97.png"/><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02.png"/></Relationships>
</file>

<file path=ppt/slides/_rels/slide4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02.png"/></Relationships>
</file>

<file path=ppt/slides/_rels/slide4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43.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4.png"/><Relationship Id="rId7" Type="http://schemas.openxmlformats.org/officeDocument/2006/relationships/image" Target="../media/image107.pn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103.png"/><Relationship Id="rId11" Type="http://schemas.openxmlformats.org/officeDocument/2006/relationships/image" Target="../media/image95.png"/><Relationship Id="rId5" Type="http://schemas.openxmlformats.org/officeDocument/2006/relationships/image" Target="../media/image106.png"/><Relationship Id="rId10" Type="http://schemas.openxmlformats.org/officeDocument/2006/relationships/image" Target="../media/image110.png"/><Relationship Id="rId4" Type="http://schemas.openxmlformats.org/officeDocument/2006/relationships/image" Target="../media/image105.png"/><Relationship Id="rId9" Type="http://schemas.openxmlformats.org/officeDocument/2006/relationships/image" Target="../media/image109.png"/></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saikatssg/student-education-portal/tree/main" TargetMode="External"/><Relationship Id="rId2" Type="http://schemas.openxmlformats.org/officeDocument/2006/relationships/image" Target="../media/image1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909FD6-A913-4EC2-9286-54117A25773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2000" cy="6858000"/>
          </a:xfrm>
          <a:prstGeom prst="rect">
            <a:avLst/>
          </a:prstGeom>
        </p:spPr>
      </p:pic>
      <p:grpSp>
        <p:nvGrpSpPr>
          <p:cNvPr id="20" name="Group 19">
            <a:extLst>
              <a:ext uri="{FF2B5EF4-FFF2-40B4-BE49-F238E27FC236}">
                <a16:creationId xmlns:a16="http://schemas.microsoft.com/office/drawing/2014/main" id="{4892BC7C-D125-4E27-A07E-AE872D8A8975}"/>
              </a:ext>
            </a:extLst>
          </p:cNvPr>
          <p:cNvGrpSpPr/>
          <p:nvPr/>
        </p:nvGrpSpPr>
        <p:grpSpPr>
          <a:xfrm>
            <a:off x="778741" y="964017"/>
            <a:ext cx="9012956" cy="809584"/>
            <a:chOff x="778741" y="964017"/>
            <a:chExt cx="9012956" cy="809584"/>
          </a:xfrm>
        </p:grpSpPr>
        <p:pic>
          <p:nvPicPr>
            <p:cNvPr id="5" name="Picture 4">
              <a:extLst>
                <a:ext uri="{FF2B5EF4-FFF2-40B4-BE49-F238E27FC236}">
                  <a16:creationId xmlns:a16="http://schemas.microsoft.com/office/drawing/2014/main" id="{ABB7C906-7698-4ACF-BD55-4B93E6400645}"/>
                </a:ext>
              </a:extLst>
            </p:cNvPr>
            <p:cNvPicPr>
              <a:picLocks noChangeAspect="1"/>
            </p:cNvPicPr>
            <p:nvPr/>
          </p:nvPicPr>
          <p:blipFill>
            <a:blip r:embed="rId3"/>
            <a:srcRect/>
            <a:stretch/>
          </p:blipFill>
          <p:spPr>
            <a:xfrm>
              <a:off x="778741" y="964017"/>
              <a:ext cx="1883221" cy="779263"/>
            </a:xfrm>
            <a:prstGeom prst="rect">
              <a:avLst/>
            </a:prstGeom>
          </p:spPr>
        </p:pic>
        <p:sp>
          <p:nvSpPr>
            <p:cNvPr id="9" name="Rectangle 8">
              <a:extLst>
                <a:ext uri="{FF2B5EF4-FFF2-40B4-BE49-F238E27FC236}">
                  <a16:creationId xmlns:a16="http://schemas.microsoft.com/office/drawing/2014/main" id="{5DD2B998-BAD8-4783-8182-44CBFDA31C94}"/>
                </a:ext>
              </a:extLst>
            </p:cNvPr>
            <p:cNvSpPr/>
            <p:nvPr/>
          </p:nvSpPr>
          <p:spPr>
            <a:xfrm>
              <a:off x="2661962" y="1068334"/>
              <a:ext cx="6682061" cy="400110"/>
            </a:xfrm>
            <a:prstGeom prst="rect">
              <a:avLst/>
            </a:prstGeom>
            <a:noFill/>
          </p:spPr>
          <p:txBody>
            <a:bodyPr wrap="square" lIns="91440" tIns="45720" rIns="91440" bIns="45720">
              <a:spAutoFit/>
            </a:bodyPr>
            <a:lstStyle/>
            <a:p>
              <a:pPr algn="l"/>
              <a:r>
                <a:rPr lang="hi-IN" sz="2000" i="0" dirty="0">
                  <a:solidFill>
                    <a:srgbClr val="000000"/>
                  </a:solidFill>
                  <a:effectLst>
                    <a:outerShdw blurRad="38100" dist="38100" dir="2700000" algn="tl">
                      <a:srgbClr val="000000">
                        <a:alpha val="43137"/>
                      </a:srgbClr>
                    </a:outerShdw>
                  </a:effectLst>
                  <a:latin typeface="+mj-lt"/>
                </a:rPr>
                <a:t>राष्ट्रीय इलेक्ट्रॉनिकी एवं सूचना प्रौद्योगिकी संस्थान</a:t>
              </a:r>
              <a:r>
                <a:rPr lang="en-IN" sz="2000" i="0" dirty="0">
                  <a:solidFill>
                    <a:srgbClr val="000000"/>
                  </a:solidFill>
                  <a:effectLst>
                    <a:outerShdw blurRad="38100" dist="38100" dir="2700000" algn="tl">
                      <a:srgbClr val="000000">
                        <a:alpha val="43137"/>
                      </a:srgbClr>
                    </a:outerShdw>
                  </a:effectLst>
                  <a:latin typeface="+mj-lt"/>
                </a:rPr>
                <a:t>,</a:t>
              </a:r>
              <a:r>
                <a:rPr lang="en-IN" sz="2000" dirty="0">
                  <a:solidFill>
                    <a:srgbClr val="000000"/>
                  </a:solidFill>
                  <a:latin typeface="+mj-lt"/>
                </a:rPr>
                <a:t> </a:t>
              </a:r>
              <a:r>
                <a:rPr lang="hi-IN" sz="2000" dirty="0">
                  <a:solidFill>
                    <a:srgbClr val="000000"/>
                  </a:solidFill>
                  <a:effectLst>
                    <a:outerShdw blurRad="38100" dist="38100" dir="2700000" algn="tl">
                      <a:srgbClr val="000000">
                        <a:alpha val="43137"/>
                      </a:srgbClr>
                    </a:outerShdw>
                  </a:effectLst>
                  <a:latin typeface="+mj-lt"/>
                </a:rPr>
                <a:t>कोलकाता</a:t>
              </a:r>
            </a:p>
          </p:txBody>
        </p:sp>
        <p:sp>
          <p:nvSpPr>
            <p:cNvPr id="11" name="TextBox 10">
              <a:extLst>
                <a:ext uri="{FF2B5EF4-FFF2-40B4-BE49-F238E27FC236}">
                  <a16:creationId xmlns:a16="http://schemas.microsoft.com/office/drawing/2014/main" id="{D82B502C-EAD3-499B-9913-254C33F509BA}"/>
                </a:ext>
              </a:extLst>
            </p:cNvPr>
            <p:cNvSpPr txBox="1"/>
            <p:nvPr/>
          </p:nvSpPr>
          <p:spPr>
            <a:xfrm>
              <a:off x="2661962" y="1373491"/>
              <a:ext cx="7129735" cy="400110"/>
            </a:xfrm>
            <a:prstGeom prst="rect">
              <a:avLst/>
            </a:prstGeom>
            <a:noFill/>
          </p:spPr>
          <p:txBody>
            <a:bodyPr wrap="square">
              <a:spAutoFit/>
            </a:bodyPr>
            <a:lstStyle/>
            <a:p>
              <a:pPr algn="l"/>
              <a:r>
                <a:rPr lang="en-US" sz="2000" i="0" dirty="0">
                  <a:solidFill>
                    <a:srgbClr val="000000"/>
                  </a:solidFill>
                  <a:effectLst/>
                </a:rPr>
                <a:t>National Institute of Electronics &amp; Information Technology, </a:t>
              </a:r>
              <a:r>
                <a:rPr lang="en-US" sz="2000" dirty="0">
                  <a:solidFill>
                    <a:srgbClr val="000000"/>
                  </a:solidFill>
                </a:rPr>
                <a:t>Kolkata</a:t>
              </a:r>
              <a:endParaRPr lang="en-IN" sz="2000" dirty="0">
                <a:solidFill>
                  <a:srgbClr val="000000"/>
                </a:solidFill>
              </a:endParaRPr>
            </a:p>
          </p:txBody>
        </p:sp>
        <p:cxnSp>
          <p:nvCxnSpPr>
            <p:cNvPr id="14" name="Straight Connector 13">
              <a:extLst>
                <a:ext uri="{FF2B5EF4-FFF2-40B4-BE49-F238E27FC236}">
                  <a16:creationId xmlns:a16="http://schemas.microsoft.com/office/drawing/2014/main" id="{F211E1DA-75A3-4914-93E5-551560391932}"/>
                </a:ext>
              </a:extLst>
            </p:cNvPr>
            <p:cNvCxnSpPr>
              <a:cxnSpLocks/>
            </p:cNvCxnSpPr>
            <p:nvPr/>
          </p:nvCxnSpPr>
          <p:spPr>
            <a:xfrm>
              <a:off x="2650128" y="1068334"/>
              <a:ext cx="0" cy="674946"/>
            </a:xfrm>
            <a:prstGeom prst="line">
              <a:avLst/>
            </a:prstGeom>
            <a:ln w="28575">
              <a:solidFill>
                <a:schemeClr val="bg2">
                  <a:lumMod val="25000"/>
                </a:schemeClr>
              </a:solidFill>
            </a:ln>
          </p:spPr>
          <p:style>
            <a:lnRef idx="1">
              <a:schemeClr val="accent5"/>
            </a:lnRef>
            <a:fillRef idx="0">
              <a:schemeClr val="accent5"/>
            </a:fillRef>
            <a:effectRef idx="0">
              <a:schemeClr val="accent5"/>
            </a:effectRef>
            <a:fontRef idx="minor">
              <a:schemeClr val="tx1"/>
            </a:fontRef>
          </p:style>
        </p:cxnSp>
      </p:grpSp>
      <p:sp>
        <p:nvSpPr>
          <p:cNvPr id="22" name="TextBox 50">
            <a:extLst>
              <a:ext uri="{FF2B5EF4-FFF2-40B4-BE49-F238E27FC236}">
                <a16:creationId xmlns:a16="http://schemas.microsoft.com/office/drawing/2014/main" id="{D02C12DE-CFD3-45ED-A3BE-0ABC4291AE3D}"/>
              </a:ext>
            </a:extLst>
          </p:cNvPr>
          <p:cNvSpPr/>
          <p:nvPr/>
        </p:nvSpPr>
        <p:spPr>
          <a:xfrm>
            <a:off x="1104899" y="5055583"/>
            <a:ext cx="5248276" cy="586680"/>
          </a:xfrm>
          <a:prstGeom prst="rect">
            <a:avLst/>
          </a:prstGeom>
          <a:noFill/>
          <a:ln/>
        </p:spPr>
        <p:txBody>
          <a:bodyPr wrap="none" lIns="0" tIns="0" rIns="0" bIns="0" rtlCol="0" anchor="t"/>
          <a:lstStyle/>
          <a:p>
            <a:pPr marL="0" indent="0" algn="l">
              <a:lnSpc>
                <a:spcPct val="150000"/>
              </a:lnSpc>
              <a:buNone/>
            </a:pPr>
            <a:r>
              <a:rPr lang="ja" altLang="en-US" sz="1400" b="1" i="1" dirty="0">
                <a:solidFill>
                  <a:srgbClr val="1E293B"/>
                </a:solidFill>
                <a:latin typeface="Segoe UI Light" panose="020B0502040204020203" pitchFamily="34" charset="0"/>
                <a:ea typeface="Meiryo UI" pitchFamily="34" charset="-122"/>
                <a:cs typeface="Segoe UI Light" panose="020B0502040204020203" pitchFamily="34" charset="0"/>
              </a:rPr>
              <a:t>   “A blockchain-based </a:t>
            </a:r>
            <a:r>
              <a:rPr lang="en-IN" altLang="ja" sz="1400" b="1" i="1" dirty="0">
                <a:solidFill>
                  <a:srgbClr val="1E293B"/>
                </a:solidFill>
                <a:latin typeface="Segoe UI Light" panose="020B0502040204020203" pitchFamily="34" charset="0"/>
                <a:ea typeface="Meiryo UI" pitchFamily="34" charset="-122"/>
                <a:cs typeface="Segoe UI Light" panose="020B0502040204020203" pitchFamily="34" charset="0"/>
              </a:rPr>
              <a:t>Decentralized Academic Verification</a:t>
            </a:r>
            <a:r>
              <a:rPr lang="ja" altLang="en-US" sz="1400" b="1" i="1" dirty="0">
                <a:solidFill>
                  <a:srgbClr val="1E293B"/>
                </a:solidFill>
                <a:latin typeface="Segoe UI Light" panose="020B0502040204020203" pitchFamily="34" charset="0"/>
                <a:ea typeface="Meiryo UI" pitchFamily="34" charset="-122"/>
                <a:cs typeface="Segoe UI Light" panose="020B0502040204020203" pitchFamily="34" charset="0"/>
              </a:rPr>
              <a:t> </a:t>
            </a:r>
            <a:endParaRPr lang="en-IN" altLang="ja" sz="1400" b="1" i="1" dirty="0">
              <a:solidFill>
                <a:srgbClr val="1E293B"/>
              </a:solidFill>
              <a:latin typeface="Segoe UI Light" panose="020B0502040204020203" pitchFamily="34" charset="0"/>
              <a:ea typeface="Meiryo UI" pitchFamily="34" charset="-122"/>
              <a:cs typeface="Segoe UI Light" panose="020B0502040204020203" pitchFamily="34" charset="0"/>
            </a:endParaRPr>
          </a:p>
          <a:p>
            <a:pPr marL="0" indent="0" algn="l">
              <a:lnSpc>
                <a:spcPct val="150000"/>
              </a:lnSpc>
              <a:buNone/>
            </a:pPr>
            <a:r>
              <a:rPr lang="en-IN" altLang="ja" sz="1400" b="1" i="1" dirty="0">
                <a:solidFill>
                  <a:srgbClr val="1E293B"/>
                </a:solidFill>
                <a:latin typeface="Segoe UI Light" panose="020B0502040204020203" pitchFamily="34" charset="0"/>
                <a:ea typeface="Meiryo UI" pitchFamily="34" charset="-122"/>
                <a:cs typeface="Segoe UI Light" panose="020B0502040204020203" pitchFamily="34" charset="0"/>
              </a:rPr>
              <a:t>S</a:t>
            </a:r>
            <a:r>
              <a:rPr lang="ja" altLang="en-US" sz="1400" b="1" i="1" dirty="0">
                <a:solidFill>
                  <a:srgbClr val="1E293B"/>
                </a:solidFill>
                <a:latin typeface="Segoe UI Light" panose="020B0502040204020203" pitchFamily="34" charset="0"/>
                <a:ea typeface="Meiryo UI" pitchFamily="34" charset="-122"/>
                <a:cs typeface="Segoe UI Light" panose="020B0502040204020203" pitchFamily="34" charset="0"/>
              </a:rPr>
              <a:t>olution for secure and</a:t>
            </a:r>
            <a:r>
              <a:rPr lang="ja" altLang="en-US" sz="1400" b="1" dirty="0">
                <a:latin typeface="Segoe UI Light" panose="020B0502040204020203" pitchFamily="34" charset="0"/>
                <a:cs typeface="Segoe UI Light" panose="020B0502040204020203" pitchFamily="34" charset="0"/>
              </a:rPr>
              <a:t> </a:t>
            </a:r>
            <a:r>
              <a:rPr lang="ja" altLang="en-US" sz="1400" b="1" i="1" dirty="0">
                <a:solidFill>
                  <a:srgbClr val="1E293B"/>
                </a:solidFill>
                <a:latin typeface="Segoe UI Light" panose="020B0502040204020203" pitchFamily="34" charset="0"/>
                <a:ea typeface="Meiryo UI" pitchFamily="34" charset="-122"/>
                <a:cs typeface="Segoe UI Light" panose="020B0502040204020203" pitchFamily="34" charset="0"/>
              </a:rPr>
              <a:t>verifiable academic credentials."</a:t>
            </a:r>
            <a:endParaRPr lang="ja" sz="1400" b="1" dirty="0">
              <a:latin typeface="Segoe UI Light" panose="020B0502040204020203" pitchFamily="34" charset="0"/>
              <a:cs typeface="Segoe UI Light" panose="020B0502040204020203" pitchFamily="34" charset="0"/>
            </a:endParaRPr>
          </a:p>
        </p:txBody>
      </p:sp>
      <p:sp>
        <p:nvSpPr>
          <p:cNvPr id="23" name="TextBox 30">
            <a:extLst>
              <a:ext uri="{FF2B5EF4-FFF2-40B4-BE49-F238E27FC236}">
                <a16:creationId xmlns:a16="http://schemas.microsoft.com/office/drawing/2014/main" id="{0DE30A13-1C08-43C0-81B6-66B547576653}"/>
              </a:ext>
            </a:extLst>
          </p:cNvPr>
          <p:cNvSpPr/>
          <p:nvPr/>
        </p:nvSpPr>
        <p:spPr>
          <a:xfrm>
            <a:off x="1104899" y="5857612"/>
            <a:ext cx="3133726" cy="238387"/>
          </a:xfrm>
          <a:prstGeom prst="rect">
            <a:avLst/>
          </a:prstGeom>
          <a:noFill/>
          <a:ln/>
        </p:spPr>
        <p:txBody>
          <a:bodyPr wrap="none" lIns="0" tIns="0" rIns="0" bIns="0" rtlCol="0" anchor="t">
            <a:normAutofit/>
          </a:bodyPr>
          <a:lstStyle/>
          <a:p>
            <a:pPr marL="0" indent="0" algn="l">
              <a:lnSpc>
                <a:spcPct val="100000"/>
              </a:lnSpc>
              <a:buNone/>
            </a:pPr>
            <a:r>
              <a:rPr lang="ja" altLang="en-US" sz="1050" b="1" i="1" kern="0" spc="180" dirty="0">
                <a:solidFill>
                  <a:srgbClr val="C00000"/>
                </a:solidFill>
                <a:latin typeface="Meiryo UI" pitchFamily="34" charset="0"/>
                <a:ea typeface="Meiryo UI" pitchFamily="34" charset="-122"/>
                <a:cs typeface="Meiryo UI" pitchFamily="34" charset="-120"/>
              </a:rPr>
              <a:t>PROJECT </a:t>
            </a:r>
            <a:r>
              <a:rPr lang="en-IN" altLang="ja" sz="1050" b="1" i="1" kern="0" spc="180" dirty="0">
                <a:solidFill>
                  <a:srgbClr val="C00000"/>
                </a:solidFill>
                <a:latin typeface="Meiryo UI" pitchFamily="34" charset="0"/>
                <a:ea typeface="Meiryo UI" pitchFamily="34" charset="-122"/>
                <a:cs typeface="Meiryo UI" pitchFamily="34" charset="-120"/>
              </a:rPr>
              <a:t>DOCUMENTATION</a:t>
            </a:r>
            <a:endParaRPr lang="ja" sz="1050" i="1" dirty="0">
              <a:solidFill>
                <a:srgbClr val="C00000"/>
              </a:solidFill>
            </a:endParaRPr>
          </a:p>
        </p:txBody>
      </p:sp>
      <p:sp>
        <p:nvSpPr>
          <p:cNvPr id="3" name="TextBox 44">
            <a:extLst>
              <a:ext uri="{FF2B5EF4-FFF2-40B4-BE49-F238E27FC236}">
                <a16:creationId xmlns:a16="http://schemas.microsoft.com/office/drawing/2014/main" id="{F7A3CEDC-321F-4BEE-9951-B4AE5D151AC2}"/>
              </a:ext>
            </a:extLst>
          </p:cNvPr>
          <p:cNvSpPr/>
          <p:nvPr/>
        </p:nvSpPr>
        <p:spPr>
          <a:xfrm>
            <a:off x="2310114" y="2250025"/>
            <a:ext cx="5529696" cy="2697884"/>
          </a:xfrm>
          <a:prstGeom prst="rect">
            <a:avLst/>
          </a:prstGeom>
          <a:noFill/>
          <a:ln/>
          <a:scene3d>
            <a:camera prst="orthographicFront"/>
            <a:lightRig rig="threePt" dir="t"/>
          </a:scene3d>
          <a:sp3d>
            <a:bevelT prst="angle"/>
          </a:sp3d>
        </p:spPr>
        <p:txBody>
          <a:bodyPr wrap="none" lIns="0" tIns="0" rIns="0" bIns="0" rtlCol="0" anchor="t">
            <a:sp3d extrusionH="57150">
              <a:bevelT h="25400" prst="softRound"/>
            </a:sp3d>
          </a:bodyPr>
          <a:lstStyle/>
          <a:p>
            <a:pPr marL="0" indent="0" algn="l">
              <a:buNone/>
            </a:pPr>
            <a:r>
              <a:rPr lang="en-IN" altLang="ja" sz="8250" b="1" kern="0" spc="100" dirty="0">
                <a:ln w="0">
                  <a:noFill/>
                </a:ln>
                <a:solidFill>
                  <a:srgbClr val="004376"/>
                </a:solidFill>
                <a:effectLst>
                  <a:outerShdw blurRad="50800" dist="38100" algn="l" rotWithShape="0">
                    <a:prstClr val="black">
                      <a:alpha val="40000"/>
                    </a:prstClr>
                  </a:outerShdw>
                </a:effectLst>
                <a:latin typeface="Arial" panose="020B0604020202020204" pitchFamily="34" charset="0"/>
                <a:ea typeface="Meiryo UI" pitchFamily="34" charset="-122"/>
                <a:cs typeface="Arial" panose="020B0604020202020204" pitchFamily="34" charset="0"/>
              </a:rPr>
              <a:t>EDUCATE</a:t>
            </a:r>
            <a:r>
              <a:rPr lang="en-IN" altLang="ja" sz="8250" b="1" kern="0" dirty="0">
                <a:ln w="0">
                  <a:noFill/>
                </a:ln>
                <a:solidFill>
                  <a:srgbClr val="0070C0"/>
                </a:solidFill>
                <a:effectLst>
                  <a:outerShdw blurRad="50800" dist="38100" algn="l" rotWithShape="0">
                    <a:prstClr val="black">
                      <a:alpha val="40000"/>
                    </a:prstClr>
                  </a:outerShdw>
                </a:effectLst>
                <a:latin typeface="Arial" panose="020B0604020202020204" pitchFamily="34" charset="0"/>
                <a:ea typeface="Meiryo UI" pitchFamily="34" charset="-122"/>
                <a:cs typeface="Arial" panose="020B0604020202020204" pitchFamily="34" charset="0"/>
              </a:rPr>
              <a:t> </a:t>
            </a:r>
          </a:p>
          <a:p>
            <a:pPr marL="0" indent="0" algn="l">
              <a:buNone/>
            </a:pPr>
            <a:r>
              <a:rPr lang="en-IN" altLang="ja" sz="8250" b="1" kern="0" spc="100" dirty="0">
                <a:ln w="0">
                  <a:noFill/>
                </a:ln>
                <a:solidFill>
                  <a:srgbClr val="CF610F"/>
                </a:solidFill>
                <a:effectLst>
                  <a:outerShdw blurRad="50800" dist="38100" algn="l" rotWithShape="0">
                    <a:prstClr val="black">
                      <a:alpha val="40000"/>
                    </a:prstClr>
                  </a:outerShdw>
                </a:effectLst>
                <a:latin typeface="Arial" panose="020B0604020202020204" pitchFamily="34" charset="0"/>
                <a:ea typeface="Meiryo UI" pitchFamily="34" charset="-122"/>
                <a:cs typeface="Arial" panose="020B0604020202020204" pitchFamily="34" charset="0"/>
              </a:rPr>
              <a:t>Portal</a:t>
            </a:r>
            <a:endParaRPr lang="ja" sz="8250" b="1" spc="100" dirty="0">
              <a:ln w="0">
                <a:noFill/>
              </a:ln>
              <a:solidFill>
                <a:srgbClr val="CF610F"/>
              </a:solidFill>
              <a:effectLst>
                <a:outerShdw blurRad="50800" dist="38100" algn="l" rotWithShape="0">
                  <a:prstClr val="black">
                    <a:alpha val="40000"/>
                  </a:prstClr>
                </a:outerShdw>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72CF8DE-2F51-4E55-85C2-3B3D84BD20D1}"/>
              </a:ext>
            </a:extLst>
          </p:cNvPr>
          <p:cNvPicPr>
            <a:picLocks noChangeAspect="1"/>
          </p:cNvPicPr>
          <p:nvPr/>
        </p:nvPicPr>
        <p:blipFill>
          <a:blip r:embed="rId4"/>
          <a:stretch>
            <a:fillRect/>
          </a:stretch>
        </p:blipFill>
        <p:spPr>
          <a:xfrm>
            <a:off x="778741" y="2540610"/>
            <a:ext cx="1278659" cy="2088135"/>
          </a:xfrm>
          <a:prstGeom prst="rect">
            <a:avLst/>
          </a:prstGeom>
        </p:spPr>
      </p:pic>
    </p:spTree>
    <p:extLst>
      <p:ext uri="{BB962C8B-B14F-4D97-AF65-F5344CB8AC3E}">
        <p14:creationId xmlns:p14="http://schemas.microsoft.com/office/powerpoint/2010/main" val="4157984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436D5F-8710-43A9-9BA5-95B1F41EE398}"/>
              </a:ext>
            </a:extLst>
          </p:cNvPr>
          <p:cNvSpPr/>
          <p:nvPr/>
        </p:nvSpPr>
        <p:spPr>
          <a:xfrm>
            <a:off x="1514475" y="1333500"/>
            <a:ext cx="9382125" cy="4933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ECF925DB-1E22-4655-8E26-BBADEE230521}"/>
              </a:ext>
            </a:extLst>
          </p:cNvPr>
          <p:cNvSpPr/>
          <p:nvPr/>
        </p:nvSpPr>
        <p:spPr>
          <a:xfrm>
            <a:off x="689171" y="653214"/>
            <a:ext cx="3921843" cy="646331"/>
          </a:xfrm>
          <a:prstGeom prst="rect">
            <a:avLst/>
          </a:prstGeom>
          <a:noFill/>
        </p:spPr>
        <p:txBody>
          <a:bodyPr wrap="none" lIns="91440" tIns="45720" rIns="91440" bIns="45720">
            <a:spAutoFit/>
          </a:bodyPr>
          <a:lstStyle/>
          <a:p>
            <a:pPr algn="ctr"/>
            <a:r>
              <a:rPr lang="en-US" sz="3600" dirty="0">
                <a:ln w="0"/>
                <a:effectLst>
                  <a:outerShdw blurRad="38100" dist="19050" dir="2700000" algn="tl" rotWithShape="0">
                    <a:schemeClr val="dk1">
                      <a:alpha val="40000"/>
                    </a:schemeClr>
                  </a:outerShdw>
                </a:effectLst>
              </a:rPr>
              <a:t>Goal of the Project: </a:t>
            </a:r>
          </a:p>
        </p:txBody>
      </p:sp>
      <p:grpSp>
        <p:nvGrpSpPr>
          <p:cNvPr id="6" name="Group 5">
            <a:extLst>
              <a:ext uri="{FF2B5EF4-FFF2-40B4-BE49-F238E27FC236}">
                <a16:creationId xmlns:a16="http://schemas.microsoft.com/office/drawing/2014/main" id="{68D086D9-E083-4685-A82A-A2562EE5DC60}"/>
              </a:ext>
            </a:extLst>
          </p:cNvPr>
          <p:cNvGrpSpPr/>
          <p:nvPr/>
        </p:nvGrpSpPr>
        <p:grpSpPr>
          <a:xfrm>
            <a:off x="648330" y="1912089"/>
            <a:ext cx="10412393" cy="1689117"/>
            <a:chOff x="1650654" y="2774573"/>
            <a:chExt cx="8613049" cy="1689117"/>
          </a:xfrm>
        </p:grpSpPr>
        <p:cxnSp>
          <p:nvCxnSpPr>
            <p:cNvPr id="8" name="Straight Connector 7">
              <a:extLst>
                <a:ext uri="{FF2B5EF4-FFF2-40B4-BE49-F238E27FC236}">
                  <a16:creationId xmlns:a16="http://schemas.microsoft.com/office/drawing/2014/main" id="{72C2E6EF-CC3D-4475-A7BC-A83987224333}"/>
                </a:ext>
              </a:extLst>
            </p:cNvPr>
            <p:cNvCxnSpPr>
              <a:cxnSpLocks/>
            </p:cNvCxnSpPr>
            <p:nvPr/>
          </p:nvCxnSpPr>
          <p:spPr>
            <a:xfrm>
              <a:off x="1650654" y="2774573"/>
              <a:ext cx="0" cy="168911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57799AF-B681-4058-9EC4-2FA4D837C9F0}"/>
                </a:ext>
              </a:extLst>
            </p:cNvPr>
            <p:cNvSpPr txBox="1"/>
            <p:nvPr/>
          </p:nvSpPr>
          <p:spPr>
            <a:xfrm>
              <a:off x="1825969" y="2774573"/>
              <a:ext cx="8437734" cy="1689117"/>
            </a:xfrm>
            <a:prstGeom prst="rect">
              <a:avLst/>
            </a:prstGeom>
            <a:solidFill>
              <a:srgbClr val="EAF2FF"/>
            </a:solidFill>
            <a:ln>
              <a:noFill/>
            </a:ln>
          </p:spPr>
          <p:txBody>
            <a:bodyPr wrap="square">
              <a:spAutoFit/>
            </a:bodyPr>
            <a:lstStyle/>
            <a:p>
              <a:pPr>
                <a:lnSpc>
                  <a:spcPct val="150000"/>
                </a:lnSpc>
              </a:pPr>
              <a:endParaRPr lang="en-US" sz="800" dirty="0"/>
            </a:p>
            <a:p>
              <a:pPr>
                <a:lnSpc>
                  <a:spcPct val="150000"/>
                </a:lnSpc>
              </a:pPr>
              <a:r>
                <a:rPr lang="en-US" dirty="0">
                  <a:latin typeface="+mj-lt"/>
                </a:rPr>
                <a:t>To develop a decentralized education portal that securely manages academic records and provides </a:t>
              </a:r>
              <a:r>
                <a:rPr lang="en-US" b="1" dirty="0">
                  <a:latin typeface="+mj-lt"/>
                </a:rPr>
                <a:t>tamper-resistant, transparent, and real-time verification</a:t>
              </a:r>
              <a:r>
                <a:rPr lang="en-US" dirty="0">
                  <a:latin typeface="+mj-lt"/>
                </a:rPr>
                <a:t> of certificates, student identity cards, and semester results using blockchain technology.</a:t>
              </a:r>
            </a:p>
            <a:p>
              <a:pPr>
                <a:lnSpc>
                  <a:spcPct val="150000"/>
                </a:lnSpc>
              </a:pPr>
              <a:endParaRPr lang="en-IN" sz="800" dirty="0"/>
            </a:p>
          </p:txBody>
        </p:sp>
      </p:grpSp>
      <p:sp>
        <p:nvSpPr>
          <p:cNvPr id="20" name="TextBox 19">
            <a:extLst>
              <a:ext uri="{FF2B5EF4-FFF2-40B4-BE49-F238E27FC236}">
                <a16:creationId xmlns:a16="http://schemas.microsoft.com/office/drawing/2014/main" id="{A54CA93C-1FF8-43D6-AFDB-3CAB9B25556F}"/>
              </a:ext>
            </a:extLst>
          </p:cNvPr>
          <p:cNvSpPr txBox="1"/>
          <p:nvPr/>
        </p:nvSpPr>
        <p:spPr>
          <a:xfrm>
            <a:off x="789931" y="3762891"/>
            <a:ext cx="10200453" cy="382092"/>
          </a:xfrm>
          <a:prstGeom prst="rect">
            <a:avLst/>
          </a:prstGeom>
          <a:noFill/>
        </p:spPr>
        <p:txBody>
          <a:bodyPr wrap="square">
            <a:spAutoFit/>
          </a:bodyPr>
          <a:lstStyle/>
          <a:p>
            <a:pPr>
              <a:lnSpc>
                <a:spcPct val="150000"/>
              </a:lnSpc>
            </a:pPr>
            <a:r>
              <a:rPr lang="en-US" sz="1400" dirty="0">
                <a:latin typeface="+mj-lt"/>
              </a:rPr>
              <a:t>The system combines the </a:t>
            </a:r>
            <a:r>
              <a:rPr lang="en-US" sz="1400" b="1" dirty="0">
                <a:latin typeface="+mj-lt"/>
              </a:rPr>
              <a:t>MERN stack</a:t>
            </a:r>
            <a:r>
              <a:rPr lang="en-US" sz="1400" dirty="0">
                <a:latin typeface="+mj-lt"/>
              </a:rPr>
              <a:t> with </a:t>
            </a:r>
            <a:r>
              <a:rPr lang="en-US" sz="1400" b="1" dirty="0">
                <a:latin typeface="+mj-lt"/>
              </a:rPr>
              <a:t>Ethereum and Web3 technologies</a:t>
            </a:r>
            <a:r>
              <a:rPr lang="en-US" sz="1400" dirty="0">
                <a:latin typeface="+mj-lt"/>
              </a:rPr>
              <a:t> to anchor document hashes on-chain</a:t>
            </a:r>
            <a:endParaRPr lang="en-IN" sz="1400" dirty="0">
              <a:latin typeface="+mj-lt"/>
            </a:endParaRPr>
          </a:p>
        </p:txBody>
      </p:sp>
      <p:sp>
        <p:nvSpPr>
          <p:cNvPr id="25" name="Rounded Rectangle 2">
            <a:extLst>
              <a:ext uri="{FF2B5EF4-FFF2-40B4-BE49-F238E27FC236}">
                <a16:creationId xmlns:a16="http://schemas.microsoft.com/office/drawing/2014/main" id="{35D88BC8-CFBE-4CC8-8B33-FD622D7CDE54}"/>
              </a:ext>
            </a:extLst>
          </p:cNvPr>
          <p:cNvSpPr/>
          <p:nvPr/>
        </p:nvSpPr>
        <p:spPr>
          <a:xfrm>
            <a:off x="609600" y="4481512"/>
            <a:ext cx="3454449" cy="1524000"/>
          </a:xfrm>
          <a:prstGeom prst="roundRect">
            <a:avLst>
              <a:gd name="adj" fmla="val 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3">
            <a:extLst>
              <a:ext uri="{FF2B5EF4-FFF2-40B4-BE49-F238E27FC236}">
                <a16:creationId xmlns:a16="http://schemas.microsoft.com/office/drawing/2014/main" id="{23277C41-01C2-4F39-91BE-0EE90E1894E3}"/>
              </a:ext>
            </a:extLst>
          </p:cNvPr>
          <p:cNvSpPr/>
          <p:nvPr/>
        </p:nvSpPr>
        <p:spPr>
          <a:xfrm>
            <a:off x="4368849" y="4481512"/>
            <a:ext cx="3454449" cy="1524000"/>
          </a:xfrm>
          <a:prstGeom prst="roundRect">
            <a:avLst>
              <a:gd name="adj" fmla="val 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4">
            <a:extLst>
              <a:ext uri="{FF2B5EF4-FFF2-40B4-BE49-F238E27FC236}">
                <a16:creationId xmlns:a16="http://schemas.microsoft.com/office/drawing/2014/main" id="{0040DC56-24AF-4AF3-B7DB-366E22E488B1}"/>
              </a:ext>
            </a:extLst>
          </p:cNvPr>
          <p:cNvSpPr/>
          <p:nvPr/>
        </p:nvSpPr>
        <p:spPr>
          <a:xfrm>
            <a:off x="8128099" y="4481512"/>
            <a:ext cx="3454449" cy="1524000"/>
          </a:xfrm>
          <a:prstGeom prst="roundRect">
            <a:avLst>
              <a:gd name="adj" fmla="val 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966EEEA4-5F9D-4F9E-A066-D659DCFB32A8}"/>
              </a:ext>
            </a:extLst>
          </p:cNvPr>
          <p:cNvSpPr txBox="1"/>
          <p:nvPr/>
        </p:nvSpPr>
        <p:spPr>
          <a:xfrm>
            <a:off x="838200" y="4710112"/>
            <a:ext cx="3746562" cy="533400"/>
          </a:xfrm>
          <a:prstGeom prst="rect">
            <a:avLst/>
          </a:prstGeom>
          <a:noFill/>
        </p:spPr>
        <p:txBody>
          <a:bodyPr wrap="none" lIns="0" tIns="0" rIns="0" bIns="0" anchor="t">
            <a:spAutoFit/>
          </a:bodyPr>
          <a:lstStyle/>
          <a:p>
            <a:pPr algn="l"/>
            <a:r>
              <a:rPr sz="3300" b="1" i="0" u="none" dirty="0">
                <a:solidFill>
                  <a:srgbClr val="0052FF"/>
                </a:solidFill>
                <a:latin typeface="Space Grotesk"/>
              </a:rPr>
              <a:t>3 Assets</a:t>
            </a:r>
          </a:p>
        </p:txBody>
      </p:sp>
      <p:sp>
        <p:nvSpPr>
          <p:cNvPr id="29" name="TextBox 28">
            <a:extLst>
              <a:ext uri="{FF2B5EF4-FFF2-40B4-BE49-F238E27FC236}">
                <a16:creationId xmlns:a16="http://schemas.microsoft.com/office/drawing/2014/main" id="{46EC7F71-8646-49CF-B56C-9EBB01C7E922}"/>
              </a:ext>
            </a:extLst>
          </p:cNvPr>
          <p:cNvSpPr txBox="1"/>
          <p:nvPr/>
        </p:nvSpPr>
        <p:spPr>
          <a:xfrm>
            <a:off x="4597449" y="4710112"/>
            <a:ext cx="3746562" cy="533400"/>
          </a:xfrm>
          <a:prstGeom prst="rect">
            <a:avLst/>
          </a:prstGeom>
          <a:noFill/>
        </p:spPr>
        <p:txBody>
          <a:bodyPr wrap="none" lIns="0" tIns="0" rIns="0" bIns="0" anchor="t">
            <a:spAutoFit/>
          </a:bodyPr>
          <a:lstStyle/>
          <a:p>
            <a:pPr algn="l"/>
            <a:r>
              <a:rPr sz="3300" b="1" i="0" u="none" dirty="0">
                <a:solidFill>
                  <a:srgbClr val="6366F1"/>
                </a:solidFill>
                <a:latin typeface="Space Grotesk"/>
              </a:rPr>
              <a:t>MERN + Web3</a:t>
            </a:r>
          </a:p>
        </p:txBody>
      </p:sp>
      <p:sp>
        <p:nvSpPr>
          <p:cNvPr id="30" name="TextBox 29">
            <a:extLst>
              <a:ext uri="{FF2B5EF4-FFF2-40B4-BE49-F238E27FC236}">
                <a16:creationId xmlns:a16="http://schemas.microsoft.com/office/drawing/2014/main" id="{B92EEBA9-C8D0-4618-B34B-AC523EE373AF}"/>
              </a:ext>
            </a:extLst>
          </p:cNvPr>
          <p:cNvSpPr txBox="1"/>
          <p:nvPr/>
        </p:nvSpPr>
        <p:spPr>
          <a:xfrm>
            <a:off x="8356699" y="4710112"/>
            <a:ext cx="3746562" cy="533400"/>
          </a:xfrm>
          <a:prstGeom prst="rect">
            <a:avLst/>
          </a:prstGeom>
          <a:noFill/>
        </p:spPr>
        <p:txBody>
          <a:bodyPr wrap="none" lIns="0" tIns="0" rIns="0" bIns="0" anchor="t">
            <a:spAutoFit/>
          </a:bodyPr>
          <a:lstStyle/>
          <a:p>
            <a:pPr algn="l"/>
            <a:r>
              <a:rPr sz="3300" b="1" i="0" u="none">
                <a:solidFill>
                  <a:srgbClr val="0F172A"/>
                </a:solidFill>
                <a:latin typeface="Space Grotesk"/>
              </a:rPr>
              <a:t>Real-Time</a:t>
            </a:r>
          </a:p>
        </p:txBody>
      </p:sp>
      <p:sp>
        <p:nvSpPr>
          <p:cNvPr id="31" name="TextBox 30">
            <a:extLst>
              <a:ext uri="{FF2B5EF4-FFF2-40B4-BE49-F238E27FC236}">
                <a16:creationId xmlns:a16="http://schemas.microsoft.com/office/drawing/2014/main" id="{CF8FF019-AA99-4EA6-B6F8-ACA89D4FABF0}"/>
              </a:ext>
            </a:extLst>
          </p:cNvPr>
          <p:cNvSpPr txBox="1"/>
          <p:nvPr/>
        </p:nvSpPr>
        <p:spPr>
          <a:xfrm>
            <a:off x="838200" y="5319712"/>
            <a:ext cx="3092499" cy="457200"/>
          </a:xfrm>
          <a:prstGeom prst="rect">
            <a:avLst/>
          </a:prstGeom>
          <a:noFill/>
        </p:spPr>
        <p:txBody>
          <a:bodyPr wrap="square" lIns="0" tIns="0" rIns="0" bIns="0" anchor="t">
            <a:spAutoFit/>
          </a:bodyPr>
          <a:lstStyle/>
          <a:p>
            <a:pPr algn="l"/>
            <a:r>
              <a:rPr sz="1350" b="0" i="0" u="none" dirty="0">
                <a:solidFill>
                  <a:srgbClr val="334155"/>
                </a:solidFill>
                <a:latin typeface="DM Sans"/>
              </a:rPr>
              <a:t>Certificates, ID cards, semester results</a:t>
            </a:r>
          </a:p>
        </p:txBody>
      </p:sp>
      <p:sp>
        <p:nvSpPr>
          <p:cNvPr id="32" name="TextBox 31">
            <a:extLst>
              <a:ext uri="{FF2B5EF4-FFF2-40B4-BE49-F238E27FC236}">
                <a16:creationId xmlns:a16="http://schemas.microsoft.com/office/drawing/2014/main" id="{933426BA-E0D0-4087-A87F-873D7CC89009}"/>
              </a:ext>
            </a:extLst>
          </p:cNvPr>
          <p:cNvSpPr txBox="1"/>
          <p:nvPr/>
        </p:nvSpPr>
        <p:spPr>
          <a:xfrm>
            <a:off x="4597449" y="5319712"/>
            <a:ext cx="3092499" cy="457200"/>
          </a:xfrm>
          <a:prstGeom prst="rect">
            <a:avLst/>
          </a:prstGeom>
          <a:noFill/>
        </p:spPr>
        <p:txBody>
          <a:bodyPr wrap="square" lIns="0" tIns="0" rIns="0" bIns="0" anchor="t">
            <a:spAutoFit/>
          </a:bodyPr>
          <a:lstStyle/>
          <a:p>
            <a:pPr algn="l"/>
            <a:r>
              <a:rPr sz="1350" b="0" i="0" u="none" dirty="0">
                <a:solidFill>
                  <a:srgbClr val="334155"/>
                </a:solidFill>
                <a:latin typeface="DM Sans"/>
              </a:rPr>
              <a:t>Hybrid off-chain speed, on-chain trust</a:t>
            </a:r>
          </a:p>
        </p:txBody>
      </p:sp>
      <p:sp>
        <p:nvSpPr>
          <p:cNvPr id="33" name="TextBox 32">
            <a:extLst>
              <a:ext uri="{FF2B5EF4-FFF2-40B4-BE49-F238E27FC236}">
                <a16:creationId xmlns:a16="http://schemas.microsoft.com/office/drawing/2014/main" id="{BC4B76A9-D1D0-4E64-8AB1-4D9F2691D612}"/>
              </a:ext>
            </a:extLst>
          </p:cNvPr>
          <p:cNvSpPr txBox="1"/>
          <p:nvPr/>
        </p:nvSpPr>
        <p:spPr>
          <a:xfrm>
            <a:off x="8356699" y="5319712"/>
            <a:ext cx="3746562" cy="228600"/>
          </a:xfrm>
          <a:prstGeom prst="rect">
            <a:avLst/>
          </a:prstGeom>
          <a:noFill/>
        </p:spPr>
        <p:txBody>
          <a:bodyPr wrap="none" lIns="0" tIns="0" rIns="0" bIns="0" anchor="t">
            <a:spAutoFit/>
          </a:bodyPr>
          <a:lstStyle/>
          <a:p>
            <a:pPr algn="l"/>
            <a:r>
              <a:rPr sz="1350" b="0" i="0" u="none">
                <a:solidFill>
                  <a:srgbClr val="334155"/>
                </a:solidFill>
                <a:latin typeface="DM Sans"/>
              </a:rPr>
              <a:t>Instant QR and unique ID validation</a:t>
            </a:r>
          </a:p>
        </p:txBody>
      </p:sp>
      <p:sp>
        <p:nvSpPr>
          <p:cNvPr id="34" name="TextBox 24">
            <a:extLst>
              <a:ext uri="{FF2B5EF4-FFF2-40B4-BE49-F238E27FC236}">
                <a16:creationId xmlns:a16="http://schemas.microsoft.com/office/drawing/2014/main" id="{E3D05482-1BB3-46CF-A7A3-6BFD39F7C239}"/>
              </a:ext>
            </a:extLst>
          </p:cNvPr>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extLst>
      <p:ext uri="{BB962C8B-B14F-4D97-AF65-F5344CB8AC3E}">
        <p14:creationId xmlns:p14="http://schemas.microsoft.com/office/powerpoint/2010/main" val="2078263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ounded Rectangle 1"/>
          <p:cNvSpPr/>
          <p:nvPr/>
        </p:nvSpPr>
        <p:spPr>
          <a:xfrm>
            <a:off x="609600" y="2181225"/>
            <a:ext cx="3505200" cy="1495425"/>
          </a:xfrm>
          <a:prstGeom prst="roundRect">
            <a:avLst>
              <a:gd name="adj" fmla="val 764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066925"/>
            <a:ext cx="3505200" cy="1724025"/>
          </a:xfrm>
          <a:prstGeom prst="roundRect">
            <a:avLst>
              <a:gd name="adj" fmla="val 66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066925"/>
            <a:ext cx="3505200" cy="1724025"/>
          </a:xfrm>
          <a:prstGeom prst="roundRect">
            <a:avLst>
              <a:gd name="adj" fmla="val 66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133850"/>
            <a:ext cx="3505200" cy="1495425"/>
          </a:xfrm>
          <a:prstGeom prst="roundRect">
            <a:avLst>
              <a:gd name="adj" fmla="val 764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43400" y="4019550"/>
            <a:ext cx="3505200" cy="1724025"/>
          </a:xfrm>
          <a:prstGeom prst="roundRect">
            <a:avLst>
              <a:gd name="adj" fmla="val 66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77200" y="4019550"/>
            <a:ext cx="3505200" cy="1724025"/>
          </a:xfrm>
          <a:prstGeom prst="roundRect">
            <a:avLst>
              <a:gd name="adj" fmla="val 66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76300" y="2447925"/>
            <a:ext cx="333375" cy="266700"/>
          </a:xfrm>
          <a:prstGeom prst="rect">
            <a:avLst/>
          </a:prstGeom>
        </p:spPr>
      </p:pic>
      <p:pic>
        <p:nvPicPr>
          <p:cNvPr id="9" name="Picture 8" descr="image.png"/>
          <p:cNvPicPr>
            <a:picLocks noChangeAspect="1"/>
          </p:cNvPicPr>
          <p:nvPr/>
        </p:nvPicPr>
        <p:blipFill>
          <a:blip r:embed="rId4"/>
          <a:stretch>
            <a:fillRect/>
          </a:stretch>
        </p:blipFill>
        <p:spPr>
          <a:xfrm>
            <a:off x="4610100" y="2333625"/>
            <a:ext cx="304800" cy="266700"/>
          </a:xfrm>
          <a:prstGeom prst="rect">
            <a:avLst/>
          </a:prstGeom>
        </p:spPr>
      </p:pic>
      <p:pic>
        <p:nvPicPr>
          <p:cNvPr id="10" name="Picture 9" descr="image.png"/>
          <p:cNvPicPr>
            <a:picLocks noChangeAspect="1"/>
          </p:cNvPicPr>
          <p:nvPr/>
        </p:nvPicPr>
        <p:blipFill>
          <a:blip r:embed="rId5"/>
          <a:stretch>
            <a:fillRect/>
          </a:stretch>
        </p:blipFill>
        <p:spPr>
          <a:xfrm>
            <a:off x="8343900" y="2333625"/>
            <a:ext cx="266700" cy="266700"/>
          </a:xfrm>
          <a:prstGeom prst="rect">
            <a:avLst/>
          </a:prstGeom>
        </p:spPr>
      </p:pic>
      <p:pic>
        <p:nvPicPr>
          <p:cNvPr id="11" name="Picture 10" descr="image.png"/>
          <p:cNvPicPr>
            <a:picLocks noChangeAspect="1"/>
          </p:cNvPicPr>
          <p:nvPr/>
        </p:nvPicPr>
        <p:blipFill>
          <a:blip r:embed="rId6"/>
          <a:stretch>
            <a:fillRect/>
          </a:stretch>
        </p:blipFill>
        <p:spPr>
          <a:xfrm>
            <a:off x="876300" y="4400550"/>
            <a:ext cx="238125" cy="266700"/>
          </a:xfrm>
          <a:prstGeom prst="rect">
            <a:avLst/>
          </a:prstGeom>
        </p:spPr>
      </p:pic>
      <p:pic>
        <p:nvPicPr>
          <p:cNvPr id="12" name="Picture 11" descr="image.png"/>
          <p:cNvPicPr>
            <a:picLocks noChangeAspect="1"/>
          </p:cNvPicPr>
          <p:nvPr/>
        </p:nvPicPr>
        <p:blipFill>
          <a:blip r:embed="rId7"/>
          <a:stretch>
            <a:fillRect/>
          </a:stretch>
        </p:blipFill>
        <p:spPr>
          <a:xfrm>
            <a:off x="4610100" y="4286250"/>
            <a:ext cx="333375" cy="266700"/>
          </a:xfrm>
          <a:prstGeom prst="rect">
            <a:avLst/>
          </a:prstGeom>
        </p:spPr>
      </p:pic>
      <p:pic>
        <p:nvPicPr>
          <p:cNvPr id="13" name="Picture 12" descr="image.png"/>
          <p:cNvPicPr>
            <a:picLocks noChangeAspect="1"/>
          </p:cNvPicPr>
          <p:nvPr/>
        </p:nvPicPr>
        <p:blipFill>
          <a:blip r:embed="rId8"/>
          <a:stretch>
            <a:fillRect/>
          </a:stretch>
        </p:blipFill>
        <p:spPr>
          <a:xfrm>
            <a:off x="8343900" y="4286250"/>
            <a:ext cx="238125" cy="266700"/>
          </a:xfrm>
          <a:prstGeom prst="rect">
            <a:avLst/>
          </a:prstGeom>
        </p:spPr>
      </p:pic>
      <p:sp>
        <p:nvSpPr>
          <p:cNvPr id="15" name="TextBox 14"/>
          <p:cNvSpPr txBox="1"/>
          <p:nvPr/>
        </p:nvSpPr>
        <p:spPr>
          <a:xfrm>
            <a:off x="609600" y="704850"/>
            <a:ext cx="4390241" cy="553998"/>
          </a:xfrm>
          <a:prstGeom prst="rect">
            <a:avLst/>
          </a:prstGeom>
          <a:noFill/>
        </p:spPr>
        <p:txBody>
          <a:bodyPr wrap="none" lIns="0" tIns="0" rIns="0" bIns="0" anchor="t">
            <a:spAutoFit/>
          </a:bodyPr>
          <a:lstStyle/>
          <a:p>
            <a:pPr algn="l"/>
            <a:r>
              <a:rPr sz="3600" i="0" u="none" dirty="0">
                <a:ln w="0"/>
                <a:effectLst>
                  <a:outerShdw blurRad="38100" dist="19050" dir="2700000" algn="tl" rotWithShape="0">
                    <a:schemeClr val="dk1">
                      <a:alpha val="40000"/>
                    </a:schemeClr>
                  </a:outerShdw>
                </a:effectLst>
                <a:latin typeface="+mj-lt"/>
              </a:rPr>
              <a:t>Main Project Objectives</a:t>
            </a:r>
          </a:p>
        </p:txBody>
      </p:sp>
      <p:sp>
        <p:nvSpPr>
          <p:cNvPr id="16" name="TextBox 15"/>
          <p:cNvSpPr txBox="1"/>
          <p:nvPr/>
        </p:nvSpPr>
        <p:spPr>
          <a:xfrm>
            <a:off x="876300" y="2847975"/>
            <a:ext cx="3900487" cy="257175"/>
          </a:xfrm>
          <a:prstGeom prst="rect">
            <a:avLst/>
          </a:prstGeom>
          <a:noFill/>
        </p:spPr>
        <p:txBody>
          <a:bodyPr wrap="none" lIns="0" tIns="0" rIns="0" bIns="0" anchor="t">
            <a:spAutoFit/>
          </a:bodyPr>
          <a:lstStyle/>
          <a:p>
            <a:pPr algn="l"/>
            <a:r>
              <a:rPr sz="1575" b="1" i="0" u="none">
                <a:solidFill>
                  <a:srgbClr val="0F172A"/>
                </a:solidFill>
                <a:latin typeface="Space Grotesk"/>
              </a:rPr>
              <a:t>Digitize Management</a:t>
            </a:r>
          </a:p>
        </p:txBody>
      </p:sp>
      <p:sp>
        <p:nvSpPr>
          <p:cNvPr id="17" name="TextBox 16"/>
          <p:cNvSpPr txBox="1"/>
          <p:nvPr/>
        </p:nvSpPr>
        <p:spPr>
          <a:xfrm>
            <a:off x="876300" y="3181350"/>
            <a:ext cx="3714750" cy="228600"/>
          </a:xfrm>
          <a:prstGeom prst="rect">
            <a:avLst/>
          </a:prstGeom>
          <a:noFill/>
        </p:spPr>
        <p:txBody>
          <a:bodyPr wrap="none" lIns="0" tIns="0" rIns="0" bIns="0" anchor="t">
            <a:spAutoFit/>
          </a:bodyPr>
          <a:lstStyle/>
          <a:p>
            <a:pPr algn="l"/>
            <a:r>
              <a:rPr sz="1350" b="0" i="0" u="none">
                <a:solidFill>
                  <a:srgbClr val="334155"/>
                </a:solidFill>
                <a:latin typeface="DM Sans"/>
              </a:rPr>
              <a:t>Centralized web portal for courses.</a:t>
            </a:r>
          </a:p>
        </p:txBody>
      </p:sp>
      <p:sp>
        <p:nvSpPr>
          <p:cNvPr id="18" name="TextBox 17"/>
          <p:cNvSpPr txBox="1"/>
          <p:nvPr/>
        </p:nvSpPr>
        <p:spPr>
          <a:xfrm>
            <a:off x="4610100" y="2733675"/>
            <a:ext cx="3900487" cy="257175"/>
          </a:xfrm>
          <a:prstGeom prst="rect">
            <a:avLst/>
          </a:prstGeom>
          <a:noFill/>
        </p:spPr>
        <p:txBody>
          <a:bodyPr wrap="none" lIns="0" tIns="0" rIns="0" bIns="0" anchor="t">
            <a:spAutoFit/>
          </a:bodyPr>
          <a:lstStyle/>
          <a:p>
            <a:pPr algn="l"/>
            <a:r>
              <a:rPr sz="1575" b="1" i="0" u="none">
                <a:solidFill>
                  <a:srgbClr val="0F172A"/>
                </a:solidFill>
                <a:latin typeface="Space Grotesk"/>
              </a:rPr>
              <a:t>Secure Issuance</a:t>
            </a:r>
          </a:p>
        </p:txBody>
      </p:sp>
      <p:sp>
        <p:nvSpPr>
          <p:cNvPr id="19" name="TextBox 18"/>
          <p:cNvSpPr txBox="1"/>
          <p:nvPr/>
        </p:nvSpPr>
        <p:spPr>
          <a:xfrm>
            <a:off x="4610100" y="3067050"/>
            <a:ext cx="3067050" cy="457200"/>
          </a:xfrm>
          <a:prstGeom prst="rect">
            <a:avLst/>
          </a:prstGeom>
          <a:noFill/>
        </p:spPr>
        <p:txBody>
          <a:bodyPr wrap="square" lIns="0" tIns="0" rIns="0" bIns="0" anchor="t">
            <a:spAutoFit/>
          </a:bodyPr>
          <a:lstStyle/>
          <a:p>
            <a:pPr algn="l"/>
            <a:r>
              <a:rPr sz="1350" b="0" i="0" u="none">
                <a:solidFill>
                  <a:srgbClr val="334155"/>
                </a:solidFill>
                <a:latin typeface="DM Sans"/>
              </a:rPr>
              <a:t>Blockchain-backed certificates and ID cards.</a:t>
            </a:r>
          </a:p>
        </p:txBody>
      </p:sp>
      <p:sp>
        <p:nvSpPr>
          <p:cNvPr id="20" name="TextBox 19"/>
          <p:cNvSpPr txBox="1"/>
          <p:nvPr/>
        </p:nvSpPr>
        <p:spPr>
          <a:xfrm>
            <a:off x="8343900" y="2733675"/>
            <a:ext cx="3848100" cy="257175"/>
          </a:xfrm>
          <a:prstGeom prst="rect">
            <a:avLst/>
          </a:prstGeom>
          <a:noFill/>
        </p:spPr>
        <p:txBody>
          <a:bodyPr wrap="none" lIns="0" tIns="0" rIns="0" bIns="0" anchor="t">
            <a:spAutoFit/>
          </a:bodyPr>
          <a:lstStyle/>
          <a:p>
            <a:pPr algn="l"/>
            <a:r>
              <a:rPr sz="1575" b="1" i="0" u="none">
                <a:solidFill>
                  <a:srgbClr val="0F172A"/>
                </a:solidFill>
                <a:latin typeface="Space Grotesk"/>
              </a:rPr>
              <a:t>Document Integrity</a:t>
            </a:r>
          </a:p>
        </p:txBody>
      </p:sp>
      <p:sp>
        <p:nvSpPr>
          <p:cNvPr id="21" name="TextBox 20"/>
          <p:cNvSpPr txBox="1"/>
          <p:nvPr/>
        </p:nvSpPr>
        <p:spPr>
          <a:xfrm>
            <a:off x="8343900" y="3067050"/>
            <a:ext cx="3067050" cy="457200"/>
          </a:xfrm>
          <a:prstGeom prst="rect">
            <a:avLst/>
          </a:prstGeom>
          <a:noFill/>
        </p:spPr>
        <p:txBody>
          <a:bodyPr wrap="square" lIns="0" tIns="0" rIns="0" bIns="0" anchor="t">
            <a:spAutoFit/>
          </a:bodyPr>
          <a:lstStyle/>
          <a:p>
            <a:pPr algn="l"/>
            <a:r>
              <a:rPr sz="1350" b="0" i="0" u="none">
                <a:solidFill>
                  <a:srgbClr val="334155"/>
                </a:solidFill>
                <a:latin typeface="DM Sans"/>
              </a:rPr>
              <a:t>Cryptographic hashes stored on Ethereum.</a:t>
            </a:r>
          </a:p>
        </p:txBody>
      </p:sp>
      <p:sp>
        <p:nvSpPr>
          <p:cNvPr id="22" name="TextBox 21"/>
          <p:cNvSpPr txBox="1"/>
          <p:nvPr/>
        </p:nvSpPr>
        <p:spPr>
          <a:xfrm>
            <a:off x="876300" y="4800600"/>
            <a:ext cx="3900487" cy="257175"/>
          </a:xfrm>
          <a:prstGeom prst="rect">
            <a:avLst/>
          </a:prstGeom>
          <a:noFill/>
        </p:spPr>
        <p:txBody>
          <a:bodyPr wrap="none" lIns="0" tIns="0" rIns="0" bIns="0" anchor="t">
            <a:spAutoFit/>
          </a:bodyPr>
          <a:lstStyle/>
          <a:p>
            <a:pPr algn="l"/>
            <a:r>
              <a:rPr sz="1575" b="1" i="0" u="none">
                <a:solidFill>
                  <a:srgbClr val="0F172A"/>
                </a:solidFill>
                <a:latin typeface="Space Grotesk"/>
              </a:rPr>
              <a:t>Real-Time Verification</a:t>
            </a:r>
          </a:p>
        </p:txBody>
      </p:sp>
      <p:sp>
        <p:nvSpPr>
          <p:cNvPr id="23" name="TextBox 22"/>
          <p:cNvSpPr txBox="1"/>
          <p:nvPr/>
        </p:nvSpPr>
        <p:spPr>
          <a:xfrm>
            <a:off x="876300" y="5133975"/>
            <a:ext cx="3714750" cy="228600"/>
          </a:xfrm>
          <a:prstGeom prst="rect">
            <a:avLst/>
          </a:prstGeom>
          <a:noFill/>
        </p:spPr>
        <p:txBody>
          <a:bodyPr wrap="none" lIns="0" tIns="0" rIns="0" bIns="0" anchor="t">
            <a:spAutoFit/>
          </a:bodyPr>
          <a:lstStyle/>
          <a:p>
            <a:pPr algn="l"/>
            <a:r>
              <a:rPr sz="1350" b="0" i="0" u="none">
                <a:solidFill>
                  <a:srgbClr val="334155"/>
                </a:solidFill>
                <a:latin typeface="DM Sans"/>
              </a:rPr>
              <a:t>Instant third-party QR code checks.</a:t>
            </a:r>
          </a:p>
        </p:txBody>
      </p:sp>
      <p:sp>
        <p:nvSpPr>
          <p:cNvPr id="24" name="TextBox 23"/>
          <p:cNvSpPr txBox="1"/>
          <p:nvPr/>
        </p:nvSpPr>
        <p:spPr>
          <a:xfrm>
            <a:off x="4610100" y="4686300"/>
            <a:ext cx="2857500" cy="242374"/>
          </a:xfrm>
          <a:prstGeom prst="rect">
            <a:avLst/>
          </a:prstGeom>
          <a:noFill/>
        </p:spPr>
        <p:txBody>
          <a:bodyPr wrap="square" lIns="0" tIns="0" rIns="0" bIns="0" anchor="t">
            <a:spAutoFit/>
          </a:bodyPr>
          <a:lstStyle/>
          <a:p>
            <a:pPr algn="l"/>
            <a:r>
              <a:rPr lang="en-IN" sz="1575" b="1" i="0" u="none" dirty="0">
                <a:solidFill>
                  <a:srgbClr val="0F172A"/>
                </a:solidFill>
                <a:latin typeface="Space Grotesk"/>
              </a:rPr>
              <a:t>cryptographic</a:t>
            </a:r>
            <a:r>
              <a:rPr sz="1575" b="1" i="0" u="none" dirty="0">
                <a:solidFill>
                  <a:srgbClr val="0F172A"/>
                </a:solidFill>
                <a:latin typeface="Space Grotesk"/>
              </a:rPr>
              <a:t> </a:t>
            </a:r>
            <a:r>
              <a:rPr lang="en-IN" sz="1575" b="1" i="0" u="none" dirty="0">
                <a:solidFill>
                  <a:srgbClr val="0F172A"/>
                </a:solidFill>
                <a:latin typeface="Space Grotesk"/>
              </a:rPr>
              <a:t>Score cards</a:t>
            </a:r>
            <a:endParaRPr sz="1575" b="1" i="0" u="none" dirty="0">
              <a:solidFill>
                <a:srgbClr val="0F172A"/>
              </a:solidFill>
              <a:latin typeface="Space Grotesk"/>
            </a:endParaRPr>
          </a:p>
        </p:txBody>
      </p:sp>
      <p:sp>
        <p:nvSpPr>
          <p:cNvPr id="25" name="TextBox 24"/>
          <p:cNvSpPr txBox="1"/>
          <p:nvPr/>
        </p:nvSpPr>
        <p:spPr>
          <a:xfrm>
            <a:off x="4610100" y="5019675"/>
            <a:ext cx="3067050" cy="207749"/>
          </a:xfrm>
          <a:prstGeom prst="rect">
            <a:avLst/>
          </a:prstGeom>
          <a:noFill/>
        </p:spPr>
        <p:txBody>
          <a:bodyPr wrap="square" lIns="0" tIns="0" rIns="0" bIns="0" anchor="t">
            <a:spAutoFit/>
          </a:bodyPr>
          <a:lstStyle/>
          <a:p>
            <a:pPr algn="l"/>
            <a:r>
              <a:rPr sz="1350" b="0" i="0" u="none" dirty="0">
                <a:solidFill>
                  <a:srgbClr val="334155"/>
                </a:solidFill>
                <a:latin typeface="DM Sans"/>
              </a:rPr>
              <a:t>Dynamic </a:t>
            </a:r>
            <a:r>
              <a:rPr lang="en-IN" sz="1350" dirty="0">
                <a:solidFill>
                  <a:srgbClr val="334155"/>
                </a:solidFill>
                <a:latin typeface="DM Sans"/>
              </a:rPr>
              <a:t>result and </a:t>
            </a:r>
            <a:r>
              <a:rPr sz="1350" b="0" i="0" u="none" dirty="0">
                <a:solidFill>
                  <a:srgbClr val="334155"/>
                </a:solidFill>
                <a:latin typeface="DM Sans"/>
              </a:rPr>
              <a:t>certificate evaluation.</a:t>
            </a:r>
          </a:p>
        </p:txBody>
      </p:sp>
      <p:sp>
        <p:nvSpPr>
          <p:cNvPr id="26" name="TextBox 25"/>
          <p:cNvSpPr txBox="1"/>
          <p:nvPr/>
        </p:nvSpPr>
        <p:spPr>
          <a:xfrm>
            <a:off x="8343900" y="4686300"/>
            <a:ext cx="3848100" cy="257175"/>
          </a:xfrm>
          <a:prstGeom prst="rect">
            <a:avLst/>
          </a:prstGeom>
          <a:noFill/>
        </p:spPr>
        <p:txBody>
          <a:bodyPr wrap="none" lIns="0" tIns="0" rIns="0" bIns="0" anchor="t">
            <a:spAutoFit/>
          </a:bodyPr>
          <a:lstStyle/>
          <a:p>
            <a:pPr algn="l"/>
            <a:r>
              <a:rPr sz="1575" b="1" i="0" u="none">
                <a:solidFill>
                  <a:srgbClr val="0F172A"/>
                </a:solidFill>
                <a:latin typeface="Space Grotesk"/>
              </a:rPr>
              <a:t>Automated Checks</a:t>
            </a:r>
          </a:p>
        </p:txBody>
      </p:sp>
      <p:sp>
        <p:nvSpPr>
          <p:cNvPr id="27" name="TextBox 26"/>
          <p:cNvSpPr txBox="1"/>
          <p:nvPr/>
        </p:nvSpPr>
        <p:spPr>
          <a:xfrm>
            <a:off x="8343900" y="5019675"/>
            <a:ext cx="3067050" cy="457200"/>
          </a:xfrm>
          <a:prstGeom prst="rect">
            <a:avLst/>
          </a:prstGeom>
          <a:noFill/>
        </p:spPr>
        <p:txBody>
          <a:bodyPr wrap="square" lIns="0" tIns="0" rIns="0" bIns="0" anchor="t">
            <a:spAutoFit/>
          </a:bodyPr>
          <a:lstStyle/>
          <a:p>
            <a:pPr algn="l"/>
            <a:r>
              <a:rPr sz="1350" b="0" i="0" u="none">
                <a:solidFill>
                  <a:srgbClr val="334155"/>
                </a:solidFill>
                <a:latin typeface="DM Sans"/>
              </a:rPr>
              <a:t>Eliminates manual background verification delays.</a:t>
            </a:r>
          </a:p>
        </p:txBody>
      </p:sp>
      <p:sp>
        <p:nvSpPr>
          <p:cNvPr id="28" name="TextBox 24">
            <a:extLst>
              <a:ext uri="{FF2B5EF4-FFF2-40B4-BE49-F238E27FC236}">
                <a16:creationId xmlns:a16="http://schemas.microsoft.com/office/drawing/2014/main" id="{D56BACF8-0606-4252-BCFA-B73BE2F40DEB}"/>
              </a:ext>
            </a:extLst>
          </p:cNvPr>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866E7C90-7698-49C2-A735-1A7C008C80BF}"/>
              </a:ext>
            </a:extLst>
          </p:cNvPr>
          <p:cNvSpPr/>
          <p:nvPr/>
        </p:nvSpPr>
        <p:spPr>
          <a:xfrm>
            <a:off x="4998124" y="-4691298"/>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14" name="Group 13">
            <a:extLst>
              <a:ext uri="{FF2B5EF4-FFF2-40B4-BE49-F238E27FC236}">
                <a16:creationId xmlns:a16="http://schemas.microsoft.com/office/drawing/2014/main" id="{75D5802A-2FC2-41A8-BACE-C30D432FD1F8}"/>
              </a:ext>
            </a:extLst>
          </p:cNvPr>
          <p:cNvGrpSpPr/>
          <p:nvPr/>
        </p:nvGrpSpPr>
        <p:grpSpPr>
          <a:xfrm>
            <a:off x="5225084" y="-4131589"/>
            <a:ext cx="2722205" cy="943945"/>
            <a:chOff x="5572125" y="2304682"/>
            <a:chExt cx="2603829" cy="943945"/>
          </a:xfrm>
        </p:grpSpPr>
        <p:sp>
          <p:nvSpPr>
            <p:cNvPr id="18" name="TextBox 90">
              <a:extLst>
                <a:ext uri="{FF2B5EF4-FFF2-40B4-BE49-F238E27FC236}">
                  <a16:creationId xmlns:a16="http://schemas.microsoft.com/office/drawing/2014/main" id="{1BAA36E3-2F53-43A1-B0C0-984899C05799}"/>
                </a:ext>
              </a:extLst>
            </p:cNvPr>
            <p:cNvSpPr/>
            <p:nvPr/>
          </p:nvSpPr>
          <p:spPr>
            <a:xfrm>
              <a:off x="5666321" y="2304682"/>
              <a:ext cx="2415435" cy="228600"/>
            </a:xfrm>
            <a:prstGeom prst="rect">
              <a:avLst/>
            </a:prstGeom>
            <a:noFill/>
            <a:ln/>
          </p:spPr>
          <p:txBody>
            <a:bodyPr wrap="none" lIns="0" tIns="0" rIns="0" bIns="0" rtlCol="0" anchor="t">
              <a:normAutofit/>
            </a:bodyPr>
            <a:lstStyle/>
            <a:p>
              <a:pPr marL="0" indent="0">
                <a:lnSpc>
                  <a:spcPct val="100000"/>
                </a:lnSpc>
                <a:buNone/>
              </a:pPr>
              <a:r>
                <a:rPr lang="en" altLang="en-US" sz="1400" b="1" kern="0" dirty="0">
                  <a:solidFill>
                    <a:srgbClr val="0069B8"/>
                  </a:solidFill>
                  <a:ea typeface="Inter" pitchFamily="34" charset="-122"/>
                  <a:cs typeface="Inter" pitchFamily="34" charset="-120"/>
                </a:rPr>
                <a:t>Document Forgery</a:t>
              </a:r>
              <a:endParaRPr lang="en" sz="1400" dirty="0">
                <a:solidFill>
                  <a:srgbClr val="0069B8"/>
                </a:solidFill>
              </a:endParaRPr>
            </a:p>
          </p:txBody>
        </p:sp>
        <p:sp>
          <p:nvSpPr>
            <p:cNvPr id="20" name="TextBox 19">
              <a:extLst>
                <a:ext uri="{FF2B5EF4-FFF2-40B4-BE49-F238E27FC236}">
                  <a16:creationId xmlns:a16="http://schemas.microsoft.com/office/drawing/2014/main" id="{1BF965F9-9F37-415D-85EA-EFBF5EEBEF00}"/>
                </a:ext>
              </a:extLst>
            </p:cNvPr>
            <p:cNvSpPr txBox="1"/>
            <p:nvPr/>
          </p:nvSpPr>
          <p:spPr>
            <a:xfrm>
              <a:off x="5572125" y="2551385"/>
              <a:ext cx="2603829" cy="697242"/>
            </a:xfrm>
            <a:prstGeom prst="rect">
              <a:avLst/>
            </a:prstGeom>
            <a:noFill/>
          </p:spPr>
          <p:txBody>
            <a:bodyPr wrap="square">
              <a:spAutoFit/>
            </a:bodyPr>
            <a:lstStyle/>
            <a:p>
              <a:pPr marL="0" indent="0">
                <a:lnSpc>
                  <a:spcPts val="1584"/>
                </a:lnSpc>
                <a:buNone/>
              </a:pPr>
              <a:r>
                <a:rPr lang="en" altLang="en-US" sz="1200" dirty="0">
                  <a:solidFill>
                    <a:schemeClr val="tx1">
                      <a:lumMod val="65000"/>
                      <a:lumOff val="35000"/>
                    </a:schemeClr>
                  </a:solidFill>
                  <a:ea typeface="Inter" pitchFamily="34" charset="-122"/>
                  <a:cs typeface="Inter" pitchFamily="34" charset="-120"/>
                </a:rPr>
                <a:t>Increasing prevalence of fake degrees and</a:t>
              </a:r>
              <a:r>
                <a:rPr lang="en" altLang="en-US" sz="1200" dirty="0">
                  <a:solidFill>
                    <a:schemeClr val="tx1">
                      <a:lumMod val="65000"/>
                      <a:lumOff val="35000"/>
                    </a:schemeClr>
                  </a:solidFill>
                </a:rPr>
                <a:t> </a:t>
              </a:r>
              <a:r>
                <a:rPr lang="en" altLang="en-US" sz="1200" dirty="0">
                  <a:solidFill>
                    <a:schemeClr val="tx1">
                      <a:lumMod val="65000"/>
                      <a:lumOff val="35000"/>
                    </a:schemeClr>
                  </a:solidFill>
                  <a:ea typeface="Inter" pitchFamily="34" charset="-122"/>
                  <a:cs typeface="Inter" pitchFamily="34" charset="-120"/>
                </a:rPr>
                <a:t>certificates undermines the value oflegitimate education.</a:t>
              </a:r>
              <a:endParaRPr lang="en" sz="1200" dirty="0">
                <a:solidFill>
                  <a:schemeClr val="tx1">
                    <a:lumMod val="65000"/>
                    <a:lumOff val="35000"/>
                  </a:schemeClr>
                </a:solidFill>
              </a:endParaRPr>
            </a:p>
          </p:txBody>
        </p:sp>
      </p:grpSp>
      <p:sp>
        <p:nvSpPr>
          <p:cNvPr id="15" name="Rectangle: Rounded Corners 14">
            <a:extLst>
              <a:ext uri="{FF2B5EF4-FFF2-40B4-BE49-F238E27FC236}">
                <a16:creationId xmlns:a16="http://schemas.microsoft.com/office/drawing/2014/main" id="{4C46FB09-9E74-499A-9225-3465FD98901A}"/>
              </a:ext>
            </a:extLst>
          </p:cNvPr>
          <p:cNvSpPr/>
          <p:nvPr/>
        </p:nvSpPr>
        <p:spPr>
          <a:xfrm>
            <a:off x="4998124" y="-2334352"/>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7EE5A9B-8310-43B6-8FEA-7A681BB9DA51}"/>
              </a:ext>
            </a:extLst>
          </p:cNvPr>
          <p:cNvSpPr txBox="1"/>
          <p:nvPr/>
        </p:nvSpPr>
        <p:spPr>
          <a:xfrm>
            <a:off x="5225084" y="-1645440"/>
            <a:ext cx="2623724"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Academic records are often stored in  fragmented, centralized databases that are difficult to access across borders.</a:t>
            </a:r>
            <a:endParaRPr lang="en" sz="1200" dirty="0">
              <a:solidFill>
                <a:schemeClr val="tx1">
                  <a:lumMod val="65000"/>
                  <a:lumOff val="35000"/>
                </a:schemeClr>
              </a:solidFill>
              <a:ea typeface="Inter" pitchFamily="34" charset="-122"/>
            </a:endParaRPr>
          </a:p>
        </p:txBody>
      </p:sp>
      <p:sp>
        <p:nvSpPr>
          <p:cNvPr id="17" name="TextBox 130">
            <a:extLst>
              <a:ext uri="{FF2B5EF4-FFF2-40B4-BE49-F238E27FC236}">
                <a16:creationId xmlns:a16="http://schemas.microsoft.com/office/drawing/2014/main" id="{33F7552F-8C32-46B4-A378-77E8FF3A191E}"/>
              </a:ext>
            </a:extLst>
          </p:cNvPr>
          <p:cNvSpPr/>
          <p:nvPr/>
        </p:nvSpPr>
        <p:spPr>
          <a:xfrm>
            <a:off x="5331085" y="-1931677"/>
            <a:ext cx="1763023"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Data Silos</a:t>
            </a:r>
            <a:endParaRPr lang="en" sz="1400" b="1" kern="0" dirty="0">
              <a:solidFill>
                <a:srgbClr val="0069B8"/>
              </a:solidFill>
              <a:ea typeface="Inter" pitchFamily="34" charset="-122"/>
            </a:endParaRPr>
          </a:p>
        </p:txBody>
      </p:sp>
      <p:sp>
        <p:nvSpPr>
          <p:cNvPr id="22" name="Rectangle: Rounded Corners 21">
            <a:extLst>
              <a:ext uri="{FF2B5EF4-FFF2-40B4-BE49-F238E27FC236}">
                <a16:creationId xmlns:a16="http://schemas.microsoft.com/office/drawing/2014/main" id="{0503D970-FDCA-457D-9601-00AD9E6455A3}"/>
              </a:ext>
            </a:extLst>
          </p:cNvPr>
          <p:cNvSpPr/>
          <p:nvPr/>
        </p:nvSpPr>
        <p:spPr>
          <a:xfrm>
            <a:off x="8527578" y="8290603"/>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110">
            <a:extLst>
              <a:ext uri="{FF2B5EF4-FFF2-40B4-BE49-F238E27FC236}">
                <a16:creationId xmlns:a16="http://schemas.microsoft.com/office/drawing/2014/main" id="{F77A5FC9-F309-4A50-9B48-69FEDC57997D}"/>
              </a:ext>
            </a:extLst>
          </p:cNvPr>
          <p:cNvSpPr/>
          <p:nvPr/>
        </p:nvSpPr>
        <p:spPr>
          <a:xfrm>
            <a:off x="8835688" y="8780419"/>
            <a:ext cx="2291597" cy="279427"/>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Ineefficient Verification</a:t>
            </a:r>
            <a:endParaRPr lang="en" sz="1400" b="1" kern="0" dirty="0">
              <a:solidFill>
                <a:srgbClr val="0069B8"/>
              </a:solidFill>
              <a:ea typeface="Inter" pitchFamily="34" charset="-122"/>
            </a:endParaRPr>
          </a:p>
        </p:txBody>
      </p:sp>
      <p:sp>
        <p:nvSpPr>
          <p:cNvPr id="24" name="TextBox 23">
            <a:extLst>
              <a:ext uri="{FF2B5EF4-FFF2-40B4-BE49-F238E27FC236}">
                <a16:creationId xmlns:a16="http://schemas.microsoft.com/office/drawing/2014/main" id="{FA016457-2647-419E-A8C4-8BE2F61C48B5}"/>
              </a:ext>
            </a:extLst>
          </p:cNvPr>
          <p:cNvSpPr txBox="1"/>
          <p:nvPr/>
        </p:nvSpPr>
        <p:spPr>
          <a:xfrm>
            <a:off x="8788989" y="9059846"/>
            <a:ext cx="229159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Manual background checks can take weeks, delaying employment and academic admissions.</a:t>
            </a:r>
            <a:endParaRPr lang="en-IN" sz="1200" dirty="0">
              <a:solidFill>
                <a:schemeClr val="tx1">
                  <a:lumMod val="65000"/>
                  <a:lumOff val="35000"/>
                </a:schemeClr>
              </a:solidFill>
              <a:ea typeface="Inter" pitchFamily="34" charset="-122"/>
            </a:endParaRPr>
          </a:p>
        </p:txBody>
      </p:sp>
      <p:sp>
        <p:nvSpPr>
          <p:cNvPr id="25" name="Rectangle: Rounded Corners 24">
            <a:extLst>
              <a:ext uri="{FF2B5EF4-FFF2-40B4-BE49-F238E27FC236}">
                <a16:creationId xmlns:a16="http://schemas.microsoft.com/office/drawing/2014/main" id="{9F848E68-1F3F-4F07-B76E-2E0C9CD85D20}"/>
              </a:ext>
            </a:extLst>
          </p:cNvPr>
          <p:cNvSpPr/>
          <p:nvPr/>
        </p:nvSpPr>
        <p:spPr>
          <a:xfrm>
            <a:off x="8527578" y="10676976"/>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6" name="Group 25">
            <a:extLst>
              <a:ext uri="{FF2B5EF4-FFF2-40B4-BE49-F238E27FC236}">
                <a16:creationId xmlns:a16="http://schemas.microsoft.com/office/drawing/2014/main" id="{D2B71D5D-4522-4DC1-8BE3-0CA99DF5465A}"/>
              </a:ext>
            </a:extLst>
          </p:cNvPr>
          <p:cNvGrpSpPr/>
          <p:nvPr/>
        </p:nvGrpSpPr>
        <p:grpSpPr>
          <a:xfrm>
            <a:off x="8817644" y="11057766"/>
            <a:ext cx="2519477" cy="1037331"/>
            <a:chOff x="8681923" y="4417649"/>
            <a:chExt cx="2519477" cy="1037331"/>
          </a:xfrm>
        </p:grpSpPr>
        <p:sp>
          <p:nvSpPr>
            <p:cNvPr id="27" name="TextBox 150">
              <a:extLst>
                <a:ext uri="{FF2B5EF4-FFF2-40B4-BE49-F238E27FC236}">
                  <a16:creationId xmlns:a16="http://schemas.microsoft.com/office/drawing/2014/main" id="{A25E6BC2-45DC-40A3-976F-894CC6CF2659}"/>
                </a:ext>
              </a:extLst>
            </p:cNvPr>
            <p:cNvSpPr/>
            <p:nvPr/>
          </p:nvSpPr>
          <p:spPr>
            <a:xfrm>
              <a:off x="8788989" y="4417649"/>
              <a:ext cx="1933407"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High Admin Costs</a:t>
              </a:r>
              <a:endParaRPr lang="en" sz="1400" b="1" kern="0" dirty="0">
                <a:solidFill>
                  <a:srgbClr val="0069B8"/>
                </a:solidFill>
                <a:ea typeface="Inter" pitchFamily="34" charset="-122"/>
              </a:endParaRPr>
            </a:p>
          </p:txBody>
        </p:sp>
        <p:sp>
          <p:nvSpPr>
            <p:cNvPr id="28" name="TextBox 153">
              <a:extLst>
                <a:ext uri="{FF2B5EF4-FFF2-40B4-BE49-F238E27FC236}">
                  <a16:creationId xmlns:a16="http://schemas.microsoft.com/office/drawing/2014/main" id="{02CED60F-1E36-42F8-BE77-42B566DA98CA}"/>
                </a:ext>
              </a:extLst>
            </p:cNvPr>
            <p:cNvSpPr/>
            <p:nvPr/>
          </p:nvSpPr>
          <p:spPr>
            <a:xfrm>
              <a:off x="8681923" y="4757738"/>
              <a:ext cx="251947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Institutions spend significant resources responding to verification requests via traditional mail or email.</a:t>
              </a:r>
              <a:endParaRPr lang="en" sz="1200" dirty="0">
                <a:solidFill>
                  <a:schemeClr val="tx1">
                    <a:lumMod val="65000"/>
                    <a:lumOff val="35000"/>
                  </a:schemeClr>
                </a:solidFill>
                <a:ea typeface="Inter" pitchFamily="34" charset="-122"/>
              </a:endParaRPr>
            </a:p>
          </p:txBody>
        </p:sp>
      </p:grpSp>
      <p:pic>
        <p:nvPicPr>
          <p:cNvPr id="29" name="Picture 28">
            <a:extLst>
              <a:ext uri="{FF2B5EF4-FFF2-40B4-BE49-F238E27FC236}">
                <a16:creationId xmlns:a16="http://schemas.microsoft.com/office/drawing/2014/main" id="{8DB5C5B4-35A2-4979-B851-7001FC341501}"/>
              </a:ext>
            </a:extLst>
          </p:cNvPr>
          <p:cNvPicPr>
            <a:picLocks noChangeAspect="1"/>
          </p:cNvPicPr>
          <p:nvPr/>
        </p:nvPicPr>
        <p:blipFill rotWithShape="1">
          <a:blip r:embed="rId4"/>
          <a:srcRect t="8180" b="8180"/>
          <a:stretch/>
        </p:blipFill>
        <p:spPr>
          <a:xfrm>
            <a:off x="13315950" y="0"/>
            <a:ext cx="5486400" cy="6858000"/>
          </a:xfrm>
          <a:prstGeom prst="rect">
            <a:avLst/>
          </a:prstGeom>
        </p:spPr>
      </p:pic>
      <p:sp>
        <p:nvSpPr>
          <p:cNvPr id="30" name="TextBox 29">
            <a:extLst>
              <a:ext uri="{FF2B5EF4-FFF2-40B4-BE49-F238E27FC236}">
                <a16:creationId xmlns:a16="http://schemas.microsoft.com/office/drawing/2014/main" id="{A777D3D0-8F5F-4129-8B26-657E3E8F3B79}"/>
              </a:ext>
            </a:extLst>
          </p:cNvPr>
          <p:cNvSpPr txBox="1"/>
          <p:nvPr/>
        </p:nvSpPr>
        <p:spPr>
          <a:xfrm>
            <a:off x="609600" y="744167"/>
            <a:ext cx="8179389" cy="553998"/>
          </a:xfrm>
          <a:prstGeom prst="rect">
            <a:avLst/>
          </a:prstGeom>
          <a:noFill/>
        </p:spPr>
        <p:txBody>
          <a:bodyPr wrap="square" lIns="0" tIns="0" rIns="0" bIns="0" anchor="t">
            <a:spAutoFit/>
            <a:scene3d>
              <a:camera prst="orthographicFront"/>
              <a:lightRig rig="threePt" dir="t"/>
            </a:scene3d>
            <a:sp3d extrusionH="57150">
              <a:bevelT w="38100" h="38100"/>
            </a:sp3d>
          </a:bodyPr>
          <a:lstStyle/>
          <a:p>
            <a:pPr algn="l"/>
            <a:r>
              <a:rPr sz="3600" i="0" u="none" dirty="0">
                <a:ln w="0"/>
                <a:latin typeface="Space Grotesk"/>
              </a:rPr>
              <a:t>Introduction to</a:t>
            </a:r>
            <a:r>
              <a:rPr sz="3600" i="0" u="none" dirty="0">
                <a:ln w="0"/>
                <a:effectLst>
                  <a:outerShdw blurRad="38100" dist="19050" dir="2700000" algn="tl" rotWithShape="0">
                    <a:schemeClr val="dk1">
                      <a:alpha val="40000"/>
                    </a:schemeClr>
                  </a:outerShdw>
                </a:effectLst>
                <a:latin typeface="Space Grotesk"/>
              </a:rPr>
              <a:t> </a:t>
            </a:r>
            <a:r>
              <a:rPr sz="3600" i="0" u="none" dirty="0">
                <a:ln w="0">
                  <a:noFill/>
                </a:ln>
                <a:solidFill>
                  <a:schemeClr val="accent2">
                    <a:lumMod val="75000"/>
                  </a:schemeClr>
                </a:solidFill>
                <a:effectLst>
                  <a:outerShdw blurRad="50800" dist="38100" algn="l" rotWithShape="0">
                    <a:prstClr val="black">
                      <a:alpha val="40000"/>
                    </a:prstClr>
                  </a:outerShdw>
                </a:effectLst>
                <a:latin typeface="Space Grotesk"/>
              </a:rPr>
              <a:t>EDUCATE</a:t>
            </a:r>
            <a:r>
              <a:rPr sz="3600" i="0" u="none" dirty="0">
                <a:ln w="0"/>
                <a:effectLst>
                  <a:outerShdw blurRad="38100" dist="19050" dir="2700000" algn="tl" rotWithShape="0">
                    <a:schemeClr val="dk1">
                      <a:alpha val="40000"/>
                    </a:schemeClr>
                  </a:outerShdw>
                </a:effectLst>
                <a:latin typeface="Space Grotesk"/>
              </a:rPr>
              <a:t> </a:t>
            </a:r>
            <a:r>
              <a:rPr sz="3600" i="0" u="none" dirty="0">
                <a:ln w="0"/>
                <a:solidFill>
                  <a:srgbClr val="0070C0"/>
                </a:solidFill>
                <a:effectLst>
                  <a:outerShdw blurRad="38100" dist="19050" dir="2700000" algn="tl" rotWithShape="0">
                    <a:schemeClr val="dk1">
                      <a:alpha val="40000"/>
                    </a:schemeClr>
                  </a:outerShdw>
                </a:effectLst>
                <a:latin typeface="Space Grotesk"/>
              </a:rPr>
              <a:t>Portal</a:t>
            </a:r>
          </a:p>
        </p:txBody>
      </p:sp>
      <p:sp>
        <p:nvSpPr>
          <p:cNvPr id="32" name="Rounded Rectangle 1">
            <a:extLst>
              <a:ext uri="{FF2B5EF4-FFF2-40B4-BE49-F238E27FC236}">
                <a16:creationId xmlns:a16="http://schemas.microsoft.com/office/drawing/2014/main" id="{7B8EC139-239B-4574-B5B1-4ECF33DF42C0}"/>
              </a:ext>
            </a:extLst>
          </p:cNvPr>
          <p:cNvSpPr/>
          <p:nvPr/>
        </p:nvSpPr>
        <p:spPr>
          <a:xfrm>
            <a:off x="609600" y="2209800"/>
            <a:ext cx="6092130" cy="3390900"/>
          </a:xfrm>
          <a:prstGeom prst="roundRect">
            <a:avLst>
              <a:gd name="adj" fmla="val 449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1AAB2ED8-64B5-49B3-AB82-EA3225988FE4}"/>
              </a:ext>
            </a:extLst>
          </p:cNvPr>
          <p:cNvSpPr txBox="1"/>
          <p:nvPr/>
        </p:nvSpPr>
        <p:spPr>
          <a:xfrm>
            <a:off x="952500" y="2552700"/>
            <a:ext cx="5501580" cy="533400"/>
          </a:xfrm>
          <a:prstGeom prst="rect">
            <a:avLst/>
          </a:prstGeom>
          <a:noFill/>
        </p:spPr>
        <p:txBody>
          <a:bodyPr wrap="square" lIns="0" tIns="0" rIns="0" bIns="0" anchor="t">
            <a:spAutoFit/>
          </a:bodyPr>
          <a:lstStyle/>
          <a:p>
            <a:pPr algn="l"/>
            <a:r>
              <a:rPr sz="1575" b="1" i="0" u="none" dirty="0">
                <a:solidFill>
                  <a:srgbClr val="1E3A8A"/>
                </a:solidFill>
                <a:latin typeface="DM Sans"/>
              </a:rPr>
              <a:t>Modernizing academic credential infrastructure through immutable blockchain records.</a:t>
            </a:r>
          </a:p>
        </p:txBody>
      </p:sp>
      <p:sp>
        <p:nvSpPr>
          <p:cNvPr id="34" name="TextBox 33">
            <a:extLst>
              <a:ext uri="{FF2B5EF4-FFF2-40B4-BE49-F238E27FC236}">
                <a16:creationId xmlns:a16="http://schemas.microsoft.com/office/drawing/2014/main" id="{7DD9EB34-A97C-4BB8-839D-CA3518369307}"/>
              </a:ext>
            </a:extLst>
          </p:cNvPr>
          <p:cNvSpPr txBox="1"/>
          <p:nvPr/>
        </p:nvSpPr>
        <p:spPr>
          <a:xfrm>
            <a:off x="952500" y="3314700"/>
            <a:ext cx="5501580" cy="476250"/>
          </a:xfrm>
          <a:prstGeom prst="rect">
            <a:avLst/>
          </a:prstGeom>
          <a:noFill/>
        </p:spPr>
        <p:txBody>
          <a:bodyPr wrap="square" lIns="0" tIns="0" rIns="0" bIns="0" anchor="t">
            <a:spAutoFit/>
          </a:bodyPr>
          <a:lstStyle/>
          <a:p>
            <a:pPr algn="l"/>
            <a:r>
              <a:rPr sz="1425" b="1" i="0" u="none" dirty="0">
                <a:solidFill>
                  <a:srgbClr val="0052FF"/>
                </a:solidFill>
                <a:latin typeface="DM Sans"/>
              </a:rPr>
              <a:t>Paper Vulnerability:</a:t>
            </a:r>
            <a:r>
              <a:rPr sz="1425" b="0" i="0" u="none" dirty="0">
                <a:solidFill>
                  <a:srgbClr val="334155"/>
                </a:solidFill>
                <a:latin typeface="DM Sans"/>
              </a:rPr>
              <a:t> Physical certificates risk forgery and damage.</a:t>
            </a:r>
          </a:p>
        </p:txBody>
      </p:sp>
      <p:sp>
        <p:nvSpPr>
          <p:cNvPr id="35" name="TextBox 34">
            <a:extLst>
              <a:ext uri="{FF2B5EF4-FFF2-40B4-BE49-F238E27FC236}">
                <a16:creationId xmlns:a16="http://schemas.microsoft.com/office/drawing/2014/main" id="{42A0C74B-0150-4A1B-BC63-C152B75D7AD5}"/>
              </a:ext>
            </a:extLst>
          </p:cNvPr>
          <p:cNvSpPr txBox="1"/>
          <p:nvPr/>
        </p:nvSpPr>
        <p:spPr>
          <a:xfrm>
            <a:off x="952500" y="3962400"/>
            <a:ext cx="5501580" cy="476250"/>
          </a:xfrm>
          <a:prstGeom prst="rect">
            <a:avLst/>
          </a:prstGeom>
          <a:noFill/>
        </p:spPr>
        <p:txBody>
          <a:bodyPr wrap="square" lIns="0" tIns="0" rIns="0" bIns="0" anchor="t">
            <a:spAutoFit/>
          </a:bodyPr>
          <a:lstStyle/>
          <a:p>
            <a:pPr algn="l"/>
            <a:r>
              <a:rPr sz="1425" b="1" i="0" u="none" dirty="0">
                <a:solidFill>
                  <a:srgbClr val="0052FF"/>
                </a:solidFill>
                <a:latin typeface="DM Sans"/>
              </a:rPr>
              <a:t>Verification Bottleneck:</a:t>
            </a:r>
            <a:r>
              <a:rPr sz="1425" b="0" i="0" u="none" dirty="0">
                <a:solidFill>
                  <a:srgbClr val="334155"/>
                </a:solidFill>
                <a:latin typeface="DM Sans"/>
              </a:rPr>
              <a:t> Conventional digital checks remain slow.</a:t>
            </a:r>
          </a:p>
        </p:txBody>
      </p:sp>
      <p:sp>
        <p:nvSpPr>
          <p:cNvPr id="36" name="TextBox 35">
            <a:extLst>
              <a:ext uri="{FF2B5EF4-FFF2-40B4-BE49-F238E27FC236}">
                <a16:creationId xmlns:a16="http://schemas.microsoft.com/office/drawing/2014/main" id="{B7D3E50C-7D02-4264-87E1-6DA47AB49FD6}"/>
              </a:ext>
            </a:extLst>
          </p:cNvPr>
          <p:cNvSpPr txBox="1"/>
          <p:nvPr/>
        </p:nvSpPr>
        <p:spPr>
          <a:xfrm>
            <a:off x="952500" y="4610100"/>
            <a:ext cx="6757913" cy="238125"/>
          </a:xfrm>
          <a:prstGeom prst="rect">
            <a:avLst/>
          </a:prstGeom>
          <a:noFill/>
        </p:spPr>
        <p:txBody>
          <a:bodyPr wrap="none" lIns="0" tIns="0" rIns="0" bIns="0" anchor="t">
            <a:spAutoFit/>
          </a:bodyPr>
          <a:lstStyle/>
          <a:p>
            <a:pPr algn="l"/>
            <a:r>
              <a:rPr sz="1425" b="1" i="0" u="none" dirty="0">
                <a:solidFill>
                  <a:srgbClr val="6366F1"/>
                </a:solidFill>
                <a:latin typeface="DM Sans"/>
              </a:rPr>
              <a:t>Decentralized Mandate:</a:t>
            </a:r>
            <a:r>
              <a:rPr sz="1425" b="0" i="0" u="none" dirty="0">
                <a:solidFill>
                  <a:srgbClr val="334155"/>
                </a:solidFill>
                <a:latin typeface="DM Sans"/>
              </a:rPr>
              <a:t> Eliminates single points of failure.</a:t>
            </a:r>
          </a:p>
        </p:txBody>
      </p:sp>
      <p:sp>
        <p:nvSpPr>
          <p:cNvPr id="37" name="TextBox 36">
            <a:extLst>
              <a:ext uri="{FF2B5EF4-FFF2-40B4-BE49-F238E27FC236}">
                <a16:creationId xmlns:a16="http://schemas.microsoft.com/office/drawing/2014/main" id="{C06A17A2-2BE6-4688-85D2-A65092FA9F6A}"/>
              </a:ext>
            </a:extLst>
          </p:cNvPr>
          <p:cNvSpPr txBox="1"/>
          <p:nvPr/>
        </p:nvSpPr>
        <p:spPr>
          <a:xfrm>
            <a:off x="952500" y="5019675"/>
            <a:ext cx="6757913" cy="238125"/>
          </a:xfrm>
          <a:prstGeom prst="rect">
            <a:avLst/>
          </a:prstGeom>
          <a:noFill/>
        </p:spPr>
        <p:txBody>
          <a:bodyPr wrap="none" lIns="0" tIns="0" rIns="0" bIns="0" anchor="t">
            <a:spAutoFit/>
          </a:bodyPr>
          <a:lstStyle/>
          <a:p>
            <a:pPr algn="l"/>
            <a:r>
              <a:rPr sz="1425" b="1" i="0" u="none" dirty="0">
                <a:solidFill>
                  <a:srgbClr val="0F172A"/>
                </a:solidFill>
                <a:latin typeface="DM Sans"/>
              </a:rPr>
              <a:t>Hybrid Architecture:</a:t>
            </a:r>
            <a:r>
              <a:rPr sz="1425" b="0" i="0" u="none" dirty="0">
                <a:solidFill>
                  <a:srgbClr val="334155"/>
                </a:solidFill>
                <a:latin typeface="DM Sans"/>
              </a:rPr>
              <a:t> Pairs MERN web speed with Ethereum.</a:t>
            </a:r>
          </a:p>
        </p:txBody>
      </p:sp>
      <p:pic>
        <p:nvPicPr>
          <p:cNvPr id="38" name="Picture 37">
            <a:extLst>
              <a:ext uri="{FF2B5EF4-FFF2-40B4-BE49-F238E27FC236}">
                <a16:creationId xmlns:a16="http://schemas.microsoft.com/office/drawing/2014/main" id="{9ADC7749-EF3A-4499-8A50-B21C464A413C}"/>
              </a:ext>
            </a:extLst>
          </p:cNvPr>
          <p:cNvPicPr>
            <a:picLocks noChangeAspect="1"/>
          </p:cNvPicPr>
          <p:nvPr/>
        </p:nvPicPr>
        <p:blipFill>
          <a:blip r:embed="rId5"/>
          <a:srcRect/>
          <a:stretch/>
        </p:blipFill>
        <p:spPr>
          <a:xfrm>
            <a:off x="7275164" y="1809750"/>
            <a:ext cx="4191000" cy="4191000"/>
          </a:xfrm>
          <a:prstGeom prst="rect">
            <a:avLst/>
          </a:prstGeom>
        </p:spPr>
      </p:pic>
      <p:sp>
        <p:nvSpPr>
          <p:cNvPr id="44" name="TextBox 24">
            <a:extLst>
              <a:ext uri="{FF2B5EF4-FFF2-40B4-BE49-F238E27FC236}">
                <a16:creationId xmlns:a16="http://schemas.microsoft.com/office/drawing/2014/main" id="{6759C959-B015-41F7-B8FD-4172518DD24B}"/>
              </a:ext>
            </a:extLst>
          </p:cNvPr>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9" name="TextBox 72"/>
          <p:cNvSpPr/>
          <p:nvPr/>
        </p:nvSpPr>
        <p:spPr>
          <a:xfrm>
            <a:off x="6431337" y="1527874"/>
            <a:ext cx="3460076" cy="273041"/>
          </a:xfrm>
          <a:prstGeom prst="rect">
            <a:avLst/>
          </a:prstGeom>
          <a:noFill/>
          <a:ln/>
        </p:spPr>
        <p:txBody>
          <a:bodyPr wrap="none" lIns="0" tIns="0" rIns="0" bIns="0" rtlCol="0" anchor="t">
            <a:noAutofit/>
          </a:bodyPr>
          <a:lstStyle/>
          <a:p>
            <a:pPr marL="0" indent="0" algn="ctr">
              <a:lnSpc>
                <a:spcPct val="100000"/>
              </a:lnSpc>
              <a:buNone/>
            </a:pPr>
            <a:r>
              <a:rPr lang="en" altLang="en-US" sz="1650" b="1" kern="0" spc="100" dirty="0">
                <a:latin typeface="JetBrains Mono" pitchFamily="34" charset="0"/>
                <a:ea typeface="Inter"/>
                <a:cs typeface="JetBrains Mono" pitchFamily="34" charset="-120"/>
              </a:rPr>
              <a:t>Critical Friction Points</a:t>
            </a:r>
            <a:endParaRPr lang="en" sz="1650" spc="100" dirty="0">
              <a:ea typeface="Inter"/>
            </a:endParaRPr>
          </a:p>
        </p:txBody>
      </p:sp>
      <p:sp>
        <p:nvSpPr>
          <p:cNvPr id="3" name="TextBox 24"/>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18" name="Rectangle: Rounded Corners 17">
            <a:extLst>
              <a:ext uri="{FF2B5EF4-FFF2-40B4-BE49-F238E27FC236}">
                <a16:creationId xmlns:a16="http://schemas.microsoft.com/office/drawing/2014/main" id="{463AE03D-8385-4E21-B6E7-6682BBF0C79D}"/>
              </a:ext>
            </a:extLst>
          </p:cNvPr>
          <p:cNvSpPr/>
          <p:nvPr/>
        </p:nvSpPr>
        <p:spPr>
          <a:xfrm>
            <a:off x="4998124" y="2072364"/>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0" name="Rectangle: Rounded Corners 29">
            <a:extLst>
              <a:ext uri="{FF2B5EF4-FFF2-40B4-BE49-F238E27FC236}">
                <a16:creationId xmlns:a16="http://schemas.microsoft.com/office/drawing/2014/main" id="{D0B6847F-F616-4061-9BAE-BA0CAD85AA9C}"/>
              </a:ext>
            </a:extLst>
          </p:cNvPr>
          <p:cNvSpPr/>
          <p:nvPr/>
        </p:nvSpPr>
        <p:spPr>
          <a:xfrm>
            <a:off x="4998124" y="4429310"/>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F5C1898-EC3D-4566-A4A8-367C44B61536}"/>
              </a:ext>
            </a:extLst>
          </p:cNvPr>
          <p:cNvSpPr txBox="1"/>
          <p:nvPr/>
        </p:nvSpPr>
        <p:spPr>
          <a:xfrm>
            <a:off x="5225084" y="5118222"/>
            <a:ext cx="2623724"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Academic records are often stored in  fragmented, centralized databases that are difficult to access across borders.</a:t>
            </a:r>
            <a:endParaRPr lang="en" sz="1200" dirty="0">
              <a:solidFill>
                <a:schemeClr val="tx1">
                  <a:lumMod val="65000"/>
                  <a:lumOff val="35000"/>
                </a:schemeClr>
              </a:solidFill>
              <a:ea typeface="Inter" pitchFamily="34" charset="-122"/>
            </a:endParaRPr>
          </a:p>
        </p:txBody>
      </p:sp>
      <p:sp>
        <p:nvSpPr>
          <p:cNvPr id="14" name="TextBox 130"/>
          <p:cNvSpPr/>
          <p:nvPr/>
        </p:nvSpPr>
        <p:spPr>
          <a:xfrm>
            <a:off x="5691862" y="4831985"/>
            <a:ext cx="1438015"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Data Silos</a:t>
            </a:r>
            <a:endParaRPr lang="en" sz="1400" b="1" kern="0" dirty="0">
              <a:solidFill>
                <a:srgbClr val="0069B8"/>
              </a:solidFill>
              <a:ea typeface="Inter" pitchFamily="34" charset="-122"/>
            </a:endParaRPr>
          </a:p>
        </p:txBody>
      </p:sp>
      <p:sp>
        <p:nvSpPr>
          <p:cNvPr id="25" name="Rectangle: Rounded Corners 24">
            <a:extLst>
              <a:ext uri="{FF2B5EF4-FFF2-40B4-BE49-F238E27FC236}">
                <a16:creationId xmlns:a16="http://schemas.microsoft.com/office/drawing/2014/main" id="{0D6C6A12-4460-4F22-93EC-E526B46C7709}"/>
              </a:ext>
            </a:extLst>
          </p:cNvPr>
          <p:cNvSpPr/>
          <p:nvPr/>
        </p:nvSpPr>
        <p:spPr>
          <a:xfrm>
            <a:off x="8527578" y="2042203"/>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0"/>
          <p:cNvSpPr/>
          <p:nvPr/>
        </p:nvSpPr>
        <p:spPr>
          <a:xfrm>
            <a:off x="9169068" y="2532019"/>
            <a:ext cx="1946612" cy="279427"/>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Ineefficient Verification</a:t>
            </a:r>
            <a:endParaRPr lang="en" sz="1400" b="1" kern="0" dirty="0">
              <a:solidFill>
                <a:srgbClr val="0069B8"/>
              </a:solidFill>
              <a:ea typeface="Inter" pitchFamily="34" charset="-122"/>
            </a:endParaRPr>
          </a:p>
        </p:txBody>
      </p:sp>
      <p:sp>
        <p:nvSpPr>
          <p:cNvPr id="27" name="TextBox 26">
            <a:extLst>
              <a:ext uri="{FF2B5EF4-FFF2-40B4-BE49-F238E27FC236}">
                <a16:creationId xmlns:a16="http://schemas.microsoft.com/office/drawing/2014/main" id="{8A4DDE84-45FC-458C-ADC9-BF9315C6D4DC}"/>
              </a:ext>
            </a:extLst>
          </p:cNvPr>
          <p:cNvSpPr txBox="1"/>
          <p:nvPr/>
        </p:nvSpPr>
        <p:spPr>
          <a:xfrm>
            <a:off x="8788989" y="2811446"/>
            <a:ext cx="229159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Manual background checks can take weeks, delaying employment and academic admissions.</a:t>
            </a:r>
            <a:endParaRPr lang="en-IN" sz="1200" dirty="0">
              <a:solidFill>
                <a:schemeClr val="tx1">
                  <a:lumMod val="65000"/>
                  <a:lumOff val="35000"/>
                </a:schemeClr>
              </a:solidFill>
              <a:ea typeface="Inter" pitchFamily="34" charset="-122"/>
            </a:endParaRPr>
          </a:p>
        </p:txBody>
      </p:sp>
      <p:sp>
        <p:nvSpPr>
          <p:cNvPr id="31" name="Rectangle: Rounded Corners 30">
            <a:extLst>
              <a:ext uri="{FF2B5EF4-FFF2-40B4-BE49-F238E27FC236}">
                <a16:creationId xmlns:a16="http://schemas.microsoft.com/office/drawing/2014/main" id="{AD7E62E4-44D2-4DC1-A056-A80A97FE9548}"/>
              </a:ext>
            </a:extLst>
          </p:cNvPr>
          <p:cNvSpPr/>
          <p:nvPr/>
        </p:nvSpPr>
        <p:spPr>
          <a:xfrm>
            <a:off x="8527578" y="4428576"/>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2" name="Group 31">
            <a:extLst>
              <a:ext uri="{FF2B5EF4-FFF2-40B4-BE49-F238E27FC236}">
                <a16:creationId xmlns:a16="http://schemas.microsoft.com/office/drawing/2014/main" id="{55A1497F-3548-41EE-BB52-8336D8124BA0}"/>
              </a:ext>
            </a:extLst>
          </p:cNvPr>
          <p:cNvGrpSpPr/>
          <p:nvPr/>
        </p:nvGrpSpPr>
        <p:grpSpPr>
          <a:xfrm>
            <a:off x="8817644" y="4793045"/>
            <a:ext cx="2519477" cy="1053652"/>
            <a:chOff x="8681923" y="4401328"/>
            <a:chExt cx="2519477" cy="1053652"/>
          </a:xfrm>
        </p:grpSpPr>
        <p:sp>
          <p:nvSpPr>
            <p:cNvPr id="16" name="TextBox 150"/>
            <p:cNvSpPr/>
            <p:nvPr/>
          </p:nvSpPr>
          <p:spPr>
            <a:xfrm>
              <a:off x="9033347" y="4401328"/>
              <a:ext cx="1600415"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High Admin Costs</a:t>
              </a:r>
              <a:endParaRPr lang="en" sz="1400" b="1" kern="0" dirty="0">
                <a:solidFill>
                  <a:srgbClr val="0069B8"/>
                </a:solidFill>
                <a:ea typeface="Inter" pitchFamily="34" charset="-122"/>
              </a:endParaRPr>
            </a:p>
          </p:txBody>
        </p:sp>
        <p:sp>
          <p:nvSpPr>
            <p:cNvPr id="17" name="TextBox 153"/>
            <p:cNvSpPr/>
            <p:nvPr/>
          </p:nvSpPr>
          <p:spPr>
            <a:xfrm>
              <a:off x="8681923" y="4757738"/>
              <a:ext cx="251947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Institutions spend significant resources responding to verification requests via traditional mail or email.</a:t>
              </a:r>
              <a:endParaRPr lang="en" sz="1200" dirty="0">
                <a:solidFill>
                  <a:schemeClr val="tx1">
                    <a:lumMod val="65000"/>
                    <a:lumOff val="35000"/>
                  </a:schemeClr>
                </a:solidFill>
                <a:ea typeface="Inter" pitchFamily="34" charset="-122"/>
              </a:endParaRPr>
            </a:p>
          </p:txBody>
        </p:sp>
      </p:grpSp>
      <p:grpSp>
        <p:nvGrpSpPr>
          <p:cNvPr id="37" name="Group 36">
            <a:extLst>
              <a:ext uri="{FF2B5EF4-FFF2-40B4-BE49-F238E27FC236}">
                <a16:creationId xmlns:a16="http://schemas.microsoft.com/office/drawing/2014/main" id="{C1A6B724-E89F-4202-951D-37140C83C72C}"/>
              </a:ext>
            </a:extLst>
          </p:cNvPr>
          <p:cNvGrpSpPr/>
          <p:nvPr/>
        </p:nvGrpSpPr>
        <p:grpSpPr>
          <a:xfrm>
            <a:off x="513052" y="4736983"/>
            <a:ext cx="4381501" cy="936125"/>
            <a:chOff x="493105" y="4882094"/>
            <a:chExt cx="3888394" cy="936125"/>
          </a:xfrm>
        </p:grpSpPr>
        <p:sp>
          <p:nvSpPr>
            <p:cNvPr id="7" name="TextBox 56"/>
            <p:cNvSpPr/>
            <p:nvPr/>
          </p:nvSpPr>
          <p:spPr>
            <a:xfrm>
              <a:off x="571499" y="4882094"/>
              <a:ext cx="3810000" cy="310900"/>
            </a:xfrm>
            <a:prstGeom prst="rect">
              <a:avLst/>
            </a:prstGeom>
            <a:noFill/>
            <a:ln/>
          </p:spPr>
          <p:txBody>
            <a:bodyPr wrap="none" lIns="0" tIns="0" rIns="0" bIns="0" rtlCol="0" anchor="t">
              <a:noAutofit/>
            </a:bodyPr>
            <a:lstStyle/>
            <a:p>
              <a:pPr marL="0" indent="0" algn="l">
                <a:lnSpc>
                  <a:spcPct val="100000"/>
                </a:lnSpc>
                <a:buNone/>
              </a:pPr>
              <a:r>
                <a:rPr lang="en" altLang="en-US" sz="1400" b="1" kern="0" spc="83" dirty="0">
                  <a:solidFill>
                    <a:srgbClr val="0052FF"/>
                  </a:solidFill>
                  <a:latin typeface="JetBrains Mono" pitchFamily="34" charset="0"/>
                  <a:ea typeface="JetBrains Mono" pitchFamily="34" charset="-122"/>
                  <a:cs typeface="JetBrains Mono" pitchFamily="34" charset="-120"/>
                </a:rPr>
                <a:t>CORE INSIGHT</a:t>
              </a:r>
              <a:endParaRPr lang="en" sz="1400" dirty="0"/>
            </a:p>
          </p:txBody>
        </p:sp>
        <p:sp>
          <p:nvSpPr>
            <p:cNvPr id="34" name="TextBox 33">
              <a:extLst>
                <a:ext uri="{FF2B5EF4-FFF2-40B4-BE49-F238E27FC236}">
                  <a16:creationId xmlns:a16="http://schemas.microsoft.com/office/drawing/2014/main" id="{4EF92911-445C-46FC-BFE6-4A6B3DDD192B}"/>
                </a:ext>
              </a:extLst>
            </p:cNvPr>
            <p:cNvSpPr txBox="1"/>
            <p:nvPr/>
          </p:nvSpPr>
          <p:spPr>
            <a:xfrm>
              <a:off x="493105" y="5112961"/>
              <a:ext cx="3667489" cy="705258"/>
            </a:xfrm>
            <a:prstGeom prst="rect">
              <a:avLst/>
            </a:prstGeom>
            <a:noFill/>
          </p:spPr>
          <p:txBody>
            <a:bodyPr wrap="square">
              <a:spAutoFit/>
            </a:bodyPr>
            <a:lstStyle/>
            <a:p>
              <a:pPr marL="0" indent="0">
                <a:lnSpc>
                  <a:spcPct val="150000"/>
                </a:lnSpc>
                <a:buNone/>
              </a:pPr>
              <a:r>
                <a:rPr lang="en" altLang="en-US" sz="1400" kern="0" spc="-39" dirty="0">
                  <a:solidFill>
                    <a:srgbClr val="1E293B"/>
                  </a:solidFill>
                  <a:latin typeface="+mj-lt"/>
                  <a:ea typeface="Inter" pitchFamily="34" charset="-122"/>
                  <a:cs typeface="Inter" pitchFamily="34" charset="-120"/>
                </a:rPr>
                <a:t>Manual verification processes are slow, expensive, and vulnerable to</a:t>
              </a:r>
              <a:r>
                <a:rPr lang="en" altLang="en-US" sz="1400" dirty="0">
                  <a:latin typeface="+mj-lt"/>
                </a:rPr>
                <a:t> </a:t>
              </a:r>
              <a:r>
                <a:rPr lang="en" altLang="en-US" sz="1400" kern="0" spc="-39" dirty="0">
                  <a:solidFill>
                    <a:srgbClr val="1E293B"/>
                  </a:solidFill>
                  <a:latin typeface="+mj-lt"/>
                  <a:ea typeface="Inter" pitchFamily="34" charset="-122"/>
                  <a:cs typeface="Inter" pitchFamily="34" charset="-120"/>
                </a:rPr>
                <a:t>sophisticated document forgery.</a:t>
              </a:r>
              <a:endParaRPr lang="en" sz="1400" dirty="0">
                <a:latin typeface="+mj-lt"/>
              </a:endParaRPr>
            </a:p>
          </p:txBody>
        </p:sp>
      </p:grpSp>
      <p:pic>
        <p:nvPicPr>
          <p:cNvPr id="6" name="Picture 5">
            <a:extLst>
              <a:ext uri="{FF2B5EF4-FFF2-40B4-BE49-F238E27FC236}">
                <a16:creationId xmlns:a16="http://schemas.microsoft.com/office/drawing/2014/main" id="{3CB0722A-B61C-4734-8ECB-6149459365C8}"/>
              </a:ext>
            </a:extLst>
          </p:cNvPr>
          <p:cNvPicPr>
            <a:picLocks noChangeAspect="1"/>
          </p:cNvPicPr>
          <p:nvPr/>
        </p:nvPicPr>
        <p:blipFill>
          <a:blip r:embed="rId4"/>
          <a:stretch>
            <a:fillRect/>
          </a:stretch>
        </p:blipFill>
        <p:spPr>
          <a:xfrm>
            <a:off x="601388" y="2072364"/>
            <a:ext cx="3894257" cy="1394478"/>
          </a:xfrm>
          <a:prstGeom prst="rect">
            <a:avLst/>
          </a:prstGeom>
        </p:spPr>
      </p:pic>
      <p:sp>
        <p:nvSpPr>
          <p:cNvPr id="24" name="TextBox 26">
            <a:extLst>
              <a:ext uri="{FF2B5EF4-FFF2-40B4-BE49-F238E27FC236}">
                <a16:creationId xmlns:a16="http://schemas.microsoft.com/office/drawing/2014/main" id="{72CCB9B4-DA0C-49F2-9ED0-101A0BCA4F42}"/>
              </a:ext>
            </a:extLst>
          </p:cNvPr>
          <p:cNvSpPr/>
          <p:nvPr/>
        </p:nvSpPr>
        <p:spPr>
          <a:xfrm>
            <a:off x="601388" y="795785"/>
            <a:ext cx="4176346" cy="452438"/>
          </a:xfrm>
          <a:prstGeom prst="rect">
            <a:avLst/>
          </a:prstGeom>
          <a:noFill/>
          <a:ln/>
        </p:spPr>
        <p:txBody>
          <a:bodyPr wrap="none" lIns="0" tIns="0" rIns="0" bIns="0" rtlCol="0" anchor="t">
            <a:noAutofit/>
          </a:bodyPr>
          <a:lstStyle/>
          <a:p>
            <a:pPr marL="0" indent="0" algn="l">
              <a:lnSpc>
                <a:spcPct val="100000"/>
              </a:lnSpc>
              <a:buNone/>
            </a:pPr>
            <a:r>
              <a:rPr lang="en-IN" altLang="en-US" sz="3600" kern="0" dirty="0">
                <a:ln w="0"/>
                <a:effectLst>
                  <a:outerShdw blurRad="38100" dist="19050" dir="2700000" algn="tl" rotWithShape="0">
                    <a:schemeClr val="dk1">
                      <a:alpha val="40000"/>
                    </a:schemeClr>
                  </a:outerShdw>
                </a:effectLst>
                <a:latin typeface="+mj-lt"/>
                <a:ea typeface="Inter" pitchFamily="34" charset="-122"/>
                <a:cs typeface="Inter" pitchFamily="34" charset="-120"/>
              </a:rPr>
              <a:t>Problem Statement</a:t>
            </a:r>
            <a:endParaRPr lang="en" sz="3600" dirty="0">
              <a:ln w="0"/>
              <a:effectLst>
                <a:outerShdw blurRad="38100" dist="19050" dir="2700000" algn="tl" rotWithShape="0">
                  <a:schemeClr val="dk1">
                    <a:alpha val="40000"/>
                  </a:schemeClr>
                </a:outerShdw>
              </a:effectLst>
              <a:latin typeface="+mj-lt"/>
            </a:endParaRPr>
          </a:p>
        </p:txBody>
      </p:sp>
      <p:sp>
        <p:nvSpPr>
          <p:cNvPr id="5" name="TextBox 43"/>
          <p:cNvSpPr/>
          <p:nvPr/>
        </p:nvSpPr>
        <p:spPr>
          <a:xfrm>
            <a:off x="796861" y="2208607"/>
            <a:ext cx="3608711" cy="314325"/>
          </a:xfrm>
          <a:prstGeom prst="rect">
            <a:avLst/>
          </a:prstGeom>
          <a:noFill/>
          <a:ln/>
        </p:spPr>
        <p:txBody>
          <a:bodyPr wrap="none" lIns="0" tIns="0" rIns="0" bIns="0" rtlCol="0" anchor="t">
            <a:normAutofit/>
          </a:bodyPr>
          <a:lstStyle/>
          <a:p>
            <a:pPr marL="0" indent="0" algn="l">
              <a:lnSpc>
                <a:spcPct val="100000"/>
              </a:lnSpc>
              <a:buNone/>
            </a:pPr>
            <a:r>
              <a:rPr lang="en" altLang="en-US" sz="1400" b="1" kern="0" spc="150" dirty="0">
                <a:solidFill>
                  <a:srgbClr val="0F172A"/>
                </a:solidFill>
                <a:latin typeface="Inter" pitchFamily="34" charset="0"/>
                <a:ea typeface="Inter" pitchFamily="34" charset="-122"/>
                <a:cs typeface="Inter" pitchFamily="34" charset="-120"/>
              </a:rPr>
              <a:t>Systemic Failures</a:t>
            </a:r>
            <a:endParaRPr lang="en" sz="1400" spc="150" dirty="0"/>
          </a:p>
        </p:txBody>
      </p:sp>
      <p:sp>
        <p:nvSpPr>
          <p:cNvPr id="36" name="TextBox 35">
            <a:extLst>
              <a:ext uri="{FF2B5EF4-FFF2-40B4-BE49-F238E27FC236}">
                <a16:creationId xmlns:a16="http://schemas.microsoft.com/office/drawing/2014/main" id="{F32B9CCF-EF81-4544-A541-2F34C7C61187}"/>
              </a:ext>
            </a:extLst>
          </p:cNvPr>
          <p:cNvSpPr txBox="1"/>
          <p:nvPr/>
        </p:nvSpPr>
        <p:spPr>
          <a:xfrm>
            <a:off x="695396" y="2481203"/>
            <a:ext cx="3483216" cy="894732"/>
          </a:xfrm>
          <a:prstGeom prst="rect">
            <a:avLst/>
          </a:prstGeom>
          <a:noFill/>
        </p:spPr>
        <p:txBody>
          <a:bodyPr wrap="square">
            <a:spAutoFit/>
          </a:bodyPr>
          <a:lstStyle/>
          <a:p>
            <a:pPr marL="0" indent="0" algn="l">
              <a:lnSpc>
                <a:spcPct val="150000"/>
              </a:lnSpc>
              <a:buNone/>
            </a:pPr>
            <a:r>
              <a:rPr lang="en" altLang="en-US" sz="1200" dirty="0">
                <a:solidFill>
                  <a:srgbClr val="64748B"/>
                </a:solidFill>
                <a:latin typeface="+mj-lt"/>
                <a:ea typeface="Inter" pitchFamily="34" charset="-122"/>
                <a:cs typeface="Inter" pitchFamily="34" charset="-120"/>
              </a:rPr>
              <a:t>An analysis of the systemic failures in traditional academic record-keeping and the risks they pose to institutions andemployers.</a:t>
            </a:r>
            <a:endParaRPr lang="en" sz="1200" dirty="0">
              <a:latin typeface="+mj-lt"/>
            </a:endParaRPr>
          </a:p>
        </p:txBody>
      </p:sp>
      <p:sp>
        <p:nvSpPr>
          <p:cNvPr id="28" name="Rectangle: Rounded Corners 27">
            <a:extLst>
              <a:ext uri="{FF2B5EF4-FFF2-40B4-BE49-F238E27FC236}">
                <a16:creationId xmlns:a16="http://schemas.microsoft.com/office/drawing/2014/main" id="{A1FCFFA6-B103-4E42-AFA0-B1AE7DA1293E}"/>
              </a:ext>
            </a:extLst>
          </p:cNvPr>
          <p:cNvSpPr/>
          <p:nvPr/>
        </p:nvSpPr>
        <p:spPr>
          <a:xfrm>
            <a:off x="4998124" y="7108824"/>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33" name="Group 32">
            <a:extLst>
              <a:ext uri="{FF2B5EF4-FFF2-40B4-BE49-F238E27FC236}">
                <a16:creationId xmlns:a16="http://schemas.microsoft.com/office/drawing/2014/main" id="{2969890D-EDEB-4D02-BF79-8D7EF73C5193}"/>
              </a:ext>
            </a:extLst>
          </p:cNvPr>
          <p:cNvGrpSpPr/>
          <p:nvPr/>
        </p:nvGrpSpPr>
        <p:grpSpPr>
          <a:xfrm>
            <a:off x="5225084" y="7427969"/>
            <a:ext cx="2865962" cy="1234643"/>
            <a:chOff x="5572125" y="2304682"/>
            <a:chExt cx="2603829" cy="916843"/>
          </a:xfrm>
        </p:grpSpPr>
        <p:sp>
          <p:nvSpPr>
            <p:cNvPr id="35" name="TextBox 90">
              <a:extLst>
                <a:ext uri="{FF2B5EF4-FFF2-40B4-BE49-F238E27FC236}">
                  <a16:creationId xmlns:a16="http://schemas.microsoft.com/office/drawing/2014/main" id="{E52C08F2-AC17-402D-A31D-73C99C4CB1EE}"/>
                </a:ext>
              </a:extLst>
            </p:cNvPr>
            <p:cNvSpPr/>
            <p:nvPr/>
          </p:nvSpPr>
          <p:spPr>
            <a:xfrm>
              <a:off x="5666321" y="2304682"/>
              <a:ext cx="2415435" cy="228600"/>
            </a:xfrm>
            <a:prstGeom prst="rect">
              <a:avLst/>
            </a:prstGeom>
            <a:noFill/>
            <a:ln/>
          </p:spPr>
          <p:txBody>
            <a:bodyPr wrap="none" lIns="0" tIns="0" rIns="0" bIns="0" rtlCol="0" anchor="t">
              <a:normAutofit/>
            </a:bodyPr>
            <a:lstStyle/>
            <a:p>
              <a:pPr marL="0" indent="0">
                <a:lnSpc>
                  <a:spcPct val="100000"/>
                </a:lnSpc>
                <a:buNone/>
              </a:pPr>
              <a:r>
                <a:rPr lang="en-IN" altLang="en-US" sz="1400" b="1" kern="0" dirty="0">
                  <a:solidFill>
                    <a:srgbClr val="0069B8"/>
                  </a:solidFill>
                  <a:ea typeface="Inter" pitchFamily="34" charset="-122"/>
                  <a:cs typeface="Inter" pitchFamily="34" charset="-120"/>
                </a:rPr>
                <a:t>Admin Domain</a:t>
              </a:r>
              <a:endParaRPr lang="en" sz="1400" dirty="0">
                <a:solidFill>
                  <a:srgbClr val="0069B8"/>
                </a:solidFill>
              </a:endParaRPr>
            </a:p>
          </p:txBody>
        </p:sp>
        <p:sp>
          <p:nvSpPr>
            <p:cNvPr id="38" name="TextBox 37">
              <a:extLst>
                <a:ext uri="{FF2B5EF4-FFF2-40B4-BE49-F238E27FC236}">
                  <a16:creationId xmlns:a16="http://schemas.microsoft.com/office/drawing/2014/main" id="{06F2F6C2-8963-4AE7-A76E-FEFA93DF2A6F}"/>
                </a:ext>
              </a:extLst>
            </p:cNvPr>
            <p:cNvSpPr txBox="1"/>
            <p:nvPr/>
          </p:nvSpPr>
          <p:spPr>
            <a:xfrm>
              <a:off x="5572125" y="2551385"/>
              <a:ext cx="2603829" cy="670140"/>
            </a:xfrm>
            <a:prstGeom prst="rect">
              <a:avLst/>
            </a:prstGeom>
            <a:noFill/>
          </p:spPr>
          <p:txBody>
            <a:bodyPr wrap="square">
              <a:spAutoFit/>
            </a:bodyPr>
            <a:lstStyle/>
            <a:p>
              <a:pPr marL="0" indent="0">
                <a:lnSpc>
                  <a:spcPts val="1584"/>
                </a:lnSpc>
                <a:buNone/>
              </a:pPr>
              <a:r>
                <a:rPr lang="en-US" altLang="en-US" sz="1200" dirty="0">
                  <a:solidFill>
                    <a:schemeClr val="tx1">
                      <a:lumMod val="65000"/>
                      <a:lumOff val="35000"/>
                    </a:schemeClr>
                  </a:solidFill>
                  <a:ea typeface="Inter" pitchFamily="34" charset="-122"/>
                  <a:cs typeface="Inter" pitchFamily="34" charset="-120"/>
                </a:rPr>
                <a:t>— Manages courses, batches, student enrollment, examinations, results, ID-card requests, approvals, and certificate issuance.</a:t>
              </a:r>
              <a:endParaRPr lang="en" sz="1200" dirty="0">
                <a:solidFill>
                  <a:schemeClr val="tx1">
                    <a:lumMod val="65000"/>
                    <a:lumOff val="35000"/>
                  </a:schemeClr>
                </a:solidFill>
              </a:endParaRPr>
            </a:p>
          </p:txBody>
        </p:sp>
      </p:grpSp>
      <p:sp>
        <p:nvSpPr>
          <p:cNvPr id="39" name="Rectangle: Rounded Corners 38">
            <a:extLst>
              <a:ext uri="{FF2B5EF4-FFF2-40B4-BE49-F238E27FC236}">
                <a16:creationId xmlns:a16="http://schemas.microsoft.com/office/drawing/2014/main" id="{AA56503F-52A5-4B6E-978A-FE174CB5D74B}"/>
              </a:ext>
            </a:extLst>
          </p:cNvPr>
          <p:cNvSpPr/>
          <p:nvPr/>
        </p:nvSpPr>
        <p:spPr>
          <a:xfrm>
            <a:off x="4998124" y="9465770"/>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3C946438-329D-47EB-89A7-216C9D6FA043}"/>
              </a:ext>
            </a:extLst>
          </p:cNvPr>
          <p:cNvSpPr txBox="1"/>
          <p:nvPr/>
        </p:nvSpPr>
        <p:spPr>
          <a:xfrm>
            <a:off x="5174151" y="10235693"/>
            <a:ext cx="2972683" cy="902427"/>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rPr>
              <a:t>— acts as an immutable ledger where hashes and transaction information associated with academic credentials are recorded.</a:t>
            </a:r>
            <a:endParaRPr lang="en" sz="1200" dirty="0">
              <a:solidFill>
                <a:schemeClr val="tx1">
                  <a:lumMod val="65000"/>
                  <a:lumOff val="35000"/>
                </a:schemeClr>
              </a:solidFill>
              <a:ea typeface="Inter" pitchFamily="34" charset="-122"/>
            </a:endParaRPr>
          </a:p>
        </p:txBody>
      </p:sp>
      <p:sp>
        <p:nvSpPr>
          <p:cNvPr id="41" name="TextBox 130">
            <a:extLst>
              <a:ext uri="{FF2B5EF4-FFF2-40B4-BE49-F238E27FC236}">
                <a16:creationId xmlns:a16="http://schemas.microsoft.com/office/drawing/2014/main" id="{48F091F8-8C51-4561-9EEC-E9E6D3FE085D}"/>
              </a:ext>
            </a:extLst>
          </p:cNvPr>
          <p:cNvSpPr/>
          <p:nvPr/>
        </p:nvSpPr>
        <p:spPr>
          <a:xfrm>
            <a:off x="5331085" y="9792118"/>
            <a:ext cx="1763023" cy="228600"/>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Blockchain Domain </a:t>
            </a:r>
          </a:p>
        </p:txBody>
      </p:sp>
      <p:sp>
        <p:nvSpPr>
          <p:cNvPr id="42" name="Rectangle: Rounded Corners 41">
            <a:extLst>
              <a:ext uri="{FF2B5EF4-FFF2-40B4-BE49-F238E27FC236}">
                <a16:creationId xmlns:a16="http://schemas.microsoft.com/office/drawing/2014/main" id="{E356FAA9-9A5A-489F-BF94-9BFC81872DDB}"/>
              </a:ext>
            </a:extLst>
          </p:cNvPr>
          <p:cNvSpPr/>
          <p:nvPr/>
        </p:nvSpPr>
        <p:spPr>
          <a:xfrm>
            <a:off x="12802190" y="2042203"/>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110">
            <a:extLst>
              <a:ext uri="{FF2B5EF4-FFF2-40B4-BE49-F238E27FC236}">
                <a16:creationId xmlns:a16="http://schemas.microsoft.com/office/drawing/2014/main" id="{4F3E3B1C-8704-4CB5-9165-8DD6AC2BFF96}"/>
              </a:ext>
            </a:extLst>
          </p:cNvPr>
          <p:cNvSpPr/>
          <p:nvPr/>
        </p:nvSpPr>
        <p:spPr>
          <a:xfrm>
            <a:off x="13122576" y="2382718"/>
            <a:ext cx="2291597" cy="279427"/>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Candidate Domain </a:t>
            </a:r>
          </a:p>
        </p:txBody>
      </p:sp>
      <p:sp>
        <p:nvSpPr>
          <p:cNvPr id="44" name="TextBox 43">
            <a:extLst>
              <a:ext uri="{FF2B5EF4-FFF2-40B4-BE49-F238E27FC236}">
                <a16:creationId xmlns:a16="http://schemas.microsoft.com/office/drawing/2014/main" id="{A4893562-7689-43D4-81F4-02BFC732D9D9}"/>
              </a:ext>
            </a:extLst>
          </p:cNvPr>
          <p:cNvSpPr txBox="1"/>
          <p:nvPr/>
        </p:nvSpPr>
        <p:spPr>
          <a:xfrm>
            <a:off x="12875083" y="2731589"/>
            <a:ext cx="3020030" cy="697242"/>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cs typeface="Inter" pitchFamily="34" charset="-120"/>
              </a:rPr>
              <a:t>— A</a:t>
            </a:r>
            <a:r>
              <a:rPr lang="en-US" altLang="en-US" sz="1200" dirty="0">
                <a:solidFill>
                  <a:schemeClr val="tx1">
                    <a:lumMod val="65000"/>
                    <a:lumOff val="35000"/>
                  </a:schemeClr>
                </a:solidFill>
                <a:ea typeface="Inter" pitchFamily="34" charset="-122"/>
              </a:rPr>
              <a:t>llows students to view courses, examinations and results, request Web3 ID cards, and access verified certificates.</a:t>
            </a:r>
            <a:endParaRPr lang="en-IN" sz="1200" dirty="0">
              <a:solidFill>
                <a:schemeClr val="tx1">
                  <a:lumMod val="65000"/>
                  <a:lumOff val="35000"/>
                </a:schemeClr>
              </a:solidFill>
              <a:ea typeface="Inter" pitchFamily="34" charset="-122"/>
            </a:endParaRPr>
          </a:p>
        </p:txBody>
      </p:sp>
      <p:sp>
        <p:nvSpPr>
          <p:cNvPr id="45" name="Rectangle: Rounded Corners 44">
            <a:extLst>
              <a:ext uri="{FF2B5EF4-FFF2-40B4-BE49-F238E27FC236}">
                <a16:creationId xmlns:a16="http://schemas.microsoft.com/office/drawing/2014/main" id="{D5A1040E-0CDE-4FBD-A721-D65C527BEA3F}"/>
              </a:ext>
            </a:extLst>
          </p:cNvPr>
          <p:cNvSpPr/>
          <p:nvPr/>
        </p:nvSpPr>
        <p:spPr>
          <a:xfrm>
            <a:off x="12802190" y="4428576"/>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6" name="Group 45">
            <a:extLst>
              <a:ext uri="{FF2B5EF4-FFF2-40B4-BE49-F238E27FC236}">
                <a16:creationId xmlns:a16="http://schemas.microsoft.com/office/drawing/2014/main" id="{BB1BD408-8198-47AF-97C9-42BE2B695010}"/>
              </a:ext>
            </a:extLst>
          </p:cNvPr>
          <p:cNvGrpSpPr/>
          <p:nvPr/>
        </p:nvGrpSpPr>
        <p:grpSpPr>
          <a:xfrm>
            <a:off x="12875082" y="4793412"/>
            <a:ext cx="3078478" cy="1308247"/>
            <a:chOff x="8655188" y="4403733"/>
            <a:chExt cx="2546213" cy="1141211"/>
          </a:xfrm>
        </p:grpSpPr>
        <p:sp>
          <p:nvSpPr>
            <p:cNvPr id="47" name="TextBox 150">
              <a:extLst>
                <a:ext uri="{FF2B5EF4-FFF2-40B4-BE49-F238E27FC236}">
                  <a16:creationId xmlns:a16="http://schemas.microsoft.com/office/drawing/2014/main" id="{32844A4B-9AB5-4E2A-9E63-7D54837569C5}"/>
                </a:ext>
              </a:extLst>
            </p:cNvPr>
            <p:cNvSpPr/>
            <p:nvPr/>
          </p:nvSpPr>
          <p:spPr>
            <a:xfrm>
              <a:off x="8885343" y="4403733"/>
              <a:ext cx="1933407" cy="228600"/>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Decentralized Trust</a:t>
              </a:r>
              <a:endParaRPr lang="en" sz="1400" b="1" kern="0" dirty="0">
                <a:solidFill>
                  <a:srgbClr val="0069B8"/>
                </a:solidFill>
                <a:ea typeface="Inter" pitchFamily="34" charset="-122"/>
              </a:endParaRPr>
            </a:p>
          </p:txBody>
        </p:sp>
        <p:sp>
          <p:nvSpPr>
            <p:cNvPr id="48" name="TextBox 153">
              <a:extLst>
                <a:ext uri="{FF2B5EF4-FFF2-40B4-BE49-F238E27FC236}">
                  <a16:creationId xmlns:a16="http://schemas.microsoft.com/office/drawing/2014/main" id="{E53683DC-B0C9-43C4-A2E9-056662B74946}"/>
                </a:ext>
              </a:extLst>
            </p:cNvPr>
            <p:cNvSpPr/>
            <p:nvPr/>
          </p:nvSpPr>
          <p:spPr>
            <a:xfrm>
              <a:off x="8655188" y="4757738"/>
              <a:ext cx="2546213" cy="787206"/>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rPr>
                <a:t>—  Secures academic credentials, semester results, &amp; student identity on an immutable ledger, preventing unauthorized modifications.</a:t>
              </a:r>
              <a:endParaRPr lang="en" sz="1200" dirty="0">
                <a:solidFill>
                  <a:schemeClr val="tx1">
                    <a:lumMod val="65000"/>
                    <a:lumOff val="35000"/>
                  </a:schemeClr>
                </a:solidFill>
                <a:ea typeface="Inter" pitchFamily="34" charset="-122"/>
              </a:endParaRPr>
            </a:p>
          </p:txBody>
        </p:sp>
      </p:grpSp>
      <p:grpSp>
        <p:nvGrpSpPr>
          <p:cNvPr id="2" name="Group 1">
            <a:extLst>
              <a:ext uri="{FF2B5EF4-FFF2-40B4-BE49-F238E27FC236}">
                <a16:creationId xmlns:a16="http://schemas.microsoft.com/office/drawing/2014/main" id="{1642BF4B-0E07-4A78-888E-A78E861F62FB}"/>
              </a:ext>
            </a:extLst>
          </p:cNvPr>
          <p:cNvGrpSpPr/>
          <p:nvPr/>
        </p:nvGrpSpPr>
        <p:grpSpPr>
          <a:xfrm>
            <a:off x="5225084" y="2598239"/>
            <a:ext cx="2722205" cy="977779"/>
            <a:chOff x="5225084" y="2598239"/>
            <a:chExt cx="2722205" cy="977779"/>
          </a:xfrm>
        </p:grpSpPr>
        <p:sp>
          <p:nvSpPr>
            <p:cNvPr id="10" name="TextBox 90"/>
            <p:cNvSpPr/>
            <p:nvPr/>
          </p:nvSpPr>
          <p:spPr>
            <a:xfrm>
              <a:off x="5691862" y="2632073"/>
              <a:ext cx="2022326" cy="228600"/>
            </a:xfrm>
            <a:prstGeom prst="rect">
              <a:avLst/>
            </a:prstGeom>
            <a:noFill/>
            <a:ln/>
          </p:spPr>
          <p:txBody>
            <a:bodyPr wrap="none" lIns="0" tIns="0" rIns="0" bIns="0" rtlCol="0" anchor="t">
              <a:normAutofit/>
            </a:bodyPr>
            <a:lstStyle/>
            <a:p>
              <a:pPr marL="0" indent="0">
                <a:lnSpc>
                  <a:spcPct val="100000"/>
                </a:lnSpc>
                <a:buNone/>
              </a:pPr>
              <a:r>
                <a:rPr lang="en" altLang="en-US" sz="1400" b="1" kern="0" dirty="0">
                  <a:solidFill>
                    <a:srgbClr val="0069B8"/>
                  </a:solidFill>
                  <a:ea typeface="Inter" pitchFamily="34" charset="-122"/>
                  <a:cs typeface="Inter" pitchFamily="34" charset="-120"/>
                </a:rPr>
                <a:t>Document Forgery</a:t>
              </a:r>
              <a:endParaRPr lang="en" sz="1400" dirty="0">
                <a:solidFill>
                  <a:srgbClr val="0069B8"/>
                </a:solidFill>
              </a:endParaRPr>
            </a:p>
          </p:txBody>
        </p:sp>
        <p:sp>
          <p:nvSpPr>
            <p:cNvPr id="20" name="TextBox 19">
              <a:extLst>
                <a:ext uri="{FF2B5EF4-FFF2-40B4-BE49-F238E27FC236}">
                  <a16:creationId xmlns:a16="http://schemas.microsoft.com/office/drawing/2014/main" id="{084E9463-FB3A-43A2-9BD0-869C6090C4C1}"/>
                </a:ext>
              </a:extLst>
            </p:cNvPr>
            <p:cNvSpPr txBox="1"/>
            <p:nvPr/>
          </p:nvSpPr>
          <p:spPr>
            <a:xfrm>
              <a:off x="5225084" y="2878776"/>
              <a:ext cx="2722205" cy="697242"/>
            </a:xfrm>
            <a:prstGeom prst="rect">
              <a:avLst/>
            </a:prstGeom>
            <a:noFill/>
          </p:spPr>
          <p:txBody>
            <a:bodyPr wrap="square">
              <a:spAutoFit/>
            </a:bodyPr>
            <a:lstStyle/>
            <a:p>
              <a:pPr marL="0" indent="0">
                <a:lnSpc>
                  <a:spcPts val="1584"/>
                </a:lnSpc>
                <a:buNone/>
              </a:pPr>
              <a:r>
                <a:rPr lang="en" altLang="en-US" sz="1200" dirty="0">
                  <a:solidFill>
                    <a:schemeClr val="tx1">
                      <a:lumMod val="65000"/>
                      <a:lumOff val="35000"/>
                    </a:schemeClr>
                  </a:solidFill>
                  <a:ea typeface="Inter" pitchFamily="34" charset="-122"/>
                  <a:cs typeface="Inter" pitchFamily="34" charset="-120"/>
                </a:rPr>
                <a:t>Increasing prevalence of fake degrees and</a:t>
              </a:r>
              <a:r>
                <a:rPr lang="en" altLang="en-US" sz="1200" dirty="0">
                  <a:solidFill>
                    <a:schemeClr val="tx1">
                      <a:lumMod val="65000"/>
                      <a:lumOff val="35000"/>
                    </a:schemeClr>
                  </a:solidFill>
                </a:rPr>
                <a:t> </a:t>
              </a:r>
              <a:r>
                <a:rPr lang="en" altLang="en-US" sz="1200" dirty="0">
                  <a:solidFill>
                    <a:schemeClr val="tx1">
                      <a:lumMod val="65000"/>
                      <a:lumOff val="35000"/>
                    </a:schemeClr>
                  </a:solidFill>
                  <a:ea typeface="Inter" pitchFamily="34" charset="-122"/>
                  <a:cs typeface="Inter" pitchFamily="34" charset="-120"/>
                </a:rPr>
                <a:t>certificates undermines the value oflegitimate education.</a:t>
              </a:r>
              <a:endParaRPr lang="en" sz="1200" dirty="0">
                <a:solidFill>
                  <a:schemeClr val="tx1">
                    <a:lumMod val="65000"/>
                    <a:lumOff val="35000"/>
                  </a:schemeClr>
                </a:solidFill>
              </a:endParaRPr>
            </a:p>
          </p:txBody>
        </p:sp>
        <p:pic>
          <p:nvPicPr>
            <p:cNvPr id="49" name="Picture 48" descr="image.png">
              <a:extLst>
                <a:ext uri="{FF2B5EF4-FFF2-40B4-BE49-F238E27FC236}">
                  <a16:creationId xmlns:a16="http://schemas.microsoft.com/office/drawing/2014/main" id="{A9FB1213-BA68-485E-9252-355FE5AAD5F4}"/>
                </a:ext>
              </a:extLst>
            </p:cNvPr>
            <p:cNvPicPr>
              <a:picLocks noChangeAspect="1"/>
            </p:cNvPicPr>
            <p:nvPr/>
          </p:nvPicPr>
          <p:blipFill>
            <a:blip r:embed="rId5"/>
            <a:stretch>
              <a:fillRect/>
            </a:stretch>
          </p:blipFill>
          <p:spPr>
            <a:xfrm>
              <a:off x="5328763" y="2598239"/>
              <a:ext cx="256159" cy="256159"/>
            </a:xfrm>
            <a:prstGeom prst="rect">
              <a:avLst/>
            </a:prstGeom>
          </p:spPr>
        </p:pic>
      </p:grpSp>
      <p:pic>
        <p:nvPicPr>
          <p:cNvPr id="50" name="Picture 49" descr="image.png">
            <a:extLst>
              <a:ext uri="{FF2B5EF4-FFF2-40B4-BE49-F238E27FC236}">
                <a16:creationId xmlns:a16="http://schemas.microsoft.com/office/drawing/2014/main" id="{A7A5BAC8-F964-4EAD-9531-F2EB119B632D}"/>
              </a:ext>
            </a:extLst>
          </p:cNvPr>
          <p:cNvPicPr>
            <a:picLocks noChangeAspect="1"/>
          </p:cNvPicPr>
          <p:nvPr/>
        </p:nvPicPr>
        <p:blipFill>
          <a:blip r:embed="rId6"/>
          <a:stretch>
            <a:fillRect/>
          </a:stretch>
        </p:blipFill>
        <p:spPr>
          <a:xfrm>
            <a:off x="5328763" y="4807256"/>
            <a:ext cx="214057" cy="239744"/>
          </a:xfrm>
          <a:prstGeom prst="rect">
            <a:avLst/>
          </a:prstGeom>
        </p:spPr>
      </p:pic>
      <p:pic>
        <p:nvPicPr>
          <p:cNvPr id="51" name="Picture 50" descr="image.png">
            <a:extLst>
              <a:ext uri="{FF2B5EF4-FFF2-40B4-BE49-F238E27FC236}">
                <a16:creationId xmlns:a16="http://schemas.microsoft.com/office/drawing/2014/main" id="{F55D3BEC-AE9F-4271-AE51-1313410D0188}"/>
              </a:ext>
            </a:extLst>
          </p:cNvPr>
          <p:cNvPicPr>
            <a:picLocks noChangeAspect="1"/>
          </p:cNvPicPr>
          <p:nvPr/>
        </p:nvPicPr>
        <p:blipFill>
          <a:blip r:embed="rId7"/>
          <a:stretch>
            <a:fillRect/>
          </a:stretch>
        </p:blipFill>
        <p:spPr>
          <a:xfrm>
            <a:off x="8870058" y="2518525"/>
            <a:ext cx="217942" cy="217942"/>
          </a:xfrm>
          <a:prstGeom prst="rect">
            <a:avLst/>
          </a:prstGeom>
        </p:spPr>
      </p:pic>
      <p:pic>
        <p:nvPicPr>
          <p:cNvPr id="52" name="Picture 51" descr="image.png">
            <a:extLst>
              <a:ext uri="{FF2B5EF4-FFF2-40B4-BE49-F238E27FC236}">
                <a16:creationId xmlns:a16="http://schemas.microsoft.com/office/drawing/2014/main" id="{4D10FE7E-664B-4CF0-86B5-484AC8CA1265}"/>
              </a:ext>
            </a:extLst>
          </p:cNvPr>
          <p:cNvPicPr>
            <a:picLocks noChangeAspect="1"/>
          </p:cNvPicPr>
          <p:nvPr/>
        </p:nvPicPr>
        <p:blipFill>
          <a:blip r:embed="rId8"/>
          <a:stretch>
            <a:fillRect/>
          </a:stretch>
        </p:blipFill>
        <p:spPr>
          <a:xfrm>
            <a:off x="8843766" y="4787095"/>
            <a:ext cx="228600" cy="228600"/>
          </a:xfrm>
          <a:prstGeom prst="rect">
            <a:avLst/>
          </a:prstGeom>
        </p:spPr>
      </p:pic>
    </p:spTree>
    <p:extLst>
      <p:ext uri="{BB962C8B-B14F-4D97-AF65-F5344CB8AC3E}">
        <p14:creationId xmlns:p14="http://schemas.microsoft.com/office/powerpoint/2010/main" val="3504826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463AE03D-8385-4E21-B6E7-6682BBF0C79D}"/>
              </a:ext>
            </a:extLst>
          </p:cNvPr>
          <p:cNvSpPr/>
          <p:nvPr/>
        </p:nvSpPr>
        <p:spPr>
          <a:xfrm>
            <a:off x="4998124" y="2072364"/>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9" name="TextBox 72"/>
          <p:cNvSpPr/>
          <p:nvPr/>
        </p:nvSpPr>
        <p:spPr>
          <a:xfrm>
            <a:off x="4998125" y="1615537"/>
            <a:ext cx="6622376" cy="273041"/>
          </a:xfrm>
          <a:prstGeom prst="rect">
            <a:avLst/>
          </a:prstGeom>
          <a:noFill/>
          <a:ln/>
        </p:spPr>
        <p:txBody>
          <a:bodyPr wrap="none" lIns="0" tIns="0" rIns="0" bIns="0" rtlCol="0" anchor="t">
            <a:noAutofit/>
          </a:bodyPr>
          <a:lstStyle/>
          <a:p>
            <a:pPr marL="0" indent="0">
              <a:lnSpc>
                <a:spcPct val="100000"/>
              </a:lnSpc>
              <a:buNone/>
            </a:pPr>
            <a:r>
              <a:rPr lang="en-US" altLang="en-US" sz="1600" b="1" kern="0" spc="100" dirty="0">
                <a:latin typeface="+mj-lt"/>
                <a:ea typeface="Inter"/>
                <a:cs typeface="JetBrains Mono" pitchFamily="34" charset="-120"/>
              </a:rPr>
              <a:t>The proposed solution consists of three primary domains:</a:t>
            </a:r>
            <a:endParaRPr lang="en" sz="1600" b="1" spc="100" dirty="0">
              <a:latin typeface="+mj-lt"/>
              <a:ea typeface="Inter"/>
            </a:endParaRPr>
          </a:p>
        </p:txBody>
      </p:sp>
      <p:sp>
        <p:nvSpPr>
          <p:cNvPr id="3" name="TextBox 24"/>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25" name="Rectangle: Rounded Corners 24">
            <a:extLst>
              <a:ext uri="{FF2B5EF4-FFF2-40B4-BE49-F238E27FC236}">
                <a16:creationId xmlns:a16="http://schemas.microsoft.com/office/drawing/2014/main" id="{0D6C6A12-4460-4F22-93EC-E526B46C7709}"/>
              </a:ext>
            </a:extLst>
          </p:cNvPr>
          <p:cNvSpPr/>
          <p:nvPr/>
        </p:nvSpPr>
        <p:spPr>
          <a:xfrm>
            <a:off x="8527578" y="2042203"/>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 name="Group 22">
            <a:extLst>
              <a:ext uri="{FF2B5EF4-FFF2-40B4-BE49-F238E27FC236}">
                <a16:creationId xmlns:a16="http://schemas.microsoft.com/office/drawing/2014/main" id="{AE98C3A8-9106-424E-9706-0A8288E26149}"/>
              </a:ext>
            </a:extLst>
          </p:cNvPr>
          <p:cNvGrpSpPr/>
          <p:nvPr/>
        </p:nvGrpSpPr>
        <p:grpSpPr>
          <a:xfrm>
            <a:off x="5225084" y="2391509"/>
            <a:ext cx="2865962" cy="1234643"/>
            <a:chOff x="5572125" y="2304682"/>
            <a:chExt cx="2603829" cy="916843"/>
          </a:xfrm>
        </p:grpSpPr>
        <p:sp>
          <p:nvSpPr>
            <p:cNvPr id="10" name="TextBox 90"/>
            <p:cNvSpPr/>
            <p:nvPr/>
          </p:nvSpPr>
          <p:spPr>
            <a:xfrm>
              <a:off x="5666321" y="2304682"/>
              <a:ext cx="2415435" cy="228600"/>
            </a:xfrm>
            <a:prstGeom prst="rect">
              <a:avLst/>
            </a:prstGeom>
            <a:noFill/>
            <a:ln/>
          </p:spPr>
          <p:txBody>
            <a:bodyPr wrap="none" lIns="0" tIns="0" rIns="0" bIns="0" rtlCol="0" anchor="t">
              <a:normAutofit/>
            </a:bodyPr>
            <a:lstStyle/>
            <a:p>
              <a:pPr marL="0" indent="0">
                <a:lnSpc>
                  <a:spcPct val="100000"/>
                </a:lnSpc>
                <a:buNone/>
              </a:pPr>
              <a:r>
                <a:rPr lang="en-IN" altLang="en-US" sz="1400" b="1" kern="0" dirty="0">
                  <a:solidFill>
                    <a:srgbClr val="0069B8"/>
                  </a:solidFill>
                  <a:ea typeface="Inter" pitchFamily="34" charset="-122"/>
                  <a:cs typeface="Inter" pitchFamily="34" charset="-120"/>
                </a:rPr>
                <a:t>Admin Domain</a:t>
              </a:r>
              <a:endParaRPr lang="en" sz="1400" dirty="0">
                <a:solidFill>
                  <a:srgbClr val="0069B8"/>
                </a:solidFill>
              </a:endParaRPr>
            </a:p>
          </p:txBody>
        </p:sp>
        <p:sp>
          <p:nvSpPr>
            <p:cNvPr id="20" name="TextBox 19">
              <a:extLst>
                <a:ext uri="{FF2B5EF4-FFF2-40B4-BE49-F238E27FC236}">
                  <a16:creationId xmlns:a16="http://schemas.microsoft.com/office/drawing/2014/main" id="{084E9463-FB3A-43A2-9BD0-869C6090C4C1}"/>
                </a:ext>
              </a:extLst>
            </p:cNvPr>
            <p:cNvSpPr txBox="1"/>
            <p:nvPr/>
          </p:nvSpPr>
          <p:spPr>
            <a:xfrm>
              <a:off x="5572125" y="2551385"/>
              <a:ext cx="2603829" cy="670140"/>
            </a:xfrm>
            <a:prstGeom prst="rect">
              <a:avLst/>
            </a:prstGeom>
            <a:noFill/>
          </p:spPr>
          <p:txBody>
            <a:bodyPr wrap="square">
              <a:spAutoFit/>
            </a:bodyPr>
            <a:lstStyle/>
            <a:p>
              <a:pPr marL="0" indent="0">
                <a:lnSpc>
                  <a:spcPts val="1584"/>
                </a:lnSpc>
                <a:buNone/>
              </a:pPr>
              <a:r>
                <a:rPr lang="en-US" altLang="en-US" sz="1200" dirty="0">
                  <a:solidFill>
                    <a:schemeClr val="tx1">
                      <a:lumMod val="65000"/>
                      <a:lumOff val="35000"/>
                    </a:schemeClr>
                  </a:solidFill>
                  <a:ea typeface="Inter" pitchFamily="34" charset="-122"/>
                  <a:cs typeface="Inter" pitchFamily="34" charset="-120"/>
                </a:rPr>
                <a:t>— Manages courses, batches, student enrollment, examinations, results, ID-card requests, approvals, and certificate issuance.</a:t>
              </a:r>
              <a:endParaRPr lang="en" sz="1200" dirty="0">
                <a:solidFill>
                  <a:schemeClr val="tx1">
                    <a:lumMod val="65000"/>
                    <a:lumOff val="35000"/>
                  </a:schemeClr>
                </a:solidFill>
              </a:endParaRPr>
            </a:p>
          </p:txBody>
        </p:sp>
      </p:grpSp>
      <p:sp>
        <p:nvSpPr>
          <p:cNvPr id="12" name="TextBox 110"/>
          <p:cNvSpPr/>
          <p:nvPr/>
        </p:nvSpPr>
        <p:spPr>
          <a:xfrm>
            <a:off x="8847964" y="2382718"/>
            <a:ext cx="2291597" cy="279427"/>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Candidate Domain </a:t>
            </a:r>
          </a:p>
        </p:txBody>
      </p:sp>
      <p:sp>
        <p:nvSpPr>
          <p:cNvPr id="27" name="TextBox 26">
            <a:extLst>
              <a:ext uri="{FF2B5EF4-FFF2-40B4-BE49-F238E27FC236}">
                <a16:creationId xmlns:a16="http://schemas.microsoft.com/office/drawing/2014/main" id="{8A4DDE84-45FC-458C-ADC9-BF9315C6D4DC}"/>
              </a:ext>
            </a:extLst>
          </p:cNvPr>
          <p:cNvSpPr txBox="1"/>
          <p:nvPr/>
        </p:nvSpPr>
        <p:spPr>
          <a:xfrm>
            <a:off x="8600471" y="2731589"/>
            <a:ext cx="3020030" cy="697242"/>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cs typeface="Inter" pitchFamily="34" charset="-120"/>
              </a:rPr>
              <a:t>— A</a:t>
            </a:r>
            <a:r>
              <a:rPr lang="en-US" altLang="en-US" sz="1200" dirty="0">
                <a:solidFill>
                  <a:schemeClr val="tx1">
                    <a:lumMod val="65000"/>
                    <a:lumOff val="35000"/>
                  </a:schemeClr>
                </a:solidFill>
                <a:ea typeface="Inter" pitchFamily="34" charset="-122"/>
              </a:rPr>
              <a:t>llows students to view courses, examinations and results, request Web3 ID cards, and access verified certificates.</a:t>
            </a:r>
            <a:endParaRPr lang="en-IN" sz="1200" dirty="0">
              <a:solidFill>
                <a:schemeClr val="tx1">
                  <a:lumMod val="65000"/>
                  <a:lumOff val="35000"/>
                </a:schemeClr>
              </a:solidFill>
              <a:ea typeface="Inter" pitchFamily="34" charset="-122"/>
            </a:endParaRPr>
          </a:p>
        </p:txBody>
      </p:sp>
      <p:sp>
        <p:nvSpPr>
          <p:cNvPr id="30" name="Rectangle: Rounded Corners 29">
            <a:extLst>
              <a:ext uri="{FF2B5EF4-FFF2-40B4-BE49-F238E27FC236}">
                <a16:creationId xmlns:a16="http://schemas.microsoft.com/office/drawing/2014/main" id="{D0B6847F-F616-4061-9BAE-BA0CAD85AA9C}"/>
              </a:ext>
            </a:extLst>
          </p:cNvPr>
          <p:cNvSpPr/>
          <p:nvPr/>
        </p:nvSpPr>
        <p:spPr>
          <a:xfrm>
            <a:off x="4998124" y="4429310"/>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Rounded Corners 30">
            <a:extLst>
              <a:ext uri="{FF2B5EF4-FFF2-40B4-BE49-F238E27FC236}">
                <a16:creationId xmlns:a16="http://schemas.microsoft.com/office/drawing/2014/main" id="{AD7E62E4-44D2-4DC1-A056-A80A97FE9548}"/>
              </a:ext>
            </a:extLst>
          </p:cNvPr>
          <p:cNvSpPr/>
          <p:nvPr/>
        </p:nvSpPr>
        <p:spPr>
          <a:xfrm>
            <a:off x="8527578" y="4428576"/>
            <a:ext cx="3249856"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F5C1898-EC3D-4566-A4A8-367C44B61536}"/>
              </a:ext>
            </a:extLst>
          </p:cNvPr>
          <p:cNvSpPr txBox="1"/>
          <p:nvPr/>
        </p:nvSpPr>
        <p:spPr>
          <a:xfrm>
            <a:off x="5174151" y="5199233"/>
            <a:ext cx="2972683" cy="902427"/>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rPr>
              <a:t>— acts as an immutable ledger where hashes and transaction information associated with academic credentials are recorded.</a:t>
            </a:r>
            <a:endParaRPr lang="en" sz="1200" dirty="0">
              <a:solidFill>
                <a:schemeClr val="tx1">
                  <a:lumMod val="65000"/>
                  <a:lumOff val="35000"/>
                </a:schemeClr>
              </a:solidFill>
              <a:ea typeface="Inter" pitchFamily="34" charset="-122"/>
            </a:endParaRPr>
          </a:p>
        </p:txBody>
      </p:sp>
      <p:sp>
        <p:nvSpPr>
          <p:cNvPr id="14" name="TextBox 130"/>
          <p:cNvSpPr/>
          <p:nvPr/>
        </p:nvSpPr>
        <p:spPr>
          <a:xfrm>
            <a:off x="5331085" y="4755658"/>
            <a:ext cx="1763023" cy="228600"/>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Blockchain Domain </a:t>
            </a:r>
          </a:p>
        </p:txBody>
      </p:sp>
      <p:grpSp>
        <p:nvGrpSpPr>
          <p:cNvPr id="32" name="Group 31">
            <a:extLst>
              <a:ext uri="{FF2B5EF4-FFF2-40B4-BE49-F238E27FC236}">
                <a16:creationId xmlns:a16="http://schemas.microsoft.com/office/drawing/2014/main" id="{55A1497F-3548-41EE-BB52-8336D8124BA0}"/>
              </a:ext>
            </a:extLst>
          </p:cNvPr>
          <p:cNvGrpSpPr/>
          <p:nvPr/>
        </p:nvGrpSpPr>
        <p:grpSpPr>
          <a:xfrm>
            <a:off x="8600470" y="4793412"/>
            <a:ext cx="3078478" cy="1308247"/>
            <a:chOff x="8655188" y="4403733"/>
            <a:chExt cx="2546213" cy="1141211"/>
          </a:xfrm>
        </p:grpSpPr>
        <p:sp>
          <p:nvSpPr>
            <p:cNvPr id="16" name="TextBox 150"/>
            <p:cNvSpPr/>
            <p:nvPr/>
          </p:nvSpPr>
          <p:spPr>
            <a:xfrm>
              <a:off x="8885343" y="4403733"/>
              <a:ext cx="1933407" cy="228600"/>
            </a:xfrm>
            <a:prstGeom prst="rect">
              <a:avLst/>
            </a:prstGeom>
            <a:noFill/>
            <a:ln/>
          </p:spPr>
          <p:txBody>
            <a:bodyPr wrap="none" lIns="0" tIns="0" rIns="0" bIns="0" rtlCol="0" anchor="t">
              <a:normAutofit/>
            </a:bodyPr>
            <a:lstStyle/>
            <a:p>
              <a:r>
                <a:rPr lang="en-IN" altLang="en-US" sz="1400" b="1" kern="0" dirty="0">
                  <a:solidFill>
                    <a:srgbClr val="0069B8"/>
                  </a:solidFill>
                  <a:ea typeface="Inter" pitchFamily="34" charset="-122"/>
                </a:rPr>
                <a:t>Decentralized Trust</a:t>
              </a:r>
              <a:endParaRPr lang="en" sz="1400" b="1" kern="0" dirty="0">
                <a:solidFill>
                  <a:srgbClr val="0069B8"/>
                </a:solidFill>
                <a:ea typeface="Inter" pitchFamily="34" charset="-122"/>
              </a:endParaRPr>
            </a:p>
          </p:txBody>
        </p:sp>
        <p:sp>
          <p:nvSpPr>
            <p:cNvPr id="17" name="TextBox 153"/>
            <p:cNvSpPr/>
            <p:nvPr/>
          </p:nvSpPr>
          <p:spPr>
            <a:xfrm>
              <a:off x="8655188" y="4757738"/>
              <a:ext cx="2546213" cy="787206"/>
            </a:xfrm>
            <a:prstGeom prst="rect">
              <a:avLst/>
            </a:prstGeom>
            <a:noFill/>
          </p:spPr>
          <p:txBody>
            <a:bodyPr wrap="square">
              <a:spAutoFit/>
            </a:bodyPr>
            <a:lstStyle/>
            <a:p>
              <a:pPr>
                <a:lnSpc>
                  <a:spcPts val="1584"/>
                </a:lnSpc>
              </a:pPr>
              <a:r>
                <a:rPr lang="en-US" altLang="en-US" sz="1200" dirty="0">
                  <a:solidFill>
                    <a:schemeClr val="tx1">
                      <a:lumMod val="65000"/>
                      <a:lumOff val="35000"/>
                    </a:schemeClr>
                  </a:solidFill>
                  <a:ea typeface="Inter" pitchFamily="34" charset="-122"/>
                </a:rPr>
                <a:t>—  Secures academic credentials, semester results, &amp; student identity on an immutable ledger, preventing unauthorized modifications.</a:t>
              </a:r>
              <a:endParaRPr lang="en" sz="1200" dirty="0">
                <a:solidFill>
                  <a:schemeClr val="tx1">
                    <a:lumMod val="65000"/>
                    <a:lumOff val="35000"/>
                  </a:schemeClr>
                </a:solidFill>
                <a:ea typeface="Inter" pitchFamily="34" charset="-122"/>
              </a:endParaRPr>
            </a:p>
          </p:txBody>
        </p:sp>
      </p:grpSp>
      <p:pic>
        <p:nvPicPr>
          <p:cNvPr id="6" name="Picture 5">
            <a:extLst>
              <a:ext uri="{FF2B5EF4-FFF2-40B4-BE49-F238E27FC236}">
                <a16:creationId xmlns:a16="http://schemas.microsoft.com/office/drawing/2014/main" id="{3CB0722A-B61C-4734-8ECB-6149459365C8}"/>
              </a:ext>
            </a:extLst>
          </p:cNvPr>
          <p:cNvPicPr>
            <a:picLocks noChangeAspect="1"/>
          </p:cNvPicPr>
          <p:nvPr/>
        </p:nvPicPr>
        <p:blipFill>
          <a:blip r:embed="rId4"/>
          <a:stretch>
            <a:fillRect/>
          </a:stretch>
        </p:blipFill>
        <p:spPr>
          <a:xfrm>
            <a:off x="601388" y="1615091"/>
            <a:ext cx="4083782" cy="4771423"/>
          </a:xfrm>
          <a:prstGeom prst="rect">
            <a:avLst/>
          </a:prstGeom>
        </p:spPr>
      </p:pic>
      <p:sp>
        <p:nvSpPr>
          <p:cNvPr id="24" name="TextBox 26">
            <a:extLst>
              <a:ext uri="{FF2B5EF4-FFF2-40B4-BE49-F238E27FC236}">
                <a16:creationId xmlns:a16="http://schemas.microsoft.com/office/drawing/2014/main" id="{72CCB9B4-DA0C-49F2-9ED0-101A0BCA4F42}"/>
              </a:ext>
            </a:extLst>
          </p:cNvPr>
          <p:cNvSpPr/>
          <p:nvPr/>
        </p:nvSpPr>
        <p:spPr>
          <a:xfrm>
            <a:off x="586940" y="808951"/>
            <a:ext cx="6151104" cy="452438"/>
          </a:xfrm>
          <a:prstGeom prst="rect">
            <a:avLst/>
          </a:prstGeom>
          <a:noFill/>
          <a:ln/>
        </p:spPr>
        <p:txBody>
          <a:bodyPr wrap="none" lIns="0" tIns="0" rIns="0" bIns="0" rtlCol="0" anchor="t">
            <a:noAutofit/>
          </a:bodyPr>
          <a:lstStyle/>
          <a:p>
            <a:pPr marL="0" indent="0" algn="l">
              <a:lnSpc>
                <a:spcPct val="100000"/>
              </a:lnSpc>
              <a:buNone/>
            </a:pPr>
            <a:r>
              <a:rPr lang="en-IN" altLang="en-US" sz="3200" kern="0" spc="200" dirty="0">
                <a:solidFill>
                  <a:srgbClr val="0F172A"/>
                </a:solidFill>
                <a:effectLst>
                  <a:outerShdw blurRad="38100" dist="38100" dir="2700000" algn="tl">
                    <a:srgbClr val="000000">
                      <a:alpha val="43137"/>
                    </a:srgbClr>
                  </a:outerShdw>
                </a:effectLst>
                <a:latin typeface="+mj-lt"/>
                <a:ea typeface="Inter" pitchFamily="34" charset="-122"/>
                <a:cs typeface="Inter" pitchFamily="34" charset="-120"/>
              </a:rPr>
              <a:t>Project Proposal &amp; Solution </a:t>
            </a:r>
            <a:endParaRPr lang="en" sz="3200" spc="200" dirty="0">
              <a:effectLst>
                <a:outerShdw blurRad="38100" dist="38100" dir="2700000" algn="tl">
                  <a:srgbClr val="000000">
                    <a:alpha val="43137"/>
                  </a:srgbClr>
                </a:outerShdw>
              </a:effectLst>
              <a:latin typeface="+mj-lt"/>
            </a:endParaRPr>
          </a:p>
        </p:txBody>
      </p:sp>
      <p:sp>
        <p:nvSpPr>
          <p:cNvPr id="5" name="TextBox 43"/>
          <p:cNvSpPr/>
          <p:nvPr/>
        </p:nvSpPr>
        <p:spPr>
          <a:xfrm>
            <a:off x="796861" y="1853445"/>
            <a:ext cx="3608711" cy="314325"/>
          </a:xfrm>
          <a:prstGeom prst="rect">
            <a:avLst/>
          </a:prstGeom>
          <a:noFill/>
          <a:ln/>
        </p:spPr>
        <p:txBody>
          <a:bodyPr wrap="none" lIns="0" tIns="0" rIns="0" bIns="0" rtlCol="0" anchor="t">
            <a:noAutofit/>
          </a:bodyPr>
          <a:lstStyle/>
          <a:p>
            <a:pPr marL="0" indent="0" algn="l">
              <a:lnSpc>
                <a:spcPct val="100000"/>
              </a:lnSpc>
              <a:buNone/>
            </a:pPr>
            <a:r>
              <a:rPr lang="en" altLang="en-US" sz="2400" kern="0" spc="150" dirty="0">
                <a:solidFill>
                  <a:srgbClr val="0F172A"/>
                </a:solidFill>
                <a:latin typeface="Inter" pitchFamily="34" charset="0"/>
                <a:ea typeface="Inter" pitchFamily="34" charset="-122"/>
                <a:cs typeface="Inter" pitchFamily="34" charset="-120"/>
              </a:rPr>
              <a:t>Proposal</a:t>
            </a:r>
            <a:endParaRPr lang="en" sz="2400" spc="150" dirty="0"/>
          </a:p>
        </p:txBody>
      </p:sp>
      <p:sp>
        <p:nvSpPr>
          <p:cNvPr id="36" name="TextBox 35">
            <a:extLst>
              <a:ext uri="{FF2B5EF4-FFF2-40B4-BE49-F238E27FC236}">
                <a16:creationId xmlns:a16="http://schemas.microsoft.com/office/drawing/2014/main" id="{F32B9CCF-EF81-4544-A541-2F34C7C61187}"/>
              </a:ext>
            </a:extLst>
          </p:cNvPr>
          <p:cNvSpPr txBox="1"/>
          <p:nvPr/>
        </p:nvSpPr>
        <p:spPr>
          <a:xfrm>
            <a:off x="710180" y="2406124"/>
            <a:ext cx="3970755" cy="3008772"/>
          </a:xfrm>
          <a:prstGeom prst="rect">
            <a:avLst/>
          </a:prstGeom>
          <a:noFill/>
        </p:spPr>
        <p:txBody>
          <a:bodyPr wrap="square">
            <a:spAutoFit/>
          </a:bodyPr>
          <a:lstStyle/>
          <a:p>
            <a:pPr marL="0" indent="0" algn="just">
              <a:lnSpc>
                <a:spcPct val="150000"/>
              </a:lnSpc>
              <a:buNone/>
            </a:pPr>
            <a:r>
              <a:rPr lang="en-US" altLang="en-US" sz="1600" dirty="0">
                <a:solidFill>
                  <a:schemeClr val="bg2">
                    <a:lumMod val="25000"/>
                  </a:schemeClr>
                </a:solidFill>
                <a:latin typeface="+mj-lt"/>
                <a:ea typeface="Inter" pitchFamily="34" charset="-122"/>
                <a:cs typeface="Inter" pitchFamily="34" charset="-120"/>
              </a:rPr>
              <a:t>The EDUCATE Portal is proposed as a</a:t>
            </a:r>
            <a:r>
              <a:rPr lang="en-US" altLang="en-US" sz="1600" b="1" dirty="0">
                <a:solidFill>
                  <a:schemeClr val="bg2">
                    <a:lumMod val="25000"/>
                  </a:schemeClr>
                </a:solidFill>
                <a:latin typeface="+mj-lt"/>
                <a:ea typeface="Inter" pitchFamily="34" charset="-122"/>
                <a:cs typeface="Inter" pitchFamily="34" charset="-120"/>
              </a:rPr>
              <a:t> web-based education management</a:t>
            </a:r>
            <a:r>
              <a:rPr lang="en-US" altLang="en-US" sz="1600" dirty="0">
                <a:solidFill>
                  <a:schemeClr val="bg2">
                    <a:lumMod val="25000"/>
                  </a:schemeClr>
                </a:solidFill>
                <a:latin typeface="+mj-lt"/>
                <a:ea typeface="Inter" pitchFamily="34" charset="-122"/>
                <a:cs typeface="Inter" pitchFamily="34" charset="-120"/>
              </a:rPr>
              <a:t> and credential verification platform that combines the MERN stack with Ethereum blockchain technology. The system is designed to manage courses, student enrollment, examinations, semester results, student identity cards, and academic certificates.</a:t>
            </a:r>
            <a:endParaRPr lang="en" sz="1600" dirty="0">
              <a:solidFill>
                <a:schemeClr val="bg2">
                  <a:lumMod val="25000"/>
                </a:schemeClr>
              </a:solidFill>
              <a:latin typeface="+mj-lt"/>
            </a:endParaRPr>
          </a:p>
        </p:txBody>
      </p:sp>
      <p:sp>
        <p:nvSpPr>
          <p:cNvPr id="26" name="Rectangle: Rounded Corners 25">
            <a:extLst>
              <a:ext uri="{FF2B5EF4-FFF2-40B4-BE49-F238E27FC236}">
                <a16:creationId xmlns:a16="http://schemas.microsoft.com/office/drawing/2014/main" id="{DFB2AF5E-EE99-4A89-BCF9-7B782B128DDE}"/>
              </a:ext>
            </a:extLst>
          </p:cNvPr>
          <p:cNvSpPr/>
          <p:nvPr/>
        </p:nvSpPr>
        <p:spPr>
          <a:xfrm>
            <a:off x="4998124" y="6996052"/>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28" name="Group 27">
            <a:extLst>
              <a:ext uri="{FF2B5EF4-FFF2-40B4-BE49-F238E27FC236}">
                <a16:creationId xmlns:a16="http://schemas.microsoft.com/office/drawing/2014/main" id="{8B7D9A11-B02C-4F8B-AF8D-0CD9B4B7C0B4}"/>
              </a:ext>
            </a:extLst>
          </p:cNvPr>
          <p:cNvGrpSpPr/>
          <p:nvPr/>
        </p:nvGrpSpPr>
        <p:grpSpPr>
          <a:xfrm>
            <a:off x="5225084" y="7555761"/>
            <a:ext cx="2722205" cy="943945"/>
            <a:chOff x="5572125" y="2304682"/>
            <a:chExt cx="2603829" cy="943945"/>
          </a:xfrm>
        </p:grpSpPr>
        <p:sp>
          <p:nvSpPr>
            <p:cNvPr id="33" name="TextBox 90">
              <a:extLst>
                <a:ext uri="{FF2B5EF4-FFF2-40B4-BE49-F238E27FC236}">
                  <a16:creationId xmlns:a16="http://schemas.microsoft.com/office/drawing/2014/main" id="{1F790085-94BC-429A-A366-21FF3AAB5BCB}"/>
                </a:ext>
              </a:extLst>
            </p:cNvPr>
            <p:cNvSpPr/>
            <p:nvPr/>
          </p:nvSpPr>
          <p:spPr>
            <a:xfrm>
              <a:off x="5666321" y="2304682"/>
              <a:ext cx="2415435" cy="228600"/>
            </a:xfrm>
            <a:prstGeom prst="rect">
              <a:avLst/>
            </a:prstGeom>
            <a:noFill/>
            <a:ln/>
          </p:spPr>
          <p:txBody>
            <a:bodyPr wrap="none" lIns="0" tIns="0" rIns="0" bIns="0" rtlCol="0" anchor="t">
              <a:normAutofit/>
            </a:bodyPr>
            <a:lstStyle/>
            <a:p>
              <a:pPr marL="0" indent="0">
                <a:lnSpc>
                  <a:spcPct val="100000"/>
                </a:lnSpc>
                <a:buNone/>
              </a:pPr>
              <a:r>
                <a:rPr lang="en" altLang="en-US" sz="1400" b="1" kern="0" dirty="0">
                  <a:solidFill>
                    <a:srgbClr val="0069B8"/>
                  </a:solidFill>
                  <a:ea typeface="Inter" pitchFamily="34" charset="-122"/>
                  <a:cs typeface="Inter" pitchFamily="34" charset="-120"/>
                </a:rPr>
                <a:t>Document Forgery</a:t>
              </a:r>
              <a:endParaRPr lang="en" sz="1400" dirty="0">
                <a:solidFill>
                  <a:srgbClr val="0069B8"/>
                </a:solidFill>
              </a:endParaRPr>
            </a:p>
          </p:txBody>
        </p:sp>
        <p:sp>
          <p:nvSpPr>
            <p:cNvPr id="35" name="TextBox 34">
              <a:extLst>
                <a:ext uri="{FF2B5EF4-FFF2-40B4-BE49-F238E27FC236}">
                  <a16:creationId xmlns:a16="http://schemas.microsoft.com/office/drawing/2014/main" id="{34C1B15D-98EB-4A5C-AC2F-0F7AF3C10A6D}"/>
                </a:ext>
              </a:extLst>
            </p:cNvPr>
            <p:cNvSpPr txBox="1"/>
            <p:nvPr/>
          </p:nvSpPr>
          <p:spPr>
            <a:xfrm>
              <a:off x="5572125" y="2551385"/>
              <a:ext cx="2603829" cy="697242"/>
            </a:xfrm>
            <a:prstGeom prst="rect">
              <a:avLst/>
            </a:prstGeom>
            <a:noFill/>
          </p:spPr>
          <p:txBody>
            <a:bodyPr wrap="square">
              <a:spAutoFit/>
            </a:bodyPr>
            <a:lstStyle/>
            <a:p>
              <a:pPr marL="0" indent="0">
                <a:lnSpc>
                  <a:spcPts val="1584"/>
                </a:lnSpc>
                <a:buNone/>
              </a:pPr>
              <a:r>
                <a:rPr lang="en" altLang="en-US" sz="1200" dirty="0">
                  <a:solidFill>
                    <a:schemeClr val="tx1">
                      <a:lumMod val="65000"/>
                      <a:lumOff val="35000"/>
                    </a:schemeClr>
                  </a:solidFill>
                  <a:ea typeface="Inter" pitchFamily="34" charset="-122"/>
                  <a:cs typeface="Inter" pitchFamily="34" charset="-120"/>
                </a:rPr>
                <a:t>Increasing prevalence of fake degrees and</a:t>
              </a:r>
              <a:r>
                <a:rPr lang="en" altLang="en-US" sz="1200" dirty="0">
                  <a:solidFill>
                    <a:schemeClr val="tx1">
                      <a:lumMod val="65000"/>
                      <a:lumOff val="35000"/>
                    </a:schemeClr>
                  </a:solidFill>
                </a:rPr>
                <a:t> </a:t>
              </a:r>
              <a:r>
                <a:rPr lang="en" altLang="en-US" sz="1200" dirty="0">
                  <a:solidFill>
                    <a:schemeClr val="tx1">
                      <a:lumMod val="65000"/>
                      <a:lumOff val="35000"/>
                    </a:schemeClr>
                  </a:solidFill>
                  <a:ea typeface="Inter" pitchFamily="34" charset="-122"/>
                  <a:cs typeface="Inter" pitchFamily="34" charset="-120"/>
                </a:rPr>
                <a:t>certificates undermines the value oflegitimate education.</a:t>
              </a:r>
              <a:endParaRPr lang="en" sz="1200" dirty="0">
                <a:solidFill>
                  <a:schemeClr val="tx1">
                    <a:lumMod val="65000"/>
                    <a:lumOff val="35000"/>
                  </a:schemeClr>
                </a:solidFill>
              </a:endParaRPr>
            </a:p>
          </p:txBody>
        </p:sp>
      </p:grpSp>
      <p:sp>
        <p:nvSpPr>
          <p:cNvPr id="38" name="Rectangle: Rounded Corners 37">
            <a:extLst>
              <a:ext uri="{FF2B5EF4-FFF2-40B4-BE49-F238E27FC236}">
                <a16:creationId xmlns:a16="http://schemas.microsoft.com/office/drawing/2014/main" id="{47DEC7E5-322B-4697-8C03-002D0C14C2E5}"/>
              </a:ext>
            </a:extLst>
          </p:cNvPr>
          <p:cNvSpPr/>
          <p:nvPr/>
        </p:nvSpPr>
        <p:spPr>
          <a:xfrm>
            <a:off x="4998124" y="9352998"/>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32CF44F-10B5-4F5D-A046-042B60E2F47C}"/>
              </a:ext>
            </a:extLst>
          </p:cNvPr>
          <p:cNvSpPr txBox="1"/>
          <p:nvPr/>
        </p:nvSpPr>
        <p:spPr>
          <a:xfrm>
            <a:off x="5225084" y="10041910"/>
            <a:ext cx="2623724"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Academic records are often stored in  fragmented, centralized databases that are difficult to access across borders.</a:t>
            </a:r>
            <a:endParaRPr lang="en" sz="1200" dirty="0">
              <a:solidFill>
                <a:schemeClr val="tx1">
                  <a:lumMod val="65000"/>
                  <a:lumOff val="35000"/>
                </a:schemeClr>
              </a:solidFill>
              <a:ea typeface="Inter" pitchFamily="34" charset="-122"/>
            </a:endParaRPr>
          </a:p>
        </p:txBody>
      </p:sp>
      <p:sp>
        <p:nvSpPr>
          <p:cNvPr id="40" name="TextBox 130">
            <a:extLst>
              <a:ext uri="{FF2B5EF4-FFF2-40B4-BE49-F238E27FC236}">
                <a16:creationId xmlns:a16="http://schemas.microsoft.com/office/drawing/2014/main" id="{BD7D35DD-B99C-4467-A556-8A673F997B8A}"/>
              </a:ext>
            </a:extLst>
          </p:cNvPr>
          <p:cNvSpPr/>
          <p:nvPr/>
        </p:nvSpPr>
        <p:spPr>
          <a:xfrm>
            <a:off x="5331085" y="9755673"/>
            <a:ext cx="1763023"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Data Silos</a:t>
            </a:r>
            <a:endParaRPr lang="en" sz="1400" b="1" kern="0" dirty="0">
              <a:solidFill>
                <a:srgbClr val="0069B8"/>
              </a:solidFill>
              <a:ea typeface="Inter" pitchFamily="34" charset="-122"/>
            </a:endParaRPr>
          </a:p>
        </p:txBody>
      </p:sp>
      <p:grpSp>
        <p:nvGrpSpPr>
          <p:cNvPr id="41" name="Group 40">
            <a:extLst>
              <a:ext uri="{FF2B5EF4-FFF2-40B4-BE49-F238E27FC236}">
                <a16:creationId xmlns:a16="http://schemas.microsoft.com/office/drawing/2014/main" id="{DFA8A249-21E7-45DC-A82E-0FA966E2DFBB}"/>
              </a:ext>
            </a:extLst>
          </p:cNvPr>
          <p:cNvGrpSpPr/>
          <p:nvPr/>
        </p:nvGrpSpPr>
        <p:grpSpPr>
          <a:xfrm>
            <a:off x="12890113" y="2042203"/>
            <a:ext cx="3092922" cy="4375747"/>
            <a:chOff x="8527578" y="2042203"/>
            <a:chExt cx="3092922" cy="4375747"/>
          </a:xfrm>
        </p:grpSpPr>
        <p:sp>
          <p:nvSpPr>
            <p:cNvPr id="42" name="Rectangle: Rounded Corners 41">
              <a:extLst>
                <a:ext uri="{FF2B5EF4-FFF2-40B4-BE49-F238E27FC236}">
                  <a16:creationId xmlns:a16="http://schemas.microsoft.com/office/drawing/2014/main" id="{35E19735-9CDA-4433-B08E-41999B0BCF6E}"/>
                </a:ext>
              </a:extLst>
            </p:cNvPr>
            <p:cNvSpPr/>
            <p:nvPr/>
          </p:nvSpPr>
          <p:spPr>
            <a:xfrm>
              <a:off x="8527578" y="2042203"/>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110">
              <a:extLst>
                <a:ext uri="{FF2B5EF4-FFF2-40B4-BE49-F238E27FC236}">
                  <a16:creationId xmlns:a16="http://schemas.microsoft.com/office/drawing/2014/main" id="{97D96A99-B2C7-454A-9E30-27CC45FBBD69}"/>
                </a:ext>
              </a:extLst>
            </p:cNvPr>
            <p:cNvSpPr/>
            <p:nvPr/>
          </p:nvSpPr>
          <p:spPr>
            <a:xfrm>
              <a:off x="8835688" y="2532019"/>
              <a:ext cx="2291597" cy="279427"/>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Ineefficient Verification</a:t>
              </a:r>
              <a:endParaRPr lang="en" sz="1400" b="1" kern="0" dirty="0">
                <a:solidFill>
                  <a:srgbClr val="0069B8"/>
                </a:solidFill>
                <a:ea typeface="Inter" pitchFamily="34" charset="-122"/>
              </a:endParaRPr>
            </a:p>
          </p:txBody>
        </p:sp>
        <p:sp>
          <p:nvSpPr>
            <p:cNvPr id="44" name="TextBox 43">
              <a:extLst>
                <a:ext uri="{FF2B5EF4-FFF2-40B4-BE49-F238E27FC236}">
                  <a16:creationId xmlns:a16="http://schemas.microsoft.com/office/drawing/2014/main" id="{FB1D369A-911D-4F3F-88E3-08830959DB2A}"/>
                </a:ext>
              </a:extLst>
            </p:cNvPr>
            <p:cNvSpPr txBox="1"/>
            <p:nvPr/>
          </p:nvSpPr>
          <p:spPr>
            <a:xfrm>
              <a:off x="8788989" y="2811446"/>
              <a:ext cx="229159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Manual background checks can take weeks, delaying employment and academic admissions.</a:t>
              </a:r>
              <a:endParaRPr lang="en-IN" sz="1200" dirty="0">
                <a:solidFill>
                  <a:schemeClr val="tx1">
                    <a:lumMod val="65000"/>
                    <a:lumOff val="35000"/>
                  </a:schemeClr>
                </a:solidFill>
                <a:ea typeface="Inter" pitchFamily="34" charset="-122"/>
              </a:endParaRPr>
            </a:p>
          </p:txBody>
        </p:sp>
        <p:sp>
          <p:nvSpPr>
            <p:cNvPr id="45" name="Rectangle: Rounded Corners 44">
              <a:extLst>
                <a:ext uri="{FF2B5EF4-FFF2-40B4-BE49-F238E27FC236}">
                  <a16:creationId xmlns:a16="http://schemas.microsoft.com/office/drawing/2014/main" id="{1CFAD71A-CE7D-4208-8844-ECEF39C3F543}"/>
                </a:ext>
              </a:extLst>
            </p:cNvPr>
            <p:cNvSpPr/>
            <p:nvPr/>
          </p:nvSpPr>
          <p:spPr>
            <a:xfrm>
              <a:off x="8527578" y="4428576"/>
              <a:ext cx="3092922" cy="1989374"/>
            </a:xfrm>
            <a:prstGeom prst="roundRect">
              <a:avLst>
                <a:gd name="adj" fmla="val 2889"/>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6" name="Group 45">
              <a:extLst>
                <a:ext uri="{FF2B5EF4-FFF2-40B4-BE49-F238E27FC236}">
                  <a16:creationId xmlns:a16="http://schemas.microsoft.com/office/drawing/2014/main" id="{CFB42FB3-2907-4A22-BFB7-D47544D38CB6}"/>
                </a:ext>
              </a:extLst>
            </p:cNvPr>
            <p:cNvGrpSpPr/>
            <p:nvPr/>
          </p:nvGrpSpPr>
          <p:grpSpPr>
            <a:xfrm>
              <a:off x="8817644" y="4809366"/>
              <a:ext cx="2519477" cy="1037331"/>
              <a:chOff x="8681923" y="4417649"/>
              <a:chExt cx="2519477" cy="1037331"/>
            </a:xfrm>
          </p:grpSpPr>
          <p:sp>
            <p:nvSpPr>
              <p:cNvPr id="47" name="TextBox 150">
                <a:extLst>
                  <a:ext uri="{FF2B5EF4-FFF2-40B4-BE49-F238E27FC236}">
                    <a16:creationId xmlns:a16="http://schemas.microsoft.com/office/drawing/2014/main" id="{6000825A-023E-45A6-81EA-2DF28F31740F}"/>
                  </a:ext>
                </a:extLst>
              </p:cNvPr>
              <p:cNvSpPr/>
              <p:nvPr/>
            </p:nvSpPr>
            <p:spPr>
              <a:xfrm>
                <a:off x="8788989" y="4417649"/>
                <a:ext cx="1933407" cy="228600"/>
              </a:xfrm>
              <a:prstGeom prst="rect">
                <a:avLst/>
              </a:prstGeom>
              <a:noFill/>
              <a:ln/>
            </p:spPr>
            <p:txBody>
              <a:bodyPr wrap="none" lIns="0" tIns="0" rIns="0" bIns="0" rtlCol="0" anchor="t">
                <a:normAutofit/>
              </a:bodyPr>
              <a:lstStyle/>
              <a:p>
                <a:r>
                  <a:rPr lang="en" altLang="en-US" sz="1400" b="1" kern="0" dirty="0">
                    <a:solidFill>
                      <a:srgbClr val="0069B8"/>
                    </a:solidFill>
                    <a:ea typeface="Inter" pitchFamily="34" charset="-122"/>
                  </a:rPr>
                  <a:t>High Admin Costs</a:t>
                </a:r>
                <a:endParaRPr lang="en" sz="1400" b="1" kern="0" dirty="0">
                  <a:solidFill>
                    <a:srgbClr val="0069B8"/>
                  </a:solidFill>
                  <a:ea typeface="Inter" pitchFamily="34" charset="-122"/>
                </a:endParaRPr>
              </a:p>
            </p:txBody>
          </p:sp>
          <p:sp>
            <p:nvSpPr>
              <p:cNvPr id="48" name="TextBox 153">
                <a:extLst>
                  <a:ext uri="{FF2B5EF4-FFF2-40B4-BE49-F238E27FC236}">
                    <a16:creationId xmlns:a16="http://schemas.microsoft.com/office/drawing/2014/main" id="{2FB4BEFA-0179-4B6A-B196-04ECEBDE696A}"/>
                  </a:ext>
                </a:extLst>
              </p:cNvPr>
              <p:cNvSpPr/>
              <p:nvPr/>
            </p:nvSpPr>
            <p:spPr>
              <a:xfrm>
                <a:off x="8681923" y="4757738"/>
                <a:ext cx="2519477" cy="697242"/>
              </a:xfrm>
              <a:prstGeom prst="rect">
                <a:avLst/>
              </a:prstGeom>
              <a:noFill/>
            </p:spPr>
            <p:txBody>
              <a:bodyPr wrap="square">
                <a:spAutoFit/>
              </a:bodyPr>
              <a:lstStyle/>
              <a:p>
                <a:pPr>
                  <a:lnSpc>
                    <a:spcPts val="1584"/>
                  </a:lnSpc>
                </a:pPr>
                <a:r>
                  <a:rPr lang="en" altLang="en-US" sz="1200" dirty="0">
                    <a:solidFill>
                      <a:schemeClr val="tx1">
                        <a:lumMod val="65000"/>
                        <a:lumOff val="35000"/>
                      </a:schemeClr>
                    </a:solidFill>
                    <a:ea typeface="Inter" pitchFamily="34" charset="-122"/>
                  </a:rPr>
                  <a:t>Institutions spend significant resources responding to verification requests via traditional mail or email.</a:t>
                </a:r>
                <a:endParaRPr lang="en" sz="1200" dirty="0">
                  <a:solidFill>
                    <a:schemeClr val="tx1">
                      <a:lumMod val="65000"/>
                      <a:lumOff val="35000"/>
                    </a:schemeClr>
                  </a:solidFill>
                  <a:ea typeface="Inter" pitchFamily="34" charset="-122"/>
                </a:endParaRPr>
              </a:p>
            </p:txBody>
          </p:sp>
        </p:grpSp>
      </p:grpSp>
      <p:pic>
        <p:nvPicPr>
          <p:cNvPr id="49" name="Picture 48" descr="__type_image">
            <a:extLst>
              <a:ext uri="{FF2B5EF4-FFF2-40B4-BE49-F238E27FC236}">
                <a16:creationId xmlns:a16="http://schemas.microsoft.com/office/drawing/2014/main" id="{A410EC05-963A-4FCF-BB2E-6F640982A541}"/>
              </a:ext>
            </a:extLst>
          </p:cNvPr>
          <p:cNvPicPr>
            <a:picLocks noChangeAspect="1"/>
          </p:cNvPicPr>
          <p:nvPr/>
        </p:nvPicPr>
        <p:blipFill>
          <a:blip r:embed="rId5"/>
          <a:stretch>
            <a:fillRect/>
          </a:stretch>
        </p:blipFill>
        <p:spPr>
          <a:xfrm>
            <a:off x="0" y="-7599987"/>
            <a:ext cx="12192000" cy="6858000"/>
          </a:xfrm>
          <a:prstGeom prst="rect">
            <a:avLst/>
          </a:prstGeom>
        </p:spPr>
      </p:pic>
    </p:spTree>
    <p:extLst>
      <p:ext uri="{BB962C8B-B14F-4D97-AF65-F5344CB8AC3E}">
        <p14:creationId xmlns:p14="http://schemas.microsoft.com/office/powerpoint/2010/main" val="116171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_type_image"/>
          <p:cNvPicPr>
            <a:picLocks noChangeAspect="1"/>
          </p:cNvPicPr>
          <p:nvPr/>
        </p:nvPicPr>
        <p:blipFill>
          <a:blip r:embed="rId2"/>
          <a:stretch>
            <a:fillRect/>
          </a:stretch>
        </p:blipFill>
        <p:spPr>
          <a:xfrm>
            <a:off x="0" y="0"/>
            <a:ext cx="12192000" cy="6858000"/>
          </a:xfrm>
          <a:prstGeom prst="rect">
            <a:avLst/>
          </a:prstGeom>
        </p:spPr>
      </p:pic>
      <p:sp>
        <p:nvSpPr>
          <p:cNvPr id="5" name="TextBox 49"/>
          <p:cNvSpPr/>
          <p:nvPr/>
        </p:nvSpPr>
        <p:spPr>
          <a:xfrm>
            <a:off x="876300" y="1743075"/>
            <a:ext cx="2959001" cy="771525"/>
          </a:xfrm>
          <a:prstGeom prst="rect">
            <a:avLst/>
          </a:prstGeom>
          <a:noFill/>
          <a:ln/>
        </p:spPr>
        <p:txBody>
          <a:bodyPr wrap="none" lIns="0" tIns="0" rIns="0" bIns="0" rtlCol="0" anchor="t"/>
          <a:lstStyle/>
          <a:p>
            <a:pPr marL="0" indent="0" algn="l">
              <a:lnSpc>
                <a:spcPts val="2025"/>
              </a:lnSpc>
              <a:buNone/>
            </a:pPr>
            <a:r>
              <a:rPr lang="en" altLang="en-US" sz="1350" dirty="0">
                <a:solidFill>
                  <a:srgbClr val="1E293B"/>
                </a:solidFill>
                <a:latin typeface="Inter" pitchFamily="34" charset="0"/>
                <a:ea typeface="Inter" pitchFamily="34" charset="-122"/>
                <a:cs typeface="Inter" pitchFamily="34" charset="-120"/>
              </a:rPr>
              <a:t>A comprehensive ecosystem for</a:t>
            </a:r>
            <a:endParaRPr lang="en" sz="1350" dirty="0"/>
          </a:p>
          <a:p>
            <a:pPr marL="0" indent="0" algn="l">
              <a:lnSpc>
                <a:spcPts val="2025"/>
              </a:lnSpc>
              <a:buNone/>
            </a:pPr>
            <a:r>
              <a:rPr lang="en" altLang="en-US" sz="1350" dirty="0">
                <a:solidFill>
                  <a:srgbClr val="1E293B"/>
                </a:solidFill>
                <a:latin typeface="Inter" pitchFamily="34" charset="0"/>
                <a:ea typeface="Inter" pitchFamily="34" charset="-122"/>
                <a:cs typeface="Inter" pitchFamily="34" charset="-120"/>
              </a:rPr>
              <a:t>document issuance, storage, and</a:t>
            </a:r>
            <a:endParaRPr lang="en" sz="1350" dirty="0"/>
          </a:p>
          <a:p>
            <a:pPr marL="0" indent="0" algn="l">
              <a:lnSpc>
                <a:spcPts val="2025"/>
              </a:lnSpc>
              <a:buNone/>
            </a:pPr>
            <a:r>
              <a:rPr lang="en" altLang="en-US" sz="1350" dirty="0">
                <a:solidFill>
                  <a:srgbClr val="1E293B"/>
                </a:solidFill>
                <a:latin typeface="Inter" pitchFamily="34" charset="0"/>
                <a:ea typeface="Inter" pitchFamily="34" charset="-122"/>
                <a:cs typeface="Inter" pitchFamily="34" charset="-120"/>
              </a:rPr>
              <a:t>instant third-party verification.</a:t>
            </a:r>
            <a:endParaRPr lang="en" sz="1350" dirty="0"/>
          </a:p>
        </p:txBody>
      </p:sp>
      <p:sp>
        <p:nvSpPr>
          <p:cNvPr id="8" name="TextBox 64"/>
          <p:cNvSpPr/>
          <p:nvPr/>
        </p:nvSpPr>
        <p:spPr>
          <a:xfrm>
            <a:off x="609600" y="6005513"/>
            <a:ext cx="3454301" cy="319088"/>
          </a:xfrm>
          <a:prstGeom prst="rect">
            <a:avLst/>
          </a:prstGeom>
          <a:noFill/>
          <a:ln/>
        </p:spPr>
        <p:txBody>
          <a:bodyPr wrap="none" lIns="0" tIns="152400" rIns="0" bIns="0" rtlCol="0" anchor="t">
            <a:normAutofit/>
          </a:bodyPr>
          <a:lstStyle/>
          <a:p>
            <a:pPr marL="0" indent="0" algn="l">
              <a:lnSpc>
                <a:spcPct val="100000"/>
              </a:lnSpc>
              <a:buNone/>
            </a:pPr>
            <a:r>
              <a:rPr lang="en" altLang="en-US" sz="825" kern="0" spc="41" dirty="0">
                <a:solidFill>
                  <a:srgbClr val="CBD5E1"/>
                </a:solidFill>
                <a:latin typeface="JetBrains Mono" pitchFamily="34" charset="0"/>
                <a:ea typeface="JetBrains Mono" pitchFamily="34" charset="-122"/>
                <a:cs typeface="JetBrains Mono" pitchFamily="34" charset="-120"/>
              </a:rPr>
              <a:t>ARCHITECTURE SPECIFICATION // V1.0</a:t>
            </a:r>
            <a:endParaRPr lang="en" sz="825" dirty="0"/>
          </a:p>
        </p:txBody>
      </p:sp>
      <p:sp>
        <p:nvSpPr>
          <p:cNvPr id="9" name="TextBox 81"/>
          <p:cNvSpPr/>
          <p:nvPr/>
        </p:nvSpPr>
        <p:spPr>
          <a:xfrm>
            <a:off x="4740176" y="1752600"/>
            <a:ext cx="1725216" cy="239911"/>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Inter" pitchFamily="34" charset="0"/>
                <a:ea typeface="Inter" pitchFamily="34" charset="-122"/>
                <a:cs typeface="Inter" pitchFamily="34" charset="-120"/>
              </a:rPr>
              <a:t>Automated Issuance</a:t>
            </a:r>
            <a:endParaRPr lang="en" sz="1350" dirty="0"/>
          </a:p>
        </p:txBody>
      </p:sp>
      <p:sp>
        <p:nvSpPr>
          <p:cNvPr id="10" name="TextBox 84"/>
          <p:cNvSpPr/>
          <p:nvPr/>
        </p:nvSpPr>
        <p:spPr>
          <a:xfrm>
            <a:off x="4606826" y="2106811"/>
            <a:ext cx="3054400" cy="639812"/>
          </a:xfrm>
          <a:prstGeom prst="rect">
            <a:avLst/>
          </a:prstGeom>
          <a:noFill/>
          <a:ln/>
        </p:spPr>
        <p:txBody>
          <a:bodyPr wrap="none" lIns="0" tIns="0" rIns="0" bIns="0" rtlCol="0" anchor="t"/>
          <a:lstStyle/>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Tools for educational institutions to issue</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tamper-proof digital certificates directly to the</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blockchain.</a:t>
            </a:r>
            <a:endParaRPr lang="en" sz="1050" dirty="0"/>
          </a:p>
        </p:txBody>
      </p:sp>
      <p:sp>
        <p:nvSpPr>
          <p:cNvPr id="11" name="TextBox 98"/>
          <p:cNvSpPr/>
          <p:nvPr/>
        </p:nvSpPr>
        <p:spPr>
          <a:xfrm>
            <a:off x="8423225" y="1752600"/>
            <a:ext cx="1860054" cy="239911"/>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Inter" pitchFamily="34" charset="0"/>
                <a:ea typeface="Inter" pitchFamily="34" charset="-122"/>
                <a:cs typeface="Inter" pitchFamily="34" charset="-120"/>
              </a:rPr>
              <a:t>Decentralized Storage</a:t>
            </a:r>
            <a:endParaRPr lang="en" sz="1350" dirty="0"/>
          </a:p>
        </p:txBody>
      </p:sp>
      <p:sp>
        <p:nvSpPr>
          <p:cNvPr id="12" name="TextBox 101"/>
          <p:cNvSpPr/>
          <p:nvPr/>
        </p:nvSpPr>
        <p:spPr>
          <a:xfrm>
            <a:off x="8289875" y="2106811"/>
            <a:ext cx="3054400" cy="426541"/>
          </a:xfrm>
          <a:prstGeom prst="rect">
            <a:avLst/>
          </a:prstGeom>
          <a:noFill/>
          <a:ln/>
        </p:spPr>
        <p:txBody>
          <a:bodyPr wrap="none" lIns="0" tIns="0" rIns="0" bIns="0" rtlCol="0" anchor="t"/>
          <a:lstStyle/>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Leveraging IPFS for secure, distributed storage</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of document metadata and assets.</a:t>
            </a:r>
            <a:endParaRPr lang="en" sz="1050" dirty="0"/>
          </a:p>
        </p:txBody>
      </p:sp>
      <p:sp>
        <p:nvSpPr>
          <p:cNvPr id="13" name="TextBox 115"/>
          <p:cNvSpPr/>
          <p:nvPr/>
        </p:nvSpPr>
        <p:spPr>
          <a:xfrm>
            <a:off x="4740176" y="4233863"/>
            <a:ext cx="1600349" cy="239911"/>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Inter" pitchFamily="34" charset="0"/>
                <a:ea typeface="Inter" pitchFamily="34" charset="-122"/>
                <a:cs typeface="Inter" pitchFamily="34" charset="-120"/>
              </a:rPr>
              <a:t>Instant Verification</a:t>
            </a:r>
            <a:endParaRPr lang="en" sz="1350" dirty="0"/>
          </a:p>
        </p:txBody>
      </p:sp>
      <p:sp>
        <p:nvSpPr>
          <p:cNvPr id="14" name="TextBox 118"/>
          <p:cNvSpPr/>
          <p:nvPr/>
        </p:nvSpPr>
        <p:spPr>
          <a:xfrm>
            <a:off x="4606826" y="4588073"/>
            <a:ext cx="3054400" cy="639812"/>
          </a:xfrm>
          <a:prstGeom prst="rect">
            <a:avLst/>
          </a:prstGeom>
          <a:noFill/>
          <a:ln/>
        </p:spPr>
        <p:txBody>
          <a:bodyPr wrap="none" lIns="0" tIns="0" rIns="0" bIns="0" rtlCol="0" anchor="t"/>
          <a:lstStyle/>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A public-facing portal for employers and</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institutions to verify credentials in seconds</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using cryptographic proofs.</a:t>
            </a:r>
            <a:endParaRPr lang="en" sz="1050" dirty="0"/>
          </a:p>
        </p:txBody>
      </p:sp>
      <p:sp>
        <p:nvSpPr>
          <p:cNvPr id="15" name="TextBox 132"/>
          <p:cNvSpPr/>
          <p:nvPr/>
        </p:nvSpPr>
        <p:spPr>
          <a:xfrm>
            <a:off x="8423225" y="4233863"/>
            <a:ext cx="1615976" cy="239911"/>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Inter" pitchFamily="34" charset="0"/>
                <a:ea typeface="Inter" pitchFamily="34" charset="-122"/>
                <a:cs typeface="Inter" pitchFamily="34" charset="-120"/>
              </a:rPr>
              <a:t>Student Ownership</a:t>
            </a:r>
            <a:endParaRPr lang="en" sz="1350" dirty="0"/>
          </a:p>
        </p:txBody>
      </p:sp>
      <p:sp>
        <p:nvSpPr>
          <p:cNvPr id="16" name="TextBox 135"/>
          <p:cNvSpPr/>
          <p:nvPr/>
        </p:nvSpPr>
        <p:spPr>
          <a:xfrm>
            <a:off x="8289875" y="4588073"/>
            <a:ext cx="3054400" cy="639812"/>
          </a:xfrm>
          <a:prstGeom prst="rect">
            <a:avLst/>
          </a:prstGeom>
          <a:noFill/>
          <a:ln/>
        </p:spPr>
        <p:txBody>
          <a:bodyPr wrap="none" lIns="0" tIns="0" rIns="0" bIns="0" rtlCol="0" anchor="t"/>
          <a:lstStyle/>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Empowering learners to own and share their</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academic records without relying on</a:t>
            </a:r>
            <a:endParaRPr lang="en" sz="1050" dirty="0"/>
          </a:p>
          <a:p>
            <a:pPr marL="0" indent="0" algn="l">
              <a:lnSpc>
                <a:spcPts val="1680"/>
              </a:lnSpc>
              <a:buNone/>
            </a:pPr>
            <a:r>
              <a:rPr lang="en" altLang="en-US" sz="1050" dirty="0">
                <a:solidFill>
                  <a:srgbClr val="64748B"/>
                </a:solidFill>
                <a:latin typeface="Inter" pitchFamily="34" charset="0"/>
                <a:ea typeface="Inter" pitchFamily="34" charset="-122"/>
                <a:cs typeface="Inter" pitchFamily="34" charset="-120"/>
              </a:rPr>
              <a:t>intermediaries.</a:t>
            </a:r>
            <a:endParaRPr lang="en" sz="1050" dirty="0"/>
          </a:p>
        </p:txBody>
      </p:sp>
      <p:sp>
        <p:nvSpPr>
          <p:cNvPr id="18" name="TextBox 24">
            <a:extLst>
              <a:ext uri="{FF2B5EF4-FFF2-40B4-BE49-F238E27FC236}">
                <a16:creationId xmlns:a16="http://schemas.microsoft.com/office/drawing/2014/main" id="{E3A73AE3-5C1D-48B4-9C42-33DD474BD32B}"/>
              </a:ext>
            </a:extLst>
          </p:cNvPr>
          <p:cNvSpPr/>
          <p:nvPr/>
        </p:nvSpPr>
        <p:spPr>
          <a:xfrm>
            <a:off x="601388" y="471485"/>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4" name="TextBox 30"/>
          <p:cNvSpPr/>
          <p:nvPr/>
        </p:nvSpPr>
        <p:spPr>
          <a:xfrm>
            <a:off x="609600" y="751072"/>
            <a:ext cx="8830235" cy="514350"/>
          </a:xfrm>
          <a:prstGeom prst="rect">
            <a:avLst/>
          </a:prstGeom>
          <a:noFill/>
          <a:ln/>
        </p:spPr>
        <p:txBody>
          <a:bodyPr wrap="none" lIns="0" tIns="0" rIns="0" bIns="0" rtlCol="0" anchor="t">
            <a:noAutofit/>
          </a:bodyPr>
          <a:lstStyle/>
          <a:p>
            <a:r>
              <a:rPr lang="en" altLang="en-US" sz="3200" kern="0" dirty="0">
                <a:solidFill>
                  <a:srgbClr val="0F172A"/>
                </a:solidFill>
                <a:effectLst>
                  <a:outerShdw blurRad="38100" dist="38100" dir="2700000" algn="tl">
                    <a:srgbClr val="000000">
                      <a:alpha val="43137"/>
                    </a:srgbClr>
                  </a:outerShdw>
                </a:effectLst>
                <a:latin typeface="+mj-lt"/>
                <a:ea typeface="Inter" pitchFamily="34" charset="-122"/>
              </a:rPr>
              <a:t>Project Scope Building a Secure Ecosystem</a:t>
            </a:r>
            <a:endParaRPr lang="en-IN" sz="3200" kern="0" dirty="0">
              <a:solidFill>
                <a:srgbClr val="0F172A"/>
              </a:solidFill>
              <a:effectLst>
                <a:outerShdw blurRad="38100" dist="38100" dir="2700000" algn="tl">
                  <a:srgbClr val="000000">
                    <a:alpha val="43137"/>
                  </a:srgbClr>
                </a:outerShdw>
              </a:effectLst>
              <a:latin typeface="+mj-lt"/>
              <a:ea typeface="Inter" pitchFamily="34" charset="-122"/>
            </a:endParaRPr>
          </a:p>
          <a:p>
            <a:endParaRPr lang="en" sz="3200" kern="0" spc="200" dirty="0">
              <a:solidFill>
                <a:srgbClr val="0F172A"/>
              </a:solidFill>
              <a:latin typeface="Inter" pitchFamily="34" charset="0"/>
              <a:ea typeface="Inter" pitchFamily="34" charset="-122"/>
            </a:endParaRPr>
          </a:p>
        </p:txBody>
      </p:sp>
      <p:sp>
        <p:nvSpPr>
          <p:cNvPr id="26" name="TextBox 25">
            <a:extLst>
              <a:ext uri="{FF2B5EF4-FFF2-40B4-BE49-F238E27FC236}">
                <a16:creationId xmlns:a16="http://schemas.microsoft.com/office/drawing/2014/main" id="{258B3E41-B971-4ACC-8F4F-54F06C9CBEE7}"/>
              </a:ext>
            </a:extLst>
          </p:cNvPr>
          <p:cNvSpPr txBox="1"/>
          <p:nvPr/>
        </p:nvSpPr>
        <p:spPr>
          <a:xfrm>
            <a:off x="601388" y="4209535"/>
            <a:ext cx="3356008" cy="369332"/>
          </a:xfrm>
          <a:prstGeom prst="rect">
            <a:avLst/>
          </a:prstGeom>
          <a:noFill/>
        </p:spPr>
        <p:txBody>
          <a:bodyPr wrap="square">
            <a:spAutoFit/>
          </a:bodyPr>
          <a:lstStyle/>
          <a:p>
            <a:pPr marL="0" indent="0" algn="l">
              <a:lnSpc>
                <a:spcPct val="100000"/>
              </a:lnSpc>
              <a:buNone/>
            </a:pPr>
            <a:r>
              <a:rPr lang="en" altLang="en-US" sz="1800" b="1" kern="0" spc="83" dirty="0">
                <a:solidFill>
                  <a:srgbClr val="0052FF"/>
                </a:solidFill>
                <a:latin typeface="JetBrains Mono" pitchFamily="34" charset="0"/>
                <a:ea typeface="JetBrains Mono" pitchFamily="34" charset="-122"/>
                <a:cs typeface="JetBrains Mono" pitchFamily="34" charset="-120"/>
              </a:rPr>
              <a:t>CORE INSIGHT</a:t>
            </a:r>
            <a:endParaRPr lang="en" sz="1800" dirty="0"/>
          </a:p>
        </p:txBody>
      </p:sp>
      <p:sp>
        <p:nvSpPr>
          <p:cNvPr id="28" name="TextBox 27">
            <a:extLst>
              <a:ext uri="{FF2B5EF4-FFF2-40B4-BE49-F238E27FC236}">
                <a16:creationId xmlns:a16="http://schemas.microsoft.com/office/drawing/2014/main" id="{252BD0B4-4A85-4610-8DB2-CE609ED37318}"/>
              </a:ext>
            </a:extLst>
          </p:cNvPr>
          <p:cNvSpPr txBox="1"/>
          <p:nvPr/>
        </p:nvSpPr>
        <p:spPr>
          <a:xfrm>
            <a:off x="601388" y="4712196"/>
            <a:ext cx="3154506" cy="1170770"/>
          </a:xfrm>
          <a:prstGeom prst="rect">
            <a:avLst/>
          </a:prstGeom>
          <a:noFill/>
        </p:spPr>
        <p:txBody>
          <a:bodyPr wrap="square">
            <a:spAutoFit/>
          </a:bodyPr>
          <a:lstStyle/>
          <a:p>
            <a:pPr>
              <a:lnSpc>
                <a:spcPct val="150000"/>
              </a:lnSpc>
            </a:pPr>
            <a:r>
              <a:rPr lang="en-US" sz="1200" dirty="0">
                <a:solidFill>
                  <a:schemeClr val="bg2">
                    <a:lumMod val="25000"/>
                  </a:schemeClr>
                </a:solidFill>
                <a:effectLst/>
                <a:latin typeface="+mj-lt"/>
                <a:ea typeface="MS Mincho" panose="02020609040205080304" pitchFamily="49" charset="-128"/>
              </a:rPr>
              <a:t>Maintain sensitive personal information in the application database while exposing only appropriate public identifiers and cryptographic information on the blockchain</a:t>
            </a:r>
            <a:endParaRPr lang="en-IN" sz="1200" dirty="0">
              <a:solidFill>
                <a:schemeClr val="bg2">
                  <a:lumMod val="25000"/>
                </a:schemeClr>
              </a:solidFill>
              <a:latin typeface="+mj-lt"/>
            </a:endParaRPr>
          </a:p>
        </p:txBody>
      </p:sp>
      <p:sp>
        <p:nvSpPr>
          <p:cNvPr id="21" name="Rectangle 20">
            <a:extLst>
              <a:ext uri="{FF2B5EF4-FFF2-40B4-BE49-F238E27FC236}">
                <a16:creationId xmlns:a16="http://schemas.microsoft.com/office/drawing/2014/main" id="{0C85D513-DFA6-469E-8F3E-75DBFD0A6A66}"/>
              </a:ext>
            </a:extLst>
          </p:cNvPr>
          <p:cNvSpPr/>
          <p:nvPr/>
        </p:nvSpPr>
        <p:spPr>
          <a:xfrm>
            <a:off x="-11615715" y="2378041"/>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5EA4A8F4-7EBD-4D1E-AF2B-660BBBA6B46B}"/>
              </a:ext>
            </a:extLst>
          </p:cNvPr>
          <p:cNvSpPr/>
          <p:nvPr/>
        </p:nvSpPr>
        <p:spPr>
          <a:xfrm>
            <a:off x="-11615714" y="3329039"/>
            <a:ext cx="10972800" cy="115212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76AC4779-8C82-4C57-92E4-79DEC7A91D91}"/>
              </a:ext>
            </a:extLst>
          </p:cNvPr>
          <p:cNvSpPr/>
          <p:nvPr/>
        </p:nvSpPr>
        <p:spPr>
          <a:xfrm>
            <a:off x="-11615714" y="4705950"/>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1874BB0F-81CD-44CF-8019-ADB37C3A6593}"/>
              </a:ext>
            </a:extLst>
          </p:cNvPr>
          <p:cNvSpPr/>
          <p:nvPr/>
        </p:nvSpPr>
        <p:spPr>
          <a:xfrm>
            <a:off x="-11615716" y="5771487"/>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64">
            <a:extLst>
              <a:ext uri="{FF2B5EF4-FFF2-40B4-BE49-F238E27FC236}">
                <a16:creationId xmlns:a16="http://schemas.microsoft.com/office/drawing/2014/main" id="{CCE3FC25-17FB-4D38-882B-F3D6E88E9BF3}"/>
              </a:ext>
            </a:extLst>
          </p:cNvPr>
          <p:cNvSpPr/>
          <p:nvPr/>
        </p:nvSpPr>
        <p:spPr>
          <a:xfrm>
            <a:off x="-11582400" y="6230493"/>
            <a:ext cx="3454301" cy="319088"/>
          </a:xfrm>
          <a:prstGeom prst="rect">
            <a:avLst/>
          </a:prstGeom>
          <a:noFill/>
          <a:ln/>
        </p:spPr>
        <p:txBody>
          <a:bodyPr wrap="none" lIns="0" tIns="152400" rIns="0" bIns="0" rtlCol="0" anchor="t">
            <a:normAutofit/>
          </a:bodyPr>
          <a:lstStyle/>
          <a:p>
            <a:pPr marL="0" indent="0" algn="l">
              <a:lnSpc>
                <a:spcPct val="100000"/>
              </a:lnSpc>
              <a:buNone/>
            </a:pPr>
            <a:r>
              <a:rPr lang="en" altLang="en-US" sz="825" kern="0" spc="41" dirty="0">
                <a:solidFill>
                  <a:srgbClr val="CBD5E1"/>
                </a:solidFill>
                <a:latin typeface="JetBrains Mono" pitchFamily="34" charset="0"/>
                <a:ea typeface="JetBrains Mono" pitchFamily="34" charset="-122"/>
                <a:cs typeface="JetBrains Mono" pitchFamily="34" charset="-120"/>
              </a:rPr>
              <a:t>ARCHITECTURE SPECIFICATION // V1.0</a:t>
            </a:r>
            <a:endParaRPr lang="en" sz="825" dirty="0"/>
          </a:p>
        </p:txBody>
      </p:sp>
      <p:sp>
        <p:nvSpPr>
          <p:cNvPr id="30" name="TextBox 29">
            <a:extLst>
              <a:ext uri="{FF2B5EF4-FFF2-40B4-BE49-F238E27FC236}">
                <a16:creationId xmlns:a16="http://schemas.microsoft.com/office/drawing/2014/main" id="{4584F905-A5C4-476B-9037-067B55C900CC}"/>
              </a:ext>
            </a:extLst>
          </p:cNvPr>
          <p:cNvSpPr txBox="1"/>
          <p:nvPr/>
        </p:nvSpPr>
        <p:spPr>
          <a:xfrm>
            <a:off x="-11369977" y="2517023"/>
            <a:ext cx="2217103" cy="338554"/>
          </a:xfrm>
          <a:prstGeom prst="rect">
            <a:avLst/>
          </a:prstGeom>
          <a:noFill/>
        </p:spPr>
        <p:txBody>
          <a:bodyPr wrap="square">
            <a:spAutoFit/>
          </a:bodyPr>
          <a:lstStyle/>
          <a:p>
            <a:r>
              <a:rPr lang="en-IN" sz="1600" dirty="0"/>
              <a:t>Candidate Dashboard</a:t>
            </a:r>
          </a:p>
        </p:txBody>
      </p:sp>
      <p:sp>
        <p:nvSpPr>
          <p:cNvPr id="31" name="TextBox 30">
            <a:extLst>
              <a:ext uri="{FF2B5EF4-FFF2-40B4-BE49-F238E27FC236}">
                <a16:creationId xmlns:a16="http://schemas.microsoft.com/office/drawing/2014/main" id="{C85A3BA0-A574-4DA3-A5F0-DA7103C0BD84}"/>
              </a:ext>
            </a:extLst>
          </p:cNvPr>
          <p:cNvSpPr txBox="1"/>
          <p:nvPr/>
        </p:nvSpPr>
        <p:spPr>
          <a:xfrm>
            <a:off x="-11369977" y="3616993"/>
            <a:ext cx="2081432" cy="584775"/>
          </a:xfrm>
          <a:prstGeom prst="rect">
            <a:avLst/>
          </a:prstGeom>
          <a:noFill/>
        </p:spPr>
        <p:txBody>
          <a:bodyPr wrap="square">
            <a:spAutoFit/>
          </a:bodyPr>
          <a:lstStyle/>
          <a:p>
            <a:r>
              <a:rPr lang="en-IN" sz="1600" dirty="0"/>
              <a:t>Dynamic Result &amp;</a:t>
            </a:r>
          </a:p>
          <a:p>
            <a:r>
              <a:rPr lang="en-IN" sz="1600" dirty="0"/>
              <a:t>Grade Management</a:t>
            </a:r>
          </a:p>
        </p:txBody>
      </p:sp>
      <p:sp>
        <p:nvSpPr>
          <p:cNvPr id="32" name="TextBox 31">
            <a:extLst>
              <a:ext uri="{FF2B5EF4-FFF2-40B4-BE49-F238E27FC236}">
                <a16:creationId xmlns:a16="http://schemas.microsoft.com/office/drawing/2014/main" id="{DC9343AE-64FE-4721-B665-B4A5D1274408}"/>
              </a:ext>
            </a:extLst>
          </p:cNvPr>
          <p:cNvSpPr txBox="1"/>
          <p:nvPr/>
        </p:nvSpPr>
        <p:spPr>
          <a:xfrm>
            <a:off x="-11339269" y="4756798"/>
            <a:ext cx="2288198" cy="584775"/>
          </a:xfrm>
          <a:prstGeom prst="rect">
            <a:avLst/>
          </a:prstGeom>
          <a:noFill/>
        </p:spPr>
        <p:txBody>
          <a:bodyPr wrap="square">
            <a:spAutoFit/>
          </a:bodyPr>
          <a:lstStyle/>
          <a:p>
            <a:r>
              <a:rPr lang="en-IN" sz="1600" dirty="0"/>
              <a:t>Blockchain-based </a:t>
            </a:r>
          </a:p>
          <a:p>
            <a:r>
              <a:rPr lang="en-IN" sz="1600" dirty="0"/>
              <a:t>Document Verification</a:t>
            </a:r>
          </a:p>
        </p:txBody>
      </p:sp>
      <p:sp>
        <p:nvSpPr>
          <p:cNvPr id="33" name="Rectangle 32">
            <a:extLst>
              <a:ext uri="{FF2B5EF4-FFF2-40B4-BE49-F238E27FC236}">
                <a16:creationId xmlns:a16="http://schemas.microsoft.com/office/drawing/2014/main" id="{767E2856-4C42-41E0-BA2E-BB2CEF5F41A6}"/>
              </a:ext>
            </a:extLst>
          </p:cNvPr>
          <p:cNvSpPr/>
          <p:nvPr/>
        </p:nvSpPr>
        <p:spPr>
          <a:xfrm>
            <a:off x="-11615716" y="1427043"/>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TextBox 33">
            <a:extLst>
              <a:ext uri="{FF2B5EF4-FFF2-40B4-BE49-F238E27FC236}">
                <a16:creationId xmlns:a16="http://schemas.microsoft.com/office/drawing/2014/main" id="{6AFF5D6D-4E4A-4E88-B365-88D7036D7046}"/>
              </a:ext>
            </a:extLst>
          </p:cNvPr>
          <p:cNvSpPr txBox="1"/>
          <p:nvPr/>
        </p:nvSpPr>
        <p:spPr>
          <a:xfrm>
            <a:off x="-11369977" y="5962645"/>
            <a:ext cx="2081432" cy="338554"/>
          </a:xfrm>
          <a:prstGeom prst="rect">
            <a:avLst/>
          </a:prstGeom>
          <a:noFill/>
        </p:spPr>
        <p:txBody>
          <a:bodyPr wrap="square">
            <a:spAutoFit/>
          </a:bodyPr>
          <a:lstStyle/>
          <a:p>
            <a:r>
              <a:rPr lang="en-IN" sz="1600" dirty="0"/>
              <a:t>Decentralized Trust</a:t>
            </a:r>
          </a:p>
        </p:txBody>
      </p:sp>
      <p:sp>
        <p:nvSpPr>
          <p:cNvPr id="35" name="TextBox 34">
            <a:extLst>
              <a:ext uri="{FF2B5EF4-FFF2-40B4-BE49-F238E27FC236}">
                <a16:creationId xmlns:a16="http://schemas.microsoft.com/office/drawing/2014/main" id="{2A00972B-E47F-44ED-B02C-BC0A167BFCAD}"/>
              </a:ext>
            </a:extLst>
          </p:cNvPr>
          <p:cNvSpPr txBox="1"/>
          <p:nvPr/>
        </p:nvSpPr>
        <p:spPr>
          <a:xfrm>
            <a:off x="-11369977" y="1666872"/>
            <a:ext cx="2006018" cy="338554"/>
          </a:xfrm>
          <a:prstGeom prst="rect">
            <a:avLst/>
          </a:prstGeom>
          <a:noFill/>
        </p:spPr>
        <p:txBody>
          <a:bodyPr wrap="square">
            <a:spAutoFit/>
          </a:bodyPr>
          <a:lstStyle/>
          <a:p>
            <a:r>
              <a:rPr lang="en-IN" sz="1600" dirty="0"/>
              <a:t>Admin Dashboard:</a:t>
            </a:r>
          </a:p>
        </p:txBody>
      </p:sp>
      <p:sp>
        <p:nvSpPr>
          <p:cNvPr id="36" name="TextBox 35">
            <a:extLst>
              <a:ext uri="{FF2B5EF4-FFF2-40B4-BE49-F238E27FC236}">
                <a16:creationId xmlns:a16="http://schemas.microsoft.com/office/drawing/2014/main" id="{BFF67CB1-EFB2-4679-A47A-DB3A63957C03}"/>
              </a:ext>
            </a:extLst>
          </p:cNvPr>
          <p:cNvSpPr txBox="1"/>
          <p:nvPr/>
        </p:nvSpPr>
        <p:spPr>
          <a:xfrm>
            <a:off x="-9043216" y="1472544"/>
            <a:ext cx="8306354" cy="568617"/>
          </a:xfrm>
          <a:prstGeom prst="rect">
            <a:avLst/>
          </a:prstGeom>
          <a:noFill/>
        </p:spPr>
        <p:txBody>
          <a:bodyPr wrap="square">
            <a:spAutoFit/>
          </a:bodyPr>
          <a:lstStyle/>
          <a:p>
            <a:pPr>
              <a:lnSpc>
                <a:spcPct val="150000"/>
              </a:lnSpc>
            </a:pPr>
            <a:r>
              <a:rPr lang="en-US" sz="1100" b="1" spc="100" dirty="0">
                <a:solidFill>
                  <a:schemeClr val="tx1">
                    <a:lumMod val="65000"/>
                    <a:lumOff val="35000"/>
                  </a:schemeClr>
                </a:solidFill>
                <a:latin typeface="Segoe UI Light" panose="020B0502040204020203" pitchFamily="34" charset="0"/>
                <a:cs typeface="Segoe UI Light" panose="020B0502040204020203" pitchFamily="34" charset="0"/>
              </a:rPr>
              <a:t>Comprehensive management tools for creating courses, managing batches, enrolling students, scheduling exams, processing results, issuing certificates, and approving/minting digital ID cards. </a:t>
            </a:r>
            <a:endParaRPr lang="en-IN" sz="1100" b="1" spc="100" dirty="0">
              <a:solidFill>
                <a:schemeClr val="tx1">
                  <a:lumMod val="65000"/>
                  <a:lumOff val="35000"/>
                </a:schemeClr>
              </a:solidFill>
              <a:latin typeface="Segoe UI Light" panose="020B0502040204020203" pitchFamily="34" charset="0"/>
              <a:cs typeface="Segoe UI Light" panose="020B0502040204020203" pitchFamily="34" charset="0"/>
            </a:endParaRPr>
          </a:p>
        </p:txBody>
      </p:sp>
      <p:sp>
        <p:nvSpPr>
          <p:cNvPr id="37" name="TextBox 36">
            <a:extLst>
              <a:ext uri="{FF2B5EF4-FFF2-40B4-BE49-F238E27FC236}">
                <a16:creationId xmlns:a16="http://schemas.microsoft.com/office/drawing/2014/main" id="{16C7FF02-531E-4905-9483-DE1DBB0327C0}"/>
              </a:ext>
            </a:extLst>
          </p:cNvPr>
          <p:cNvSpPr txBox="1"/>
          <p:nvPr/>
        </p:nvSpPr>
        <p:spPr>
          <a:xfrm>
            <a:off x="-9058927" y="2418319"/>
            <a:ext cx="8322065"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A personalized portal for students to view enrolled courses, track upcoming exams, check semester results, request blockchain backed ID cards, and access their verified certificates</a:t>
            </a:r>
            <a:endParaRPr lang="en-IN" dirty="0"/>
          </a:p>
        </p:txBody>
      </p:sp>
      <p:sp>
        <p:nvSpPr>
          <p:cNvPr id="38" name="TextBox 37">
            <a:extLst>
              <a:ext uri="{FF2B5EF4-FFF2-40B4-BE49-F238E27FC236}">
                <a16:creationId xmlns:a16="http://schemas.microsoft.com/office/drawing/2014/main" id="{6953B20B-93A3-4A7D-BA4B-546334EB5D85}"/>
              </a:ext>
            </a:extLst>
          </p:cNvPr>
          <p:cNvSpPr txBox="1"/>
          <p:nvPr/>
        </p:nvSpPr>
        <p:spPr>
          <a:xfrm>
            <a:off x="-9051071" y="3352008"/>
            <a:ext cx="8322065" cy="314702"/>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Detailed management of marks and subjects dynamically based on the course type:</a:t>
            </a:r>
            <a:endParaRPr lang="en-IN" dirty="0"/>
          </a:p>
        </p:txBody>
      </p:sp>
      <p:sp>
        <p:nvSpPr>
          <p:cNvPr id="39" name="TextBox 38">
            <a:extLst>
              <a:ext uri="{FF2B5EF4-FFF2-40B4-BE49-F238E27FC236}">
                <a16:creationId xmlns:a16="http://schemas.microsoft.com/office/drawing/2014/main" id="{50139B8B-CF97-4687-879B-5E8FAF46D193}"/>
              </a:ext>
            </a:extLst>
          </p:cNvPr>
          <p:cNvSpPr txBox="1"/>
          <p:nvPr/>
        </p:nvSpPr>
        <p:spPr>
          <a:xfrm>
            <a:off x="-8663385" y="3604819"/>
            <a:ext cx="6094428" cy="314702"/>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pPr marL="171450" indent="-171450">
              <a:buClr>
                <a:schemeClr val="accent2">
                  <a:lumMod val="75000"/>
                </a:schemeClr>
              </a:buClr>
              <a:buFont typeface="Wingdings" panose="05000000000000000000" pitchFamily="2" charset="2"/>
              <a:buChar char="Ø"/>
            </a:pPr>
            <a:r>
              <a:rPr lang="en-US" dirty="0"/>
              <a:t>Certificate Courses: Direct evaluation with 2 core subjects.</a:t>
            </a:r>
          </a:p>
        </p:txBody>
      </p:sp>
      <p:sp>
        <p:nvSpPr>
          <p:cNvPr id="40" name="TextBox 39">
            <a:extLst>
              <a:ext uri="{FF2B5EF4-FFF2-40B4-BE49-F238E27FC236}">
                <a16:creationId xmlns:a16="http://schemas.microsoft.com/office/drawing/2014/main" id="{D9E36A89-D749-4FD2-8863-288F301C47EE}"/>
              </a:ext>
            </a:extLst>
          </p:cNvPr>
          <p:cNvSpPr txBox="1"/>
          <p:nvPr/>
        </p:nvSpPr>
        <p:spPr>
          <a:xfrm>
            <a:off x="-8663385" y="3906962"/>
            <a:ext cx="7934379"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pPr marL="171450" indent="-171450">
              <a:buClr>
                <a:schemeClr val="accent2">
                  <a:lumMod val="75000"/>
                </a:schemeClr>
              </a:buClr>
              <a:buFont typeface="Wingdings" panose="05000000000000000000" pitchFamily="2" charset="2"/>
              <a:buChar char="Ø"/>
            </a:pPr>
            <a:r>
              <a:rPr lang="en-US" dirty="0"/>
              <a:t>Diploma/Graduation Courses: Semester-based evaluation featuring 5 subjects per semester. The final consolidated certificate is only generated after all semesters are successfully completed.</a:t>
            </a:r>
            <a:endParaRPr lang="en-IN" dirty="0"/>
          </a:p>
        </p:txBody>
      </p:sp>
      <p:sp>
        <p:nvSpPr>
          <p:cNvPr id="41" name="TextBox 40">
            <a:extLst>
              <a:ext uri="{FF2B5EF4-FFF2-40B4-BE49-F238E27FC236}">
                <a16:creationId xmlns:a16="http://schemas.microsoft.com/office/drawing/2014/main" id="{0477F0FF-8036-46D0-BA52-2061F8FC2ED8}"/>
              </a:ext>
            </a:extLst>
          </p:cNvPr>
          <p:cNvSpPr txBox="1"/>
          <p:nvPr/>
        </p:nvSpPr>
        <p:spPr>
          <a:xfrm>
            <a:off x="-9058927" y="4772956"/>
            <a:ext cx="8131710"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Generates a cryptographic hash of certificate, ID card, and individual semester result details, securely storing them on the Ethereum blockchain. This ensures absolute immutability and verifiable authenticity. </a:t>
            </a:r>
            <a:endParaRPr lang="en-IN" dirty="0"/>
          </a:p>
        </p:txBody>
      </p:sp>
      <p:sp>
        <p:nvSpPr>
          <p:cNvPr id="42" name="TextBox 41">
            <a:extLst>
              <a:ext uri="{FF2B5EF4-FFF2-40B4-BE49-F238E27FC236}">
                <a16:creationId xmlns:a16="http://schemas.microsoft.com/office/drawing/2014/main" id="{650AE5E3-79E0-4B8B-A8A3-EC9F4AA707FE}"/>
              </a:ext>
            </a:extLst>
          </p:cNvPr>
          <p:cNvSpPr txBox="1"/>
          <p:nvPr/>
        </p:nvSpPr>
        <p:spPr>
          <a:xfrm>
            <a:off x="-9076122" y="5847613"/>
            <a:ext cx="8339260"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Secures academic credentials, semester results, and student identity on an immutable ledger, preventing unauthorized modifications.</a:t>
            </a:r>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639909-686E-4927-9455-9A7C99A0C46C}"/>
              </a:ext>
            </a:extLst>
          </p:cNvPr>
          <p:cNvSpPr/>
          <p:nvPr/>
        </p:nvSpPr>
        <p:spPr>
          <a:xfrm>
            <a:off x="576285" y="2378041"/>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56A778D8-7EE1-46F3-9016-35DC1B3D1989}"/>
              </a:ext>
            </a:extLst>
          </p:cNvPr>
          <p:cNvSpPr/>
          <p:nvPr/>
        </p:nvSpPr>
        <p:spPr>
          <a:xfrm>
            <a:off x="576286" y="3329039"/>
            <a:ext cx="10972800" cy="115212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D68F273A-CED1-4FFD-A0FD-64A63AEB5808}"/>
              </a:ext>
            </a:extLst>
          </p:cNvPr>
          <p:cNvSpPr/>
          <p:nvPr/>
        </p:nvSpPr>
        <p:spPr>
          <a:xfrm>
            <a:off x="576286" y="4705950"/>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BBC8F620-0459-46BF-A86D-64279F993953}"/>
              </a:ext>
            </a:extLst>
          </p:cNvPr>
          <p:cNvSpPr/>
          <p:nvPr/>
        </p:nvSpPr>
        <p:spPr>
          <a:xfrm>
            <a:off x="576284" y="5771487"/>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0"/>
          <p:cNvSpPr/>
          <p:nvPr/>
        </p:nvSpPr>
        <p:spPr>
          <a:xfrm>
            <a:off x="576286" y="712353"/>
            <a:ext cx="10972800" cy="514350"/>
          </a:xfrm>
          <a:prstGeom prst="rect">
            <a:avLst/>
          </a:prstGeom>
          <a:noFill/>
          <a:ln/>
        </p:spPr>
        <p:txBody>
          <a:bodyPr wrap="none" lIns="0" tIns="0" rIns="0" bIns="0" rtlCol="0" anchor="t">
            <a:noAutofit/>
          </a:bodyPr>
          <a:lstStyle/>
          <a:p>
            <a:pPr marL="0" indent="0" algn="l">
              <a:lnSpc>
                <a:spcPct val="100000"/>
              </a:lnSpc>
              <a:buNone/>
            </a:pPr>
            <a:r>
              <a:rPr lang="en-IN" altLang="en-US" sz="3600" kern="0" spc="200" dirty="0">
                <a:solidFill>
                  <a:srgbClr val="0F172A"/>
                </a:solidFill>
                <a:effectLst>
                  <a:outerShdw blurRad="38100" dist="38100" dir="2700000" algn="tl">
                    <a:srgbClr val="000000">
                      <a:alpha val="43137"/>
                    </a:srgbClr>
                  </a:outerShdw>
                </a:effectLst>
                <a:latin typeface="+mj-lt"/>
                <a:ea typeface="Inter" pitchFamily="34" charset="-122"/>
                <a:cs typeface="Inter" pitchFamily="34" charset="-120"/>
              </a:rPr>
              <a:t>Project features</a:t>
            </a:r>
            <a:endParaRPr lang="en" sz="3600" spc="200" dirty="0">
              <a:effectLst>
                <a:outerShdw blurRad="38100" dist="38100" dir="2700000" algn="tl">
                  <a:srgbClr val="000000">
                    <a:alpha val="43137"/>
                  </a:srgbClr>
                </a:outerShdw>
              </a:effectLst>
              <a:latin typeface="+mj-lt"/>
            </a:endParaRPr>
          </a:p>
        </p:txBody>
      </p:sp>
      <p:sp>
        <p:nvSpPr>
          <p:cNvPr id="8" name="TextBox 64"/>
          <p:cNvSpPr/>
          <p:nvPr/>
        </p:nvSpPr>
        <p:spPr>
          <a:xfrm>
            <a:off x="609600" y="6230493"/>
            <a:ext cx="3454301" cy="319088"/>
          </a:xfrm>
          <a:prstGeom prst="rect">
            <a:avLst/>
          </a:prstGeom>
          <a:noFill/>
          <a:ln/>
        </p:spPr>
        <p:txBody>
          <a:bodyPr wrap="none" lIns="0" tIns="152400" rIns="0" bIns="0" rtlCol="0" anchor="t">
            <a:normAutofit/>
          </a:bodyPr>
          <a:lstStyle/>
          <a:p>
            <a:pPr marL="0" indent="0" algn="l">
              <a:lnSpc>
                <a:spcPct val="100000"/>
              </a:lnSpc>
              <a:buNone/>
            </a:pPr>
            <a:r>
              <a:rPr lang="en" altLang="en-US" sz="825" kern="0" spc="41" dirty="0">
                <a:solidFill>
                  <a:srgbClr val="CBD5E1"/>
                </a:solidFill>
                <a:latin typeface="JetBrains Mono" pitchFamily="34" charset="0"/>
                <a:ea typeface="JetBrains Mono" pitchFamily="34" charset="-122"/>
                <a:cs typeface="JetBrains Mono" pitchFamily="34" charset="-120"/>
              </a:rPr>
              <a:t>ARCHITECTURE SPECIFICATION // V1.0</a:t>
            </a:r>
            <a:endParaRPr lang="en" sz="825" dirty="0"/>
          </a:p>
        </p:txBody>
      </p:sp>
      <p:sp>
        <p:nvSpPr>
          <p:cNvPr id="17" name="TextBox 24">
            <a:extLst>
              <a:ext uri="{FF2B5EF4-FFF2-40B4-BE49-F238E27FC236}">
                <a16:creationId xmlns:a16="http://schemas.microsoft.com/office/drawing/2014/main" id="{A7853A67-98DA-4308-8B02-7C349AD9241C}"/>
              </a:ext>
            </a:extLst>
          </p:cNvPr>
          <p:cNvSpPr/>
          <p:nvPr/>
        </p:nvSpPr>
        <p:spPr>
          <a:xfrm>
            <a:off x="601388" y="359566"/>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21" name="TextBox 20">
            <a:extLst>
              <a:ext uri="{FF2B5EF4-FFF2-40B4-BE49-F238E27FC236}">
                <a16:creationId xmlns:a16="http://schemas.microsoft.com/office/drawing/2014/main" id="{F76DA47F-1100-4CF7-B64B-6F336EA286BD}"/>
              </a:ext>
            </a:extLst>
          </p:cNvPr>
          <p:cNvSpPr txBox="1"/>
          <p:nvPr/>
        </p:nvSpPr>
        <p:spPr>
          <a:xfrm>
            <a:off x="822023" y="2517023"/>
            <a:ext cx="2217103" cy="338554"/>
          </a:xfrm>
          <a:prstGeom prst="rect">
            <a:avLst/>
          </a:prstGeom>
          <a:noFill/>
        </p:spPr>
        <p:txBody>
          <a:bodyPr wrap="square">
            <a:spAutoFit/>
          </a:bodyPr>
          <a:lstStyle/>
          <a:p>
            <a:r>
              <a:rPr lang="en-IN" sz="1600" b="1" dirty="0"/>
              <a:t>Candidate Dashboard</a:t>
            </a:r>
          </a:p>
        </p:txBody>
      </p:sp>
      <p:sp>
        <p:nvSpPr>
          <p:cNvPr id="23" name="TextBox 22">
            <a:extLst>
              <a:ext uri="{FF2B5EF4-FFF2-40B4-BE49-F238E27FC236}">
                <a16:creationId xmlns:a16="http://schemas.microsoft.com/office/drawing/2014/main" id="{A2C549F2-590C-4D30-9BAB-898110CA4A82}"/>
              </a:ext>
            </a:extLst>
          </p:cNvPr>
          <p:cNvSpPr txBox="1"/>
          <p:nvPr/>
        </p:nvSpPr>
        <p:spPr>
          <a:xfrm>
            <a:off x="822023" y="3616993"/>
            <a:ext cx="2081432" cy="584775"/>
          </a:xfrm>
          <a:prstGeom prst="rect">
            <a:avLst/>
          </a:prstGeom>
          <a:noFill/>
        </p:spPr>
        <p:txBody>
          <a:bodyPr wrap="square">
            <a:spAutoFit/>
          </a:bodyPr>
          <a:lstStyle/>
          <a:p>
            <a:r>
              <a:rPr lang="en-IN" sz="1600" b="1" dirty="0"/>
              <a:t>Dynamic Result &amp;</a:t>
            </a:r>
          </a:p>
          <a:p>
            <a:r>
              <a:rPr lang="en-IN" sz="1600" b="1" dirty="0"/>
              <a:t>Grade Management</a:t>
            </a:r>
          </a:p>
        </p:txBody>
      </p:sp>
      <p:sp>
        <p:nvSpPr>
          <p:cNvPr id="25" name="TextBox 24">
            <a:extLst>
              <a:ext uri="{FF2B5EF4-FFF2-40B4-BE49-F238E27FC236}">
                <a16:creationId xmlns:a16="http://schemas.microsoft.com/office/drawing/2014/main" id="{F28E3E3B-FFEE-4D30-84B5-779F781635C3}"/>
              </a:ext>
            </a:extLst>
          </p:cNvPr>
          <p:cNvSpPr txBox="1"/>
          <p:nvPr/>
        </p:nvSpPr>
        <p:spPr>
          <a:xfrm>
            <a:off x="852731" y="4756798"/>
            <a:ext cx="2288198" cy="584775"/>
          </a:xfrm>
          <a:prstGeom prst="rect">
            <a:avLst/>
          </a:prstGeom>
          <a:noFill/>
        </p:spPr>
        <p:txBody>
          <a:bodyPr wrap="square">
            <a:spAutoFit/>
          </a:bodyPr>
          <a:lstStyle/>
          <a:p>
            <a:r>
              <a:rPr lang="en-IN" sz="1600" b="1" dirty="0"/>
              <a:t>Blockchain-based </a:t>
            </a:r>
          </a:p>
          <a:p>
            <a:r>
              <a:rPr lang="en-IN" sz="1600" b="1" dirty="0"/>
              <a:t>Document Verification</a:t>
            </a:r>
          </a:p>
        </p:txBody>
      </p:sp>
      <p:sp>
        <p:nvSpPr>
          <p:cNvPr id="28" name="Rectangle 27">
            <a:extLst>
              <a:ext uri="{FF2B5EF4-FFF2-40B4-BE49-F238E27FC236}">
                <a16:creationId xmlns:a16="http://schemas.microsoft.com/office/drawing/2014/main" id="{A1253F3F-2549-42B2-B7BF-99DF32C64E55}"/>
              </a:ext>
            </a:extLst>
          </p:cNvPr>
          <p:cNvSpPr/>
          <p:nvPr/>
        </p:nvSpPr>
        <p:spPr>
          <a:xfrm>
            <a:off x="576284" y="1427043"/>
            <a:ext cx="10972800" cy="72087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TextBox 26">
            <a:extLst>
              <a:ext uri="{FF2B5EF4-FFF2-40B4-BE49-F238E27FC236}">
                <a16:creationId xmlns:a16="http://schemas.microsoft.com/office/drawing/2014/main" id="{9AFB54C6-4595-44A3-AB70-AD6E89D747CE}"/>
              </a:ext>
            </a:extLst>
          </p:cNvPr>
          <p:cNvSpPr txBox="1"/>
          <p:nvPr/>
        </p:nvSpPr>
        <p:spPr>
          <a:xfrm>
            <a:off x="822023" y="5962645"/>
            <a:ext cx="2081432" cy="338554"/>
          </a:xfrm>
          <a:prstGeom prst="rect">
            <a:avLst/>
          </a:prstGeom>
          <a:noFill/>
        </p:spPr>
        <p:txBody>
          <a:bodyPr wrap="square">
            <a:spAutoFit/>
          </a:bodyPr>
          <a:lstStyle/>
          <a:p>
            <a:r>
              <a:rPr lang="en-IN" sz="1600" b="1" dirty="0"/>
              <a:t>Security Trust</a:t>
            </a:r>
          </a:p>
        </p:txBody>
      </p:sp>
      <p:sp>
        <p:nvSpPr>
          <p:cNvPr id="19" name="TextBox 18">
            <a:extLst>
              <a:ext uri="{FF2B5EF4-FFF2-40B4-BE49-F238E27FC236}">
                <a16:creationId xmlns:a16="http://schemas.microsoft.com/office/drawing/2014/main" id="{D7A3D23B-54F9-4E45-BA13-80FD76174EA0}"/>
              </a:ext>
            </a:extLst>
          </p:cNvPr>
          <p:cNvSpPr txBox="1"/>
          <p:nvPr/>
        </p:nvSpPr>
        <p:spPr>
          <a:xfrm>
            <a:off x="822023" y="1666872"/>
            <a:ext cx="2006018" cy="338554"/>
          </a:xfrm>
          <a:prstGeom prst="rect">
            <a:avLst/>
          </a:prstGeom>
          <a:noFill/>
        </p:spPr>
        <p:txBody>
          <a:bodyPr wrap="square">
            <a:spAutoFit/>
          </a:bodyPr>
          <a:lstStyle/>
          <a:p>
            <a:r>
              <a:rPr lang="en-IN" sz="1600" b="1" dirty="0">
                <a:solidFill>
                  <a:srgbClr val="C00000"/>
                </a:solidFill>
              </a:rPr>
              <a:t>Admin Dashboard:</a:t>
            </a:r>
          </a:p>
        </p:txBody>
      </p:sp>
      <p:sp>
        <p:nvSpPr>
          <p:cNvPr id="34" name="TextBox 33">
            <a:extLst>
              <a:ext uri="{FF2B5EF4-FFF2-40B4-BE49-F238E27FC236}">
                <a16:creationId xmlns:a16="http://schemas.microsoft.com/office/drawing/2014/main" id="{25830D67-3837-4A09-9A8D-497CF1A840F8}"/>
              </a:ext>
            </a:extLst>
          </p:cNvPr>
          <p:cNvSpPr txBox="1"/>
          <p:nvPr/>
        </p:nvSpPr>
        <p:spPr>
          <a:xfrm>
            <a:off x="3148784" y="1472544"/>
            <a:ext cx="8306354" cy="568617"/>
          </a:xfrm>
          <a:prstGeom prst="rect">
            <a:avLst/>
          </a:prstGeom>
          <a:noFill/>
        </p:spPr>
        <p:txBody>
          <a:bodyPr wrap="square">
            <a:spAutoFit/>
          </a:bodyPr>
          <a:lstStyle/>
          <a:p>
            <a:pPr>
              <a:lnSpc>
                <a:spcPct val="150000"/>
              </a:lnSpc>
            </a:pPr>
            <a:r>
              <a:rPr lang="en-US" sz="1100" b="1" spc="100" dirty="0">
                <a:solidFill>
                  <a:schemeClr val="tx1">
                    <a:lumMod val="65000"/>
                    <a:lumOff val="35000"/>
                  </a:schemeClr>
                </a:solidFill>
                <a:latin typeface="Segoe UI Light" panose="020B0502040204020203" pitchFamily="34" charset="0"/>
                <a:cs typeface="Segoe UI Light" panose="020B0502040204020203" pitchFamily="34" charset="0"/>
              </a:rPr>
              <a:t>Comprehensive management tools for creating courses, managing batches, enrolling students, scheduling exams, processing results, issuing certificates, and approving/minting digital ID cards. </a:t>
            </a:r>
            <a:endParaRPr lang="en-IN" sz="1100" b="1" spc="100" dirty="0">
              <a:solidFill>
                <a:schemeClr val="tx1">
                  <a:lumMod val="65000"/>
                  <a:lumOff val="35000"/>
                </a:schemeClr>
              </a:solidFill>
              <a:latin typeface="Segoe UI Light" panose="020B0502040204020203" pitchFamily="34" charset="0"/>
              <a:cs typeface="Segoe UI Light" panose="020B0502040204020203" pitchFamily="34" charset="0"/>
            </a:endParaRPr>
          </a:p>
        </p:txBody>
      </p:sp>
      <p:sp>
        <p:nvSpPr>
          <p:cNvPr id="36" name="TextBox 35">
            <a:extLst>
              <a:ext uri="{FF2B5EF4-FFF2-40B4-BE49-F238E27FC236}">
                <a16:creationId xmlns:a16="http://schemas.microsoft.com/office/drawing/2014/main" id="{E5C62C5D-BFD4-4455-A518-1A0F86147E2D}"/>
              </a:ext>
            </a:extLst>
          </p:cNvPr>
          <p:cNvSpPr txBox="1"/>
          <p:nvPr/>
        </p:nvSpPr>
        <p:spPr>
          <a:xfrm>
            <a:off x="3133073" y="2418319"/>
            <a:ext cx="8322065"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A personalized portal for students to view enrolled courses, track upcoming exams, check semester results, request blockchain backed ID cards, and access their verified certificates</a:t>
            </a:r>
            <a:endParaRPr lang="en-IN" dirty="0"/>
          </a:p>
        </p:txBody>
      </p:sp>
      <p:sp>
        <p:nvSpPr>
          <p:cNvPr id="38" name="TextBox 37">
            <a:extLst>
              <a:ext uri="{FF2B5EF4-FFF2-40B4-BE49-F238E27FC236}">
                <a16:creationId xmlns:a16="http://schemas.microsoft.com/office/drawing/2014/main" id="{D547D910-7A15-4403-8709-CB4DEFED0A5E}"/>
              </a:ext>
            </a:extLst>
          </p:cNvPr>
          <p:cNvSpPr txBox="1"/>
          <p:nvPr/>
        </p:nvSpPr>
        <p:spPr>
          <a:xfrm>
            <a:off x="3140929" y="3352008"/>
            <a:ext cx="8322065" cy="314702"/>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Detailed management of marks and subjects dynamically based on the course type:</a:t>
            </a:r>
            <a:endParaRPr lang="en-IN" dirty="0"/>
          </a:p>
        </p:txBody>
      </p:sp>
      <p:sp>
        <p:nvSpPr>
          <p:cNvPr id="40" name="TextBox 39">
            <a:extLst>
              <a:ext uri="{FF2B5EF4-FFF2-40B4-BE49-F238E27FC236}">
                <a16:creationId xmlns:a16="http://schemas.microsoft.com/office/drawing/2014/main" id="{4BD8230B-5068-4D6A-9299-150BDEED753F}"/>
              </a:ext>
            </a:extLst>
          </p:cNvPr>
          <p:cNvSpPr txBox="1"/>
          <p:nvPr/>
        </p:nvSpPr>
        <p:spPr>
          <a:xfrm>
            <a:off x="3528615" y="3604819"/>
            <a:ext cx="6094428" cy="314702"/>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pPr marL="171450" indent="-171450">
              <a:buClr>
                <a:schemeClr val="accent2">
                  <a:lumMod val="75000"/>
                </a:schemeClr>
              </a:buClr>
              <a:buFont typeface="Wingdings" panose="05000000000000000000" pitchFamily="2" charset="2"/>
              <a:buChar char="Ø"/>
            </a:pPr>
            <a:r>
              <a:rPr lang="en-US" dirty="0"/>
              <a:t>Certificate Courses: Direct evaluation with 2 core subjects.</a:t>
            </a:r>
          </a:p>
        </p:txBody>
      </p:sp>
      <p:sp>
        <p:nvSpPr>
          <p:cNvPr id="42" name="TextBox 41">
            <a:extLst>
              <a:ext uri="{FF2B5EF4-FFF2-40B4-BE49-F238E27FC236}">
                <a16:creationId xmlns:a16="http://schemas.microsoft.com/office/drawing/2014/main" id="{784C3F6B-CBB8-4D62-A377-B7F1AFC805A8}"/>
              </a:ext>
            </a:extLst>
          </p:cNvPr>
          <p:cNvSpPr txBox="1"/>
          <p:nvPr/>
        </p:nvSpPr>
        <p:spPr>
          <a:xfrm>
            <a:off x="3528615" y="3906962"/>
            <a:ext cx="7934379"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pPr marL="171450" indent="-171450">
              <a:buClr>
                <a:schemeClr val="accent2">
                  <a:lumMod val="75000"/>
                </a:schemeClr>
              </a:buClr>
              <a:buFont typeface="Wingdings" panose="05000000000000000000" pitchFamily="2" charset="2"/>
              <a:buChar char="Ø"/>
            </a:pPr>
            <a:r>
              <a:rPr lang="en-US" dirty="0"/>
              <a:t>Diploma/Graduation Courses: Semester-based evaluation featuring 5 subjects per semester. The final consolidated certificate is only generated after all semesters are successfully completed.</a:t>
            </a:r>
            <a:endParaRPr lang="en-IN" dirty="0"/>
          </a:p>
        </p:txBody>
      </p:sp>
      <p:sp>
        <p:nvSpPr>
          <p:cNvPr id="44" name="TextBox 43">
            <a:extLst>
              <a:ext uri="{FF2B5EF4-FFF2-40B4-BE49-F238E27FC236}">
                <a16:creationId xmlns:a16="http://schemas.microsoft.com/office/drawing/2014/main" id="{8CB25171-DAAF-4802-ACEB-2837DC894A51}"/>
              </a:ext>
            </a:extLst>
          </p:cNvPr>
          <p:cNvSpPr txBox="1"/>
          <p:nvPr/>
        </p:nvSpPr>
        <p:spPr>
          <a:xfrm>
            <a:off x="3133073" y="4772956"/>
            <a:ext cx="8131710"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Generates a cryptographic hash of certificate, ID card, and individual semester result details, securely storing them on the Ethereum blockchain. This ensures absolute immutability and verifiable authenticity. </a:t>
            </a:r>
            <a:endParaRPr lang="en-IN" dirty="0"/>
          </a:p>
        </p:txBody>
      </p:sp>
      <p:sp>
        <p:nvSpPr>
          <p:cNvPr id="46" name="TextBox 45">
            <a:extLst>
              <a:ext uri="{FF2B5EF4-FFF2-40B4-BE49-F238E27FC236}">
                <a16:creationId xmlns:a16="http://schemas.microsoft.com/office/drawing/2014/main" id="{CB7D0D2C-0077-4860-8131-0C9173749A6F}"/>
              </a:ext>
            </a:extLst>
          </p:cNvPr>
          <p:cNvSpPr txBox="1"/>
          <p:nvPr/>
        </p:nvSpPr>
        <p:spPr>
          <a:xfrm>
            <a:off x="3115878" y="5847613"/>
            <a:ext cx="8339260" cy="568617"/>
          </a:xfrm>
          <a:prstGeom prst="rect">
            <a:avLst/>
          </a:prstGeom>
          <a:noFill/>
        </p:spPr>
        <p:txBody>
          <a:bodyPr wrap="square">
            <a:spAutoFit/>
          </a:bodyPr>
          <a:lstStyle>
            <a:lvl1pPr>
              <a:lnSpc>
                <a:spcPct val="150000"/>
              </a:lnSpc>
              <a:defRPr sz="1100" b="1" spc="100">
                <a:solidFill>
                  <a:schemeClr val="tx1">
                    <a:lumMod val="65000"/>
                    <a:lumOff val="35000"/>
                  </a:schemeClr>
                </a:solidFill>
                <a:latin typeface="Segoe UI Light" panose="020B0502040204020203" pitchFamily="34" charset="0"/>
                <a:cs typeface="Segoe UI Light" panose="020B0502040204020203" pitchFamily="34" charset="0"/>
              </a:defRPr>
            </a:lvl1pPr>
          </a:lstStyle>
          <a:p>
            <a:r>
              <a:rPr lang="en-US" dirty="0"/>
              <a:t>Secures academic credentials, semester results, and student identity on an immutable ledger, preventing unauthorized modifications.</a:t>
            </a:r>
            <a:endParaRPr lang="en-IN" dirty="0"/>
          </a:p>
        </p:txBody>
      </p:sp>
      <p:sp>
        <p:nvSpPr>
          <p:cNvPr id="22" name="Rectangle: Rounded Corners 21">
            <a:extLst>
              <a:ext uri="{FF2B5EF4-FFF2-40B4-BE49-F238E27FC236}">
                <a16:creationId xmlns:a16="http://schemas.microsoft.com/office/drawing/2014/main" id="{BEBE4298-9411-49C8-8E11-53B0267115A9}"/>
              </a:ext>
            </a:extLst>
          </p:cNvPr>
          <p:cNvSpPr/>
          <p:nvPr/>
        </p:nvSpPr>
        <p:spPr>
          <a:xfrm>
            <a:off x="319453" y="7509358"/>
            <a:ext cx="3585158" cy="3891611"/>
          </a:xfrm>
          <a:prstGeom prst="roundRect">
            <a:avLst>
              <a:gd name="adj" fmla="val 2889"/>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4" name="Rectangle: Rounded Corners 23">
            <a:extLst>
              <a:ext uri="{FF2B5EF4-FFF2-40B4-BE49-F238E27FC236}">
                <a16:creationId xmlns:a16="http://schemas.microsoft.com/office/drawing/2014/main" id="{C886F258-CCA9-4988-AD76-AB3464C76489}"/>
              </a:ext>
            </a:extLst>
          </p:cNvPr>
          <p:cNvSpPr/>
          <p:nvPr/>
        </p:nvSpPr>
        <p:spPr>
          <a:xfrm>
            <a:off x="4303420" y="7509357"/>
            <a:ext cx="3585158" cy="3926375"/>
          </a:xfrm>
          <a:prstGeom prst="roundRect">
            <a:avLst>
              <a:gd name="adj" fmla="val 2889"/>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6" name="Rectangle: Rounded Corners 25">
            <a:extLst>
              <a:ext uri="{FF2B5EF4-FFF2-40B4-BE49-F238E27FC236}">
                <a16:creationId xmlns:a16="http://schemas.microsoft.com/office/drawing/2014/main" id="{FE69E447-0024-4642-A6AA-F9A2E193F118}"/>
              </a:ext>
            </a:extLst>
          </p:cNvPr>
          <p:cNvSpPr/>
          <p:nvPr/>
        </p:nvSpPr>
        <p:spPr>
          <a:xfrm>
            <a:off x="8287388" y="7509357"/>
            <a:ext cx="3585158" cy="3926375"/>
          </a:xfrm>
          <a:prstGeom prst="roundRect">
            <a:avLst>
              <a:gd name="adj" fmla="val 2889"/>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3" name="TextBox 32">
            <a:extLst>
              <a:ext uri="{FF2B5EF4-FFF2-40B4-BE49-F238E27FC236}">
                <a16:creationId xmlns:a16="http://schemas.microsoft.com/office/drawing/2014/main" id="{B0E420E1-8753-47FD-A5B2-085830E5D5AF}"/>
              </a:ext>
            </a:extLst>
          </p:cNvPr>
          <p:cNvSpPr txBox="1"/>
          <p:nvPr/>
        </p:nvSpPr>
        <p:spPr>
          <a:xfrm>
            <a:off x="704163" y="7816351"/>
            <a:ext cx="2692644" cy="392159"/>
          </a:xfrm>
          <a:prstGeom prst="rect">
            <a:avLst/>
          </a:prstGeom>
          <a:noFill/>
        </p:spPr>
        <p:txBody>
          <a:bodyPr wrap="square">
            <a:spAutoFit/>
          </a:bodyPr>
          <a:lstStyle/>
          <a:p>
            <a:pPr algn="ctr">
              <a:lnSpc>
                <a:spcPct val="115000"/>
              </a:lnSpc>
              <a:spcBef>
                <a:spcPts val="1000"/>
              </a:spcBef>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Technical Feasibility</a:t>
            </a:r>
            <a:endParaRPr lang="en-IN"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35" name="TextBox 34">
            <a:extLst>
              <a:ext uri="{FF2B5EF4-FFF2-40B4-BE49-F238E27FC236}">
                <a16:creationId xmlns:a16="http://schemas.microsoft.com/office/drawing/2014/main" id="{79DC684C-4CE5-489E-96F0-B032932A65CB}"/>
              </a:ext>
            </a:extLst>
          </p:cNvPr>
          <p:cNvSpPr txBox="1"/>
          <p:nvPr/>
        </p:nvSpPr>
        <p:spPr>
          <a:xfrm>
            <a:off x="4740884" y="7816351"/>
            <a:ext cx="2587136" cy="392159"/>
          </a:xfrm>
          <a:prstGeom prst="rect">
            <a:avLst/>
          </a:prstGeom>
          <a:noFill/>
        </p:spPr>
        <p:txBody>
          <a:bodyPr wrap="square">
            <a:spAutoFit/>
          </a:bodyPr>
          <a:lstStyle>
            <a:lvl1pPr algn="ctr">
              <a:lnSpc>
                <a:spcPct val="115000"/>
              </a:lnSpc>
              <a:spcBef>
                <a:spcPts val="1000"/>
              </a:spcBef>
              <a:defRPr b="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defRPr>
            </a:lvl1pPr>
          </a:lstStyle>
          <a:p>
            <a:r>
              <a:rPr lang="en-IN" dirty="0"/>
              <a:t>Operational Feasibility</a:t>
            </a:r>
          </a:p>
        </p:txBody>
      </p:sp>
      <p:sp>
        <p:nvSpPr>
          <p:cNvPr id="37" name="TextBox 36">
            <a:extLst>
              <a:ext uri="{FF2B5EF4-FFF2-40B4-BE49-F238E27FC236}">
                <a16:creationId xmlns:a16="http://schemas.microsoft.com/office/drawing/2014/main" id="{2520F4BF-7666-4C13-8407-6B87FADE3BE2}"/>
              </a:ext>
            </a:extLst>
          </p:cNvPr>
          <p:cNvSpPr txBox="1"/>
          <p:nvPr/>
        </p:nvSpPr>
        <p:spPr>
          <a:xfrm>
            <a:off x="8755625" y="7817826"/>
            <a:ext cx="2525590" cy="390684"/>
          </a:xfrm>
          <a:prstGeom prst="rect">
            <a:avLst/>
          </a:prstGeom>
          <a:noFill/>
        </p:spPr>
        <p:txBody>
          <a:bodyPr wrap="square">
            <a:spAutoFit/>
          </a:bodyPr>
          <a:lstStyle>
            <a:lvl1pPr algn="ctr">
              <a:lnSpc>
                <a:spcPct val="115000"/>
              </a:lnSpc>
              <a:spcBef>
                <a:spcPts val="1000"/>
              </a:spcBef>
              <a:defRPr b="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defRPr>
            </a:lvl1pPr>
          </a:lstStyle>
          <a:p>
            <a:r>
              <a:rPr lang="en-US" dirty="0"/>
              <a:t>Economic Feasibility</a:t>
            </a:r>
            <a:endParaRPr lang="en-IN" dirty="0"/>
          </a:p>
        </p:txBody>
      </p:sp>
      <p:sp>
        <p:nvSpPr>
          <p:cNvPr id="39" name="TextBox 38">
            <a:extLst>
              <a:ext uri="{FF2B5EF4-FFF2-40B4-BE49-F238E27FC236}">
                <a16:creationId xmlns:a16="http://schemas.microsoft.com/office/drawing/2014/main" id="{29F07BDD-8A43-4242-8278-20629EA418DB}"/>
              </a:ext>
            </a:extLst>
          </p:cNvPr>
          <p:cNvSpPr txBox="1"/>
          <p:nvPr/>
        </p:nvSpPr>
        <p:spPr>
          <a:xfrm>
            <a:off x="569128" y="9464638"/>
            <a:ext cx="2948879" cy="1725729"/>
          </a:xfrm>
          <a:prstGeom prst="rect">
            <a:avLst/>
          </a:prstGeom>
          <a:noFill/>
        </p:spPr>
        <p:txBody>
          <a:bodyPr wrap="square">
            <a:spAutoFit/>
          </a:bodyPr>
          <a:lstStyle/>
          <a:p>
            <a:pPr algn="ctr">
              <a:lnSpc>
                <a:spcPct val="150000"/>
              </a:lnSpc>
              <a:spcAft>
                <a:spcPts val="1000"/>
              </a:spcAft>
            </a:pPr>
            <a:r>
              <a:rPr lang="en-US" sz="1200" dirty="0">
                <a:solidFill>
                  <a:schemeClr val="bg2">
                    <a:lumMod val="25000"/>
                  </a:schemeClr>
                </a:solidFill>
                <a:effectLst/>
                <a:latin typeface="Segoe UI Variable Text Light" pitchFamily="2" charset="0"/>
                <a:ea typeface="MS Mincho" panose="02020609040205080304" pitchFamily="49" charset="-128"/>
                <a:cs typeface="Segoe UI Light" panose="020B0502040204020203" pitchFamily="34" charset="0"/>
              </a:rPr>
              <a:t>The project is technically feasible because the MERN stack provides an established architecture for scalable web applications, while Ethereum and Hardhat provide an established environment for smart-contract development and local blockchain testing.</a:t>
            </a:r>
            <a:endParaRPr lang="en-IN" sz="1200" dirty="0">
              <a:solidFill>
                <a:schemeClr val="bg2">
                  <a:lumMod val="25000"/>
                </a:schemeClr>
              </a:solidFill>
              <a:effectLst/>
              <a:latin typeface="Segoe UI Variable Text Light" pitchFamily="2" charset="0"/>
              <a:ea typeface="MS Mincho" panose="02020609040205080304" pitchFamily="49" charset="-128"/>
              <a:cs typeface="Segoe UI Light" panose="020B0502040204020203" pitchFamily="34" charset="0"/>
            </a:endParaRPr>
          </a:p>
        </p:txBody>
      </p:sp>
      <p:sp>
        <p:nvSpPr>
          <p:cNvPr id="41" name="TextBox 30">
            <a:extLst>
              <a:ext uri="{FF2B5EF4-FFF2-40B4-BE49-F238E27FC236}">
                <a16:creationId xmlns:a16="http://schemas.microsoft.com/office/drawing/2014/main" id="{47A1395D-F294-4E7F-98F0-A7D79A91D965}"/>
              </a:ext>
            </a:extLst>
          </p:cNvPr>
          <p:cNvSpPr/>
          <p:nvPr/>
        </p:nvSpPr>
        <p:spPr>
          <a:xfrm>
            <a:off x="4532250" y="9704784"/>
            <a:ext cx="3095625" cy="1442896"/>
          </a:xfrm>
          <a:prstGeom prst="rect">
            <a:avLst/>
          </a:prstGeom>
          <a:noFill/>
        </p:spPr>
        <p:txBody>
          <a:bodyPr wrap="square">
            <a:spAutoFit/>
          </a:bodyPr>
          <a:lstStyle/>
          <a:p>
            <a:pPr algn="ctr">
              <a:lnSpc>
                <a:spcPct val="150000"/>
              </a:lnSpc>
              <a:spcAft>
                <a:spcPts val="1000"/>
              </a:spcAft>
            </a:pPr>
            <a:r>
              <a:rPr lang="en-US" sz="1200" dirty="0">
                <a:solidFill>
                  <a:schemeClr val="bg2">
                    <a:lumMod val="25000"/>
                  </a:schemeClr>
                </a:solidFill>
                <a:latin typeface="Segoe UI Variable Text Light" pitchFamily="2" charset="0"/>
                <a:ea typeface="MS Mincho" panose="02020609040205080304" pitchFamily="49" charset="-128"/>
                <a:cs typeface="Segoe UI Light" panose="020B0502040204020203" pitchFamily="34" charset="0"/>
              </a:rPr>
              <a:t>The interface is designed to abstract blockchain complexity from administrators and students. Users interact with familiar web interfaces while blockchain transactions are handled by the application workflow.</a:t>
            </a:r>
            <a:endParaRPr lang="en-IN" sz="1200" dirty="0">
              <a:solidFill>
                <a:schemeClr val="bg2">
                  <a:lumMod val="25000"/>
                </a:schemeClr>
              </a:solidFill>
              <a:latin typeface="Segoe UI Variable Text Light" pitchFamily="2" charset="0"/>
              <a:ea typeface="MS Mincho" panose="02020609040205080304" pitchFamily="49" charset="-128"/>
              <a:cs typeface="Segoe UI Light" panose="020B0502040204020203" pitchFamily="34" charset="0"/>
            </a:endParaRPr>
          </a:p>
        </p:txBody>
      </p:sp>
      <p:sp>
        <p:nvSpPr>
          <p:cNvPr id="43" name="TextBox 42">
            <a:extLst>
              <a:ext uri="{FF2B5EF4-FFF2-40B4-BE49-F238E27FC236}">
                <a16:creationId xmlns:a16="http://schemas.microsoft.com/office/drawing/2014/main" id="{153EBA9F-9DCD-421A-8C65-738DA04A91A6}"/>
              </a:ext>
            </a:extLst>
          </p:cNvPr>
          <p:cNvSpPr txBox="1"/>
          <p:nvPr/>
        </p:nvSpPr>
        <p:spPr>
          <a:xfrm>
            <a:off x="8597345" y="9774324"/>
            <a:ext cx="2965243" cy="1442896"/>
          </a:xfrm>
          <a:prstGeom prst="rect">
            <a:avLst/>
          </a:prstGeom>
          <a:noFill/>
        </p:spPr>
        <p:txBody>
          <a:bodyPr wrap="square">
            <a:spAutoFit/>
          </a:bodyPr>
          <a:lstStyle>
            <a:lvl1pPr algn="ctr">
              <a:lnSpc>
                <a:spcPct val="150000"/>
              </a:lnSpc>
              <a:spcAft>
                <a:spcPts val="1000"/>
              </a:spcAft>
              <a:defRPr sz="1200">
                <a:solidFill>
                  <a:schemeClr val="bg2">
                    <a:lumMod val="25000"/>
                  </a:schemeClr>
                </a:solidFill>
                <a:effectLst/>
                <a:latin typeface="Segoe UI Variable Text Light" pitchFamily="2" charset="0"/>
                <a:ea typeface="MS Mincho" panose="02020609040205080304" pitchFamily="49" charset="-128"/>
                <a:cs typeface="Segoe UI Light" panose="020B0502040204020203" pitchFamily="34" charset="0"/>
              </a:defRPr>
            </a:lvl1pPr>
          </a:lstStyle>
          <a:p>
            <a:r>
              <a:rPr lang="en-US" dirty="0"/>
              <a:t>During development, a local Hardhat network can be used to avoid gas costs. For production, optimized smart contracts and appropriate network selection can be used to control transaction costs.</a:t>
            </a:r>
            <a:endParaRPr lang="en-IN" dirty="0"/>
          </a:p>
        </p:txBody>
      </p:sp>
      <p:pic>
        <p:nvPicPr>
          <p:cNvPr id="45" name="Graphic 44">
            <a:extLst>
              <a:ext uri="{FF2B5EF4-FFF2-40B4-BE49-F238E27FC236}">
                <a16:creationId xmlns:a16="http://schemas.microsoft.com/office/drawing/2014/main" id="{A0D3B9A4-353E-4A8A-A888-A06AAE9613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73554" y="8338649"/>
            <a:ext cx="1140029" cy="1047729"/>
          </a:xfrm>
          <a:prstGeom prst="rect">
            <a:avLst/>
          </a:prstGeom>
        </p:spPr>
      </p:pic>
      <p:pic>
        <p:nvPicPr>
          <p:cNvPr id="47" name="Picture 46">
            <a:extLst>
              <a:ext uri="{FF2B5EF4-FFF2-40B4-BE49-F238E27FC236}">
                <a16:creationId xmlns:a16="http://schemas.microsoft.com/office/drawing/2014/main" id="{BB7BAAFF-5E0A-4335-8FF3-04E764072D76}"/>
              </a:ext>
            </a:extLst>
          </p:cNvPr>
          <p:cNvPicPr>
            <a:picLocks noChangeAspect="1"/>
          </p:cNvPicPr>
          <p:nvPr/>
        </p:nvPicPr>
        <p:blipFill>
          <a:blip r:embed="rId7"/>
          <a:stretch>
            <a:fillRect/>
          </a:stretch>
        </p:blipFill>
        <p:spPr>
          <a:xfrm>
            <a:off x="5546939" y="8338649"/>
            <a:ext cx="1098121" cy="1098121"/>
          </a:xfrm>
          <a:prstGeom prst="rect">
            <a:avLst/>
          </a:prstGeom>
        </p:spPr>
      </p:pic>
      <p:pic>
        <p:nvPicPr>
          <p:cNvPr id="48" name="Picture 47">
            <a:extLst>
              <a:ext uri="{FF2B5EF4-FFF2-40B4-BE49-F238E27FC236}">
                <a16:creationId xmlns:a16="http://schemas.microsoft.com/office/drawing/2014/main" id="{C38BCC9F-F9E8-470E-98F4-7A8744E30E6F}"/>
              </a:ext>
            </a:extLst>
          </p:cNvPr>
          <p:cNvPicPr>
            <a:picLocks noChangeAspect="1"/>
          </p:cNvPicPr>
          <p:nvPr/>
        </p:nvPicPr>
        <p:blipFill>
          <a:blip r:embed="rId8"/>
          <a:stretch>
            <a:fillRect/>
          </a:stretch>
        </p:blipFill>
        <p:spPr>
          <a:xfrm>
            <a:off x="9499307" y="8117336"/>
            <a:ext cx="1347302" cy="1347302"/>
          </a:xfrm>
          <a:prstGeom prst="rect">
            <a:avLst/>
          </a:prstGeom>
        </p:spPr>
      </p:pic>
    </p:spTree>
    <p:extLst>
      <p:ext uri="{BB962C8B-B14F-4D97-AF65-F5344CB8AC3E}">
        <p14:creationId xmlns:p14="http://schemas.microsoft.com/office/powerpoint/2010/main" val="140273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Rectangle: Rounded Corners 4"/>
          <p:cNvSpPr/>
          <p:nvPr/>
        </p:nvSpPr>
        <p:spPr>
          <a:xfrm>
            <a:off x="5772150" y="1743075"/>
            <a:ext cx="569118"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Rounded Corners 5"/>
          <p:cNvSpPr/>
          <p:nvPr/>
        </p:nvSpPr>
        <p:spPr>
          <a:xfrm>
            <a:off x="5772150" y="3333750"/>
            <a:ext cx="604391"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Rounded Corners 6"/>
          <p:cNvSpPr/>
          <p:nvPr/>
        </p:nvSpPr>
        <p:spPr>
          <a:xfrm>
            <a:off x="5772150" y="5057775"/>
            <a:ext cx="609600"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568" y="1397918"/>
            <a:ext cx="5004837" cy="1138773"/>
          </a:xfrm>
          <a:prstGeom prst="rect">
            <a:avLst/>
          </a:prstGeom>
          <a:noFill/>
        </p:spPr>
        <p:txBody>
          <a:bodyPr wrap="square" lIns="0" tIns="0" rIns="0" bIns="0" anchor="t">
            <a:spAutoFit/>
          </a:bodyPr>
          <a:lstStyle/>
          <a:p>
            <a:pPr algn="l">
              <a:spcBef>
                <a:spcPts val="600"/>
              </a:spcBef>
              <a:spcAft>
                <a:spcPts val="600"/>
              </a:spcAft>
            </a:pPr>
            <a:r>
              <a:rPr lang="en-IN" sz="3200" i="0" u="none" spc="100" dirty="0">
                <a:ln w="0"/>
                <a:effectLst>
                  <a:outerShdw blurRad="38100" dist="38100" dir="2700000" algn="tl">
                    <a:srgbClr val="000000">
                      <a:alpha val="43137"/>
                    </a:srgbClr>
                  </a:outerShdw>
                </a:effectLst>
                <a:latin typeface="+mj-lt"/>
              </a:rPr>
              <a:t>Project System </a:t>
            </a:r>
          </a:p>
          <a:p>
            <a:pPr algn="l">
              <a:spcBef>
                <a:spcPts val="600"/>
              </a:spcBef>
              <a:spcAft>
                <a:spcPts val="600"/>
              </a:spcAft>
            </a:pPr>
            <a:r>
              <a:rPr lang="en-IN" sz="3200" i="0" u="none" spc="100" dirty="0">
                <a:ln w="0"/>
                <a:effectLst>
                  <a:outerShdw blurRad="38100" dist="38100" dir="2700000" algn="tl">
                    <a:srgbClr val="000000">
                      <a:alpha val="43137"/>
                    </a:srgbClr>
                  </a:outerShdw>
                </a:effectLst>
                <a:latin typeface="+mj-lt"/>
              </a:rPr>
              <a:t>Analysis Design</a:t>
            </a:r>
          </a:p>
        </p:txBody>
      </p:sp>
      <p:sp>
        <p:nvSpPr>
          <p:cNvPr id="10" name="TextBox 9"/>
          <p:cNvSpPr txBox="1"/>
          <p:nvPr/>
        </p:nvSpPr>
        <p:spPr>
          <a:xfrm>
            <a:off x="5932884" y="1909762"/>
            <a:ext cx="560070" cy="276225"/>
          </a:xfrm>
          <a:prstGeom prst="rect">
            <a:avLst/>
          </a:prstGeom>
          <a:noFill/>
        </p:spPr>
        <p:txBody>
          <a:bodyPr wrap="none" lIns="0" tIns="0" rIns="0" bIns="0" anchor="t">
            <a:spAutoFit/>
          </a:bodyPr>
          <a:lstStyle/>
          <a:p>
            <a:pPr algn="l"/>
            <a:r>
              <a:rPr sz="1800" b="1" i="0" u="none" dirty="0">
                <a:solidFill>
                  <a:srgbClr val="FFFFFF"/>
                </a:solidFill>
                <a:latin typeface="Inter"/>
              </a:rPr>
              <a:t>01</a:t>
            </a:r>
          </a:p>
        </p:txBody>
      </p:sp>
      <p:sp>
        <p:nvSpPr>
          <p:cNvPr id="11" name="TextBox 10"/>
          <p:cNvSpPr txBox="1"/>
          <p:nvPr/>
        </p:nvSpPr>
        <p:spPr>
          <a:xfrm>
            <a:off x="6600973" y="1743075"/>
            <a:ext cx="3850482" cy="253916"/>
          </a:xfrm>
          <a:prstGeom prst="rect">
            <a:avLst/>
          </a:prstGeom>
          <a:noFill/>
        </p:spPr>
        <p:txBody>
          <a:bodyPr wrap="square" lIns="0" tIns="0" rIns="0" bIns="0" anchor="t">
            <a:spAutoFit/>
          </a:bodyPr>
          <a:lstStyle/>
          <a:p>
            <a:pPr algn="l"/>
            <a:r>
              <a:rPr sz="1650" b="1" i="0" u="none" dirty="0">
                <a:solidFill>
                  <a:srgbClr val="0F172A"/>
                </a:solidFill>
                <a:latin typeface="Inter"/>
              </a:rPr>
              <a:t>Administrative Domain</a:t>
            </a:r>
          </a:p>
        </p:txBody>
      </p:sp>
      <p:sp>
        <p:nvSpPr>
          <p:cNvPr id="12" name="TextBox 11"/>
          <p:cNvSpPr txBox="1"/>
          <p:nvPr/>
        </p:nvSpPr>
        <p:spPr>
          <a:xfrm>
            <a:off x="6600973" y="2064535"/>
            <a:ext cx="5152877" cy="520079"/>
          </a:xfrm>
          <a:prstGeom prst="rect">
            <a:avLst/>
          </a:prstGeom>
          <a:noFill/>
        </p:spPr>
        <p:txBody>
          <a:bodyPr wrap="square" lIns="0" tIns="0" rIns="0" bIns="0" anchor="t">
            <a:spAutoFit/>
          </a:bodyPr>
          <a:lstStyle/>
          <a:p>
            <a:pPr algn="l">
              <a:lnSpc>
                <a:spcPct val="150000"/>
              </a:lnSpc>
            </a:pPr>
            <a:r>
              <a:rPr lang="en-US" sz="1200" b="0" i="0" u="none" dirty="0">
                <a:solidFill>
                  <a:srgbClr val="475569"/>
                </a:solidFill>
                <a:latin typeface="Inter"/>
              </a:rPr>
              <a:t>Manages the core educational workflows —from course  creation to ID card approvals, semester result uploads, and final certificate issuance.</a:t>
            </a:r>
            <a:endParaRPr sz="1200" b="0" i="0" u="none" dirty="0">
              <a:solidFill>
                <a:srgbClr val="475569"/>
              </a:solidFill>
              <a:latin typeface="Inter"/>
            </a:endParaRPr>
          </a:p>
        </p:txBody>
      </p:sp>
      <p:sp>
        <p:nvSpPr>
          <p:cNvPr id="13" name="TextBox 12"/>
          <p:cNvSpPr txBox="1"/>
          <p:nvPr/>
        </p:nvSpPr>
        <p:spPr>
          <a:xfrm>
            <a:off x="5926633" y="3500437"/>
            <a:ext cx="610076" cy="276225"/>
          </a:xfrm>
          <a:prstGeom prst="rect">
            <a:avLst/>
          </a:prstGeom>
          <a:noFill/>
        </p:spPr>
        <p:txBody>
          <a:bodyPr wrap="none" lIns="0" tIns="0" rIns="0" bIns="0" anchor="t">
            <a:spAutoFit/>
          </a:bodyPr>
          <a:lstStyle/>
          <a:p>
            <a:pPr algn="l"/>
            <a:r>
              <a:rPr sz="1800" b="1" i="0" u="none">
                <a:solidFill>
                  <a:srgbClr val="FFFFFF"/>
                </a:solidFill>
                <a:latin typeface="Inter"/>
              </a:rPr>
              <a:t>02</a:t>
            </a:r>
          </a:p>
        </p:txBody>
      </p:sp>
      <p:sp>
        <p:nvSpPr>
          <p:cNvPr id="14" name="TextBox 13"/>
          <p:cNvSpPr txBox="1"/>
          <p:nvPr/>
        </p:nvSpPr>
        <p:spPr>
          <a:xfrm>
            <a:off x="6578559" y="3320966"/>
            <a:ext cx="3681859" cy="253916"/>
          </a:xfrm>
          <a:prstGeom prst="rect">
            <a:avLst/>
          </a:prstGeom>
          <a:noFill/>
        </p:spPr>
        <p:txBody>
          <a:bodyPr wrap="square" lIns="0" tIns="0" rIns="0" bIns="0" anchor="t">
            <a:spAutoFit/>
          </a:bodyPr>
          <a:lstStyle/>
          <a:p>
            <a:pPr algn="l"/>
            <a:r>
              <a:rPr sz="1650" b="1" i="0" u="none" dirty="0">
                <a:solidFill>
                  <a:srgbClr val="0F172A"/>
                </a:solidFill>
                <a:latin typeface="Inter"/>
              </a:rPr>
              <a:t>Candidate Domain</a:t>
            </a:r>
          </a:p>
        </p:txBody>
      </p:sp>
      <p:sp>
        <p:nvSpPr>
          <p:cNvPr id="15" name="TextBox 14"/>
          <p:cNvSpPr txBox="1"/>
          <p:nvPr/>
        </p:nvSpPr>
        <p:spPr>
          <a:xfrm>
            <a:off x="6578559" y="3649356"/>
            <a:ext cx="5004838" cy="797078"/>
          </a:xfrm>
          <a:prstGeom prst="rect">
            <a:avLst/>
          </a:prstGeom>
          <a:noFill/>
        </p:spPr>
        <p:txBody>
          <a:bodyPr wrap="square" lIns="0" tIns="0" rIns="0" bIns="0" anchor="t">
            <a:spAutoFit/>
          </a:bodyPr>
          <a:lstStyle>
            <a:lvl1pPr>
              <a:lnSpc>
                <a:spcPct val="150000"/>
              </a:lnSpc>
              <a:defRPr sz="1200" b="0" i="0" u="none">
                <a:solidFill>
                  <a:srgbClr val="475569"/>
                </a:solidFill>
                <a:latin typeface="Inter"/>
              </a:defRPr>
            </a:lvl1pPr>
          </a:lstStyle>
          <a:p>
            <a:r>
              <a:rPr lang="en-US" dirty="0"/>
              <a:t>Allows students to access their educational records, request Web3 ID cards, view individual semester results, and access cryptographic certificates upon course completion</a:t>
            </a:r>
            <a:endParaRPr dirty="0"/>
          </a:p>
        </p:txBody>
      </p:sp>
      <p:sp>
        <p:nvSpPr>
          <p:cNvPr id="16" name="TextBox 15"/>
          <p:cNvSpPr txBox="1"/>
          <p:nvPr/>
        </p:nvSpPr>
        <p:spPr>
          <a:xfrm>
            <a:off x="5924550" y="5224462"/>
            <a:ext cx="620077" cy="276225"/>
          </a:xfrm>
          <a:prstGeom prst="rect">
            <a:avLst/>
          </a:prstGeom>
          <a:noFill/>
        </p:spPr>
        <p:txBody>
          <a:bodyPr wrap="none" lIns="0" tIns="0" rIns="0" bIns="0" anchor="t">
            <a:spAutoFit/>
          </a:bodyPr>
          <a:lstStyle/>
          <a:p>
            <a:pPr algn="l"/>
            <a:r>
              <a:rPr sz="1800" b="1" i="0" u="none">
                <a:solidFill>
                  <a:srgbClr val="FFFFFF"/>
                </a:solidFill>
                <a:latin typeface="Inter"/>
              </a:rPr>
              <a:t>03</a:t>
            </a:r>
          </a:p>
        </p:txBody>
      </p:sp>
      <p:sp>
        <p:nvSpPr>
          <p:cNvPr id="17" name="TextBox 16"/>
          <p:cNvSpPr txBox="1"/>
          <p:nvPr/>
        </p:nvSpPr>
        <p:spPr>
          <a:xfrm>
            <a:off x="6644282" y="5024437"/>
            <a:ext cx="4263032" cy="247650"/>
          </a:xfrm>
          <a:prstGeom prst="rect">
            <a:avLst/>
          </a:prstGeom>
          <a:noFill/>
        </p:spPr>
        <p:txBody>
          <a:bodyPr wrap="none" lIns="0" tIns="0" rIns="0" bIns="0" anchor="t">
            <a:spAutoFit/>
          </a:bodyPr>
          <a:lstStyle/>
          <a:p>
            <a:pPr algn="l"/>
            <a:r>
              <a:rPr sz="1650" b="1" i="0" u="none" dirty="0">
                <a:solidFill>
                  <a:srgbClr val="0F172A"/>
                </a:solidFill>
                <a:latin typeface="Inter"/>
              </a:rPr>
              <a:t>Blockchain Domain</a:t>
            </a:r>
          </a:p>
        </p:txBody>
      </p:sp>
      <p:pic>
        <p:nvPicPr>
          <p:cNvPr id="20" name="Picture 19">
            <a:extLst>
              <a:ext uri="{FF2B5EF4-FFF2-40B4-BE49-F238E27FC236}">
                <a16:creationId xmlns:a16="http://schemas.microsoft.com/office/drawing/2014/main" id="{53B997FA-FA46-4E22-8164-9D10B4BC70CD}"/>
              </a:ext>
            </a:extLst>
          </p:cNvPr>
          <p:cNvPicPr>
            <a:picLocks noChangeAspect="1"/>
          </p:cNvPicPr>
          <p:nvPr/>
        </p:nvPicPr>
        <p:blipFill>
          <a:blip r:embed="rId3"/>
          <a:stretch>
            <a:fillRect/>
          </a:stretch>
        </p:blipFill>
        <p:spPr>
          <a:xfrm>
            <a:off x="347568" y="3237194"/>
            <a:ext cx="5004838" cy="1412312"/>
          </a:xfrm>
          <a:prstGeom prst="rect">
            <a:avLst/>
          </a:prstGeom>
        </p:spPr>
      </p:pic>
      <p:sp>
        <p:nvSpPr>
          <p:cNvPr id="18" name="TextBox 17"/>
          <p:cNvSpPr txBox="1"/>
          <p:nvPr/>
        </p:nvSpPr>
        <p:spPr>
          <a:xfrm>
            <a:off x="6600973" y="5362574"/>
            <a:ext cx="4982424" cy="797078"/>
          </a:xfrm>
          <a:prstGeom prst="rect">
            <a:avLst/>
          </a:prstGeom>
          <a:noFill/>
        </p:spPr>
        <p:txBody>
          <a:bodyPr wrap="square" lIns="0" tIns="0" rIns="0" bIns="0" anchor="t">
            <a:spAutoFit/>
          </a:bodyPr>
          <a:lstStyle>
            <a:lvl1pPr>
              <a:lnSpc>
                <a:spcPct val="150000"/>
              </a:lnSpc>
              <a:defRPr sz="1200" b="0" i="0" u="none">
                <a:solidFill>
                  <a:srgbClr val="475569"/>
                </a:solidFill>
                <a:latin typeface="Inter"/>
              </a:defRPr>
            </a:lvl1pPr>
          </a:lstStyle>
          <a:p>
            <a:r>
              <a:rPr lang="en-US" dirty="0"/>
              <a:t> Acts as the immutable ledger. When an ID card, semester result, or final certificate is generated, its unique hash and transaction details are permanently recorded on the blockchain.</a:t>
            </a:r>
            <a:endParaRPr dirty="0"/>
          </a:p>
        </p:txBody>
      </p:sp>
      <p:sp>
        <p:nvSpPr>
          <p:cNvPr id="9" name="TextBox 8"/>
          <p:cNvSpPr txBox="1"/>
          <p:nvPr/>
        </p:nvSpPr>
        <p:spPr>
          <a:xfrm>
            <a:off x="566113" y="3417734"/>
            <a:ext cx="4548812" cy="996298"/>
          </a:xfrm>
          <a:prstGeom prst="rect">
            <a:avLst/>
          </a:prstGeom>
          <a:noFill/>
        </p:spPr>
        <p:txBody>
          <a:bodyPr wrap="square" lIns="0" tIns="0" rIns="0" bIns="0" anchor="t">
            <a:spAutoFit/>
          </a:bodyPr>
          <a:lstStyle/>
          <a:p>
            <a:pPr algn="just">
              <a:lnSpc>
                <a:spcPct val="150000"/>
              </a:lnSpc>
            </a:pPr>
            <a:r>
              <a:rPr lang="en-US" sz="1500" b="0" i="0" u="none" dirty="0">
                <a:solidFill>
                  <a:srgbClr val="475569"/>
                </a:solidFill>
                <a:latin typeface="Inter"/>
              </a:rPr>
              <a:t>The system operates around three primary domains: Administration, Student Portal, and the Blockchain Network</a:t>
            </a:r>
            <a:endParaRPr sz="1500" b="0" i="0" u="none" dirty="0">
              <a:solidFill>
                <a:srgbClr val="475569"/>
              </a:solidFill>
              <a:latin typeface="Inter"/>
            </a:endParaRPr>
          </a:p>
        </p:txBody>
      </p:sp>
      <p:sp>
        <p:nvSpPr>
          <p:cNvPr id="21" name="TextBox 24">
            <a:extLst>
              <a:ext uri="{FF2B5EF4-FFF2-40B4-BE49-F238E27FC236}">
                <a16:creationId xmlns:a16="http://schemas.microsoft.com/office/drawing/2014/main" id="{2512A5E3-B2E9-427C-96CB-21BD9458D36B}"/>
              </a:ext>
            </a:extLst>
          </p:cNvPr>
          <p:cNvSpPr/>
          <p:nvPr/>
        </p:nvSpPr>
        <p:spPr>
          <a:xfrm>
            <a:off x="377017" y="471484"/>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19" name="Picture 18">
            <a:extLst>
              <a:ext uri="{FF2B5EF4-FFF2-40B4-BE49-F238E27FC236}">
                <a16:creationId xmlns:a16="http://schemas.microsoft.com/office/drawing/2014/main" id="{479019F7-976B-4200-9567-3E488356DBAE}"/>
              </a:ext>
            </a:extLst>
          </p:cNvPr>
          <p:cNvPicPr>
            <a:picLocks noChangeAspect="1"/>
          </p:cNvPicPr>
          <p:nvPr/>
        </p:nvPicPr>
        <p:blipFill rotWithShape="1">
          <a:blip r:embed="rId4"/>
          <a:srcRect t="-321" b="-235"/>
          <a:stretch/>
        </p:blipFill>
        <p:spPr>
          <a:xfrm>
            <a:off x="6768445" y="7515190"/>
            <a:ext cx="561269" cy="711687"/>
          </a:xfrm>
          <a:prstGeom prst="rect">
            <a:avLst/>
          </a:prstGeom>
        </p:spPr>
      </p:pic>
      <p:pic>
        <p:nvPicPr>
          <p:cNvPr id="22" name="Picture 21">
            <a:extLst>
              <a:ext uri="{FF2B5EF4-FFF2-40B4-BE49-F238E27FC236}">
                <a16:creationId xmlns:a16="http://schemas.microsoft.com/office/drawing/2014/main" id="{4064118C-B72F-44B5-914D-49B51E7EED73}"/>
              </a:ext>
            </a:extLst>
          </p:cNvPr>
          <p:cNvPicPr>
            <a:picLocks noChangeAspect="1"/>
          </p:cNvPicPr>
          <p:nvPr/>
        </p:nvPicPr>
        <p:blipFill>
          <a:blip r:embed="rId5">
            <a:alphaModFix amt="0"/>
          </a:blip>
          <a:stretch>
            <a:fillRect/>
          </a:stretch>
        </p:blipFill>
        <p:spPr>
          <a:xfrm>
            <a:off x="4806231" y="2623341"/>
            <a:ext cx="308947" cy="308947"/>
          </a:xfrm>
          <a:prstGeom prst="rect">
            <a:avLst/>
          </a:prstGeom>
        </p:spPr>
      </p:pic>
      <p:pic>
        <p:nvPicPr>
          <p:cNvPr id="23" name="Picture 22">
            <a:extLst>
              <a:ext uri="{FF2B5EF4-FFF2-40B4-BE49-F238E27FC236}">
                <a16:creationId xmlns:a16="http://schemas.microsoft.com/office/drawing/2014/main" id="{6BF164C3-9829-4C02-8DFD-C76F95BB8C1B}"/>
              </a:ext>
            </a:extLst>
          </p:cNvPr>
          <p:cNvPicPr>
            <a:picLocks noChangeAspect="1"/>
          </p:cNvPicPr>
          <p:nvPr/>
        </p:nvPicPr>
        <p:blipFill>
          <a:blip r:embed="rId6">
            <a:alphaModFix amt="0"/>
          </a:blip>
          <a:stretch>
            <a:fillRect/>
          </a:stretch>
        </p:blipFill>
        <p:spPr>
          <a:xfrm>
            <a:off x="4782355" y="4745270"/>
            <a:ext cx="370160" cy="418909"/>
          </a:xfrm>
          <a:prstGeom prst="rect">
            <a:avLst/>
          </a:prstGeom>
        </p:spPr>
      </p:pic>
      <p:pic>
        <p:nvPicPr>
          <p:cNvPr id="24" name="Graphic 23">
            <a:extLst>
              <a:ext uri="{FF2B5EF4-FFF2-40B4-BE49-F238E27FC236}">
                <a16:creationId xmlns:a16="http://schemas.microsoft.com/office/drawing/2014/main" id="{670C551D-E7AB-44FA-B1C0-6402D3B3A23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55" y="1617882"/>
            <a:ext cx="366448" cy="366448"/>
          </a:xfrm>
          <a:prstGeom prst="rect">
            <a:avLst/>
          </a:prstGeom>
        </p:spPr>
      </p:pic>
      <p:pic>
        <p:nvPicPr>
          <p:cNvPr id="25" name="Picture 24">
            <a:extLst>
              <a:ext uri="{FF2B5EF4-FFF2-40B4-BE49-F238E27FC236}">
                <a16:creationId xmlns:a16="http://schemas.microsoft.com/office/drawing/2014/main" id="{428C6BE3-79E4-4F1A-9E7C-19A98C2BBC38}"/>
              </a:ext>
            </a:extLst>
          </p:cNvPr>
          <p:cNvPicPr>
            <a:picLocks noChangeAspect="1"/>
          </p:cNvPicPr>
          <p:nvPr/>
        </p:nvPicPr>
        <p:blipFill>
          <a:blip r:embed="rId9">
            <a:alphaModFix amt="0"/>
          </a:blip>
          <a:stretch>
            <a:fillRect/>
          </a:stretch>
        </p:blipFill>
        <p:spPr>
          <a:xfrm>
            <a:off x="4836088" y="5877329"/>
            <a:ext cx="316657" cy="491974"/>
          </a:xfrm>
          <a:prstGeom prst="rect">
            <a:avLst/>
          </a:prstGeom>
        </p:spPr>
      </p:pic>
      <p:sp>
        <p:nvSpPr>
          <p:cNvPr id="26" name="TextBox 93">
            <a:extLst>
              <a:ext uri="{FF2B5EF4-FFF2-40B4-BE49-F238E27FC236}">
                <a16:creationId xmlns:a16="http://schemas.microsoft.com/office/drawing/2014/main" id="{D7C7BB33-BDD6-4AC9-9B2C-0D3BD115BED5}"/>
              </a:ext>
            </a:extLst>
          </p:cNvPr>
          <p:cNvSpPr/>
          <p:nvPr/>
        </p:nvSpPr>
        <p:spPr>
          <a:xfrm>
            <a:off x="13136559" y="1549739"/>
            <a:ext cx="2021384" cy="236940"/>
          </a:xfrm>
          <a:prstGeom prst="rect">
            <a:avLst/>
          </a:prstGeom>
          <a:noFill/>
          <a:ln/>
        </p:spPr>
        <p:txBody>
          <a:bodyPr wrap="none" lIns="0" tIns="0" rIns="0" bIns="0" rtlCol="0" anchor="t">
            <a:noAutofit/>
          </a:bodyPr>
          <a:lstStyle/>
          <a:p>
            <a:pPr>
              <a:lnSpc>
                <a:spcPct val="150000"/>
              </a:lnSpc>
            </a:pPr>
            <a:r>
              <a:rPr lang="en" altLang="en-US" sz="1200" b="1" kern="0" spc="41" dirty="0">
                <a:solidFill>
                  <a:schemeClr val="accent2">
                    <a:lumMod val="75000"/>
                  </a:schemeClr>
                </a:solidFill>
                <a:latin typeface="Liberation Mono" pitchFamily="34" charset="0"/>
                <a:cs typeface="Liberation Mono" pitchFamily="34" charset="-120"/>
              </a:rPr>
              <a:t>LAYER 05 // IDENTITY</a:t>
            </a:r>
            <a:endParaRPr lang="en" sz="1200" b="1" kern="0" spc="41" dirty="0">
              <a:solidFill>
                <a:schemeClr val="accent2">
                  <a:lumMod val="75000"/>
                </a:schemeClr>
              </a:solidFill>
              <a:latin typeface="Liberation Mono" pitchFamily="34" charset="0"/>
              <a:cs typeface="Liberation Mono" pitchFamily="34" charset="-120"/>
            </a:endParaRPr>
          </a:p>
        </p:txBody>
      </p:sp>
      <p:sp>
        <p:nvSpPr>
          <p:cNvPr id="27" name="TextBox 95">
            <a:extLst>
              <a:ext uri="{FF2B5EF4-FFF2-40B4-BE49-F238E27FC236}">
                <a16:creationId xmlns:a16="http://schemas.microsoft.com/office/drawing/2014/main" id="{3803E70A-3ED8-4FBF-A55C-1C103FF5E5CB}"/>
              </a:ext>
            </a:extLst>
          </p:cNvPr>
          <p:cNvSpPr/>
          <p:nvPr/>
        </p:nvSpPr>
        <p:spPr>
          <a:xfrm>
            <a:off x="13114898" y="1794597"/>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Identity Management</a:t>
            </a:r>
            <a:endParaRPr lang="en" sz="1200" b="1" dirty="0"/>
          </a:p>
        </p:txBody>
      </p:sp>
      <p:sp>
        <p:nvSpPr>
          <p:cNvPr id="28" name="TextBox 100">
            <a:extLst>
              <a:ext uri="{FF2B5EF4-FFF2-40B4-BE49-F238E27FC236}">
                <a16:creationId xmlns:a16="http://schemas.microsoft.com/office/drawing/2014/main" id="{933F5573-3A75-4B9A-8E6C-6AD3C019CB6E}"/>
              </a:ext>
            </a:extLst>
          </p:cNvPr>
          <p:cNvSpPr/>
          <p:nvPr/>
        </p:nvSpPr>
        <p:spPr>
          <a:xfrm>
            <a:off x="15345889" y="1679476"/>
            <a:ext cx="4195316" cy="154781"/>
          </a:xfrm>
          <a:prstGeom prst="rect">
            <a:avLst/>
          </a:prstGeom>
          <a:noFill/>
          <a:ln/>
        </p:spPr>
        <p:txBody>
          <a:bodyPr wrap="none" lIns="0" tIns="0" rIns="0" bIns="0" rtlCol="0" anchor="t">
            <a:noAutofit/>
          </a:bodyPr>
          <a:lstStyle/>
          <a:p>
            <a:pPr marL="0" indent="0" algn="l">
              <a:lnSpc>
                <a:spcPct val="100000"/>
              </a:lnSpc>
              <a:buNone/>
            </a:pPr>
            <a:r>
              <a:rPr lang="en" altLang="en-US" sz="1200" dirty="0">
                <a:solidFill>
                  <a:srgbClr val="64748B"/>
                </a:solidFill>
                <a:latin typeface="Inter" pitchFamily="34" charset="0"/>
                <a:ea typeface="Inter" pitchFamily="34" charset="-122"/>
                <a:cs typeface="Inter" pitchFamily="34" charset="-120"/>
              </a:rPr>
              <a:t>Integration with </a:t>
            </a:r>
            <a:r>
              <a:rPr lang="en" altLang="en-US" sz="1200" b="1" dirty="0">
                <a:solidFill>
                  <a:schemeClr val="accent2">
                    <a:lumMod val="75000"/>
                  </a:schemeClr>
                </a:solidFill>
                <a:latin typeface="Inter" pitchFamily="34" charset="0"/>
                <a:ea typeface="Inter" pitchFamily="34" charset="-122"/>
                <a:cs typeface="Inter" pitchFamily="34" charset="-120"/>
              </a:rPr>
              <a:t>MetaMask</a:t>
            </a:r>
            <a:r>
              <a:rPr lang="en" altLang="en-US" sz="1200" dirty="0">
                <a:solidFill>
                  <a:srgbClr val="64748B"/>
                </a:solidFill>
                <a:latin typeface="Inter" pitchFamily="34" charset="0"/>
                <a:ea typeface="Inter" pitchFamily="34" charset="-122"/>
                <a:cs typeface="Inter" pitchFamily="34" charset="-120"/>
              </a:rPr>
              <a:t> for secure wallet-based authentication.</a:t>
            </a:r>
            <a:endParaRPr lang="en" sz="1200" dirty="0"/>
          </a:p>
        </p:txBody>
      </p:sp>
      <p:sp>
        <p:nvSpPr>
          <p:cNvPr id="29" name="TextBox 118">
            <a:extLst>
              <a:ext uri="{FF2B5EF4-FFF2-40B4-BE49-F238E27FC236}">
                <a16:creationId xmlns:a16="http://schemas.microsoft.com/office/drawing/2014/main" id="{588252A2-D636-4FB8-90F4-988A853ABF6F}"/>
              </a:ext>
            </a:extLst>
          </p:cNvPr>
          <p:cNvSpPr/>
          <p:nvPr/>
        </p:nvSpPr>
        <p:spPr>
          <a:xfrm>
            <a:off x="13110731" y="2545476"/>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04 // INTERFACE</a:t>
            </a:r>
            <a:endParaRPr lang="en" sz="1200" b="1" dirty="0"/>
          </a:p>
        </p:txBody>
      </p:sp>
      <p:sp>
        <p:nvSpPr>
          <p:cNvPr id="30" name="TextBox 120">
            <a:extLst>
              <a:ext uri="{FF2B5EF4-FFF2-40B4-BE49-F238E27FC236}">
                <a16:creationId xmlns:a16="http://schemas.microsoft.com/office/drawing/2014/main" id="{AE073F59-0C45-423C-A003-E384883519E0}"/>
              </a:ext>
            </a:extLst>
          </p:cNvPr>
          <p:cNvSpPr/>
          <p:nvPr/>
        </p:nvSpPr>
        <p:spPr>
          <a:xfrm>
            <a:off x="13110731" y="2769750"/>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Frontend Framework</a:t>
            </a:r>
            <a:endParaRPr lang="en" sz="1200" b="1" dirty="0"/>
          </a:p>
        </p:txBody>
      </p:sp>
      <p:sp>
        <p:nvSpPr>
          <p:cNvPr id="31" name="TextBox 125">
            <a:extLst>
              <a:ext uri="{FF2B5EF4-FFF2-40B4-BE49-F238E27FC236}">
                <a16:creationId xmlns:a16="http://schemas.microsoft.com/office/drawing/2014/main" id="{37D3F753-43EC-47FC-BBDC-AB91F3183F49}"/>
              </a:ext>
            </a:extLst>
          </p:cNvPr>
          <p:cNvSpPr/>
          <p:nvPr/>
        </p:nvSpPr>
        <p:spPr>
          <a:xfrm>
            <a:off x="15345889" y="2576901"/>
            <a:ext cx="4357241" cy="450617"/>
          </a:xfrm>
          <a:prstGeom prst="rect">
            <a:avLst/>
          </a:prstGeom>
          <a:noFill/>
          <a:ln/>
        </p:spPr>
        <p:txBody>
          <a:bodyPr wrap="none" lIns="0" tIns="0" rIns="0" bIns="0" rtlCol="0" anchor="t">
            <a:noAutofit/>
          </a:bodyPr>
          <a:lstStyle/>
          <a:p>
            <a:pPr marL="0" indent="0" algn="l">
              <a:lnSpc>
                <a:spcPct val="100000"/>
              </a:lnSpc>
              <a:buNone/>
            </a:pPr>
            <a:r>
              <a:rPr lang="en" altLang="en-US" sz="1200" b="1" dirty="0">
                <a:solidFill>
                  <a:schemeClr val="accent2">
                    <a:lumMod val="75000"/>
                  </a:schemeClr>
                </a:solidFill>
                <a:latin typeface="Inter" pitchFamily="34" charset="0"/>
                <a:ea typeface="Inter" pitchFamily="34" charset="-122"/>
                <a:cs typeface="Inter" pitchFamily="34" charset="-120"/>
              </a:rPr>
              <a:t>React.js Vite </a:t>
            </a:r>
            <a:r>
              <a:rPr lang="en" altLang="en-US" sz="1200" dirty="0">
                <a:solidFill>
                  <a:srgbClr val="64748B"/>
                </a:solidFill>
                <a:latin typeface="Inter" pitchFamily="34" charset="0"/>
                <a:ea typeface="Inter" pitchFamily="34" charset="-122"/>
                <a:cs typeface="Inter" pitchFamily="34" charset="-120"/>
              </a:rPr>
              <a:t>and Bootstrap css for a responsive and Dynamic </a:t>
            </a:r>
          </a:p>
          <a:p>
            <a:pPr marL="0" indent="0" algn="l">
              <a:lnSpc>
                <a:spcPct val="100000"/>
              </a:lnSpc>
              <a:buNone/>
            </a:pPr>
            <a:r>
              <a:rPr lang="en" altLang="en-US" sz="1200" dirty="0">
                <a:solidFill>
                  <a:srgbClr val="64748B"/>
                </a:solidFill>
                <a:latin typeface="Inter" pitchFamily="34" charset="0"/>
                <a:ea typeface="Inter" pitchFamily="34" charset="-122"/>
                <a:cs typeface="Inter" pitchFamily="34" charset="-120"/>
              </a:rPr>
              <a:t>intuitive user interface.</a:t>
            </a:r>
            <a:endParaRPr lang="en" sz="1200" dirty="0"/>
          </a:p>
        </p:txBody>
      </p:sp>
      <p:sp>
        <p:nvSpPr>
          <p:cNvPr id="32" name="TextBox 143">
            <a:extLst>
              <a:ext uri="{FF2B5EF4-FFF2-40B4-BE49-F238E27FC236}">
                <a16:creationId xmlns:a16="http://schemas.microsoft.com/office/drawing/2014/main" id="{332B556C-C7FF-499E-8E23-342297B4F716}"/>
              </a:ext>
            </a:extLst>
          </p:cNvPr>
          <p:cNvSpPr/>
          <p:nvPr/>
        </p:nvSpPr>
        <p:spPr>
          <a:xfrm>
            <a:off x="13153935" y="3618932"/>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03 // SERVICES</a:t>
            </a:r>
            <a:endParaRPr lang="en" sz="1200" b="1" dirty="0"/>
          </a:p>
        </p:txBody>
      </p:sp>
      <p:sp>
        <p:nvSpPr>
          <p:cNvPr id="33" name="TextBox 145">
            <a:extLst>
              <a:ext uri="{FF2B5EF4-FFF2-40B4-BE49-F238E27FC236}">
                <a16:creationId xmlns:a16="http://schemas.microsoft.com/office/drawing/2014/main" id="{B9A20057-A995-4A9F-A20A-10CEB3081D67}"/>
              </a:ext>
            </a:extLst>
          </p:cNvPr>
          <p:cNvSpPr/>
          <p:nvPr/>
        </p:nvSpPr>
        <p:spPr>
          <a:xfrm>
            <a:off x="13153935" y="3916106"/>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Backend Services</a:t>
            </a:r>
            <a:endParaRPr lang="en" sz="1200" b="1" dirty="0"/>
          </a:p>
        </p:txBody>
      </p:sp>
      <p:sp>
        <p:nvSpPr>
          <p:cNvPr id="34" name="TextBox 150">
            <a:extLst>
              <a:ext uri="{FF2B5EF4-FFF2-40B4-BE49-F238E27FC236}">
                <a16:creationId xmlns:a16="http://schemas.microsoft.com/office/drawing/2014/main" id="{3F21E7B6-230B-4B21-B009-864A5360F001}"/>
              </a:ext>
            </a:extLst>
          </p:cNvPr>
          <p:cNvSpPr/>
          <p:nvPr/>
        </p:nvSpPr>
        <p:spPr>
          <a:xfrm>
            <a:off x="15382538" y="3545262"/>
            <a:ext cx="4195316" cy="516730"/>
          </a:xfrm>
          <a:prstGeom prst="rect">
            <a:avLst/>
          </a:prstGeom>
          <a:noFill/>
          <a:ln/>
        </p:spPr>
        <p:txBody>
          <a:bodyPr wrap="none" lIns="0" tIns="0" rIns="0" bIns="0" rtlCol="0" anchor="t"/>
          <a:lstStyle/>
          <a:p>
            <a:pPr marL="0" indent="0" algn="l">
              <a:lnSpc>
                <a:spcPct val="150000"/>
              </a:lnSpc>
              <a:buNone/>
            </a:pPr>
            <a:r>
              <a:rPr lang="en" altLang="en-US" sz="1200" dirty="0">
                <a:solidFill>
                  <a:srgbClr val="64748B"/>
                </a:solidFill>
                <a:latin typeface="Inter" pitchFamily="34" charset="0"/>
                <a:ea typeface="Inter" pitchFamily="34" charset="-122"/>
                <a:cs typeface="Inter" pitchFamily="34" charset="-120"/>
              </a:rPr>
              <a:t>Node.js and Express for API management and blockchain </a:t>
            </a:r>
          </a:p>
          <a:p>
            <a:pPr marL="0" indent="0" algn="l">
              <a:lnSpc>
                <a:spcPct val="150000"/>
              </a:lnSpc>
              <a:buNone/>
            </a:pPr>
            <a:r>
              <a:rPr lang="en-IN" altLang="en-US" sz="1200" dirty="0">
                <a:solidFill>
                  <a:srgbClr val="64748B"/>
                </a:solidFill>
                <a:latin typeface="Inter" pitchFamily="34" charset="0"/>
                <a:ea typeface="Inter" pitchFamily="34" charset="-122"/>
                <a:cs typeface="Inter" pitchFamily="34" charset="-120"/>
              </a:rPr>
              <a:t>I</a:t>
            </a:r>
            <a:r>
              <a:rPr lang="en" altLang="en-US" sz="1200" dirty="0">
                <a:solidFill>
                  <a:srgbClr val="64748B"/>
                </a:solidFill>
                <a:latin typeface="Inter" pitchFamily="34" charset="0"/>
                <a:ea typeface="Inter" pitchFamily="34" charset="-122"/>
                <a:cs typeface="Inter" pitchFamily="34" charset="-120"/>
              </a:rPr>
              <a:t>nteraction via Web3.js/Ethers.js </a:t>
            </a:r>
            <a:r>
              <a:rPr lang="en-IN" altLang="en-US" sz="1200" dirty="0">
                <a:solidFill>
                  <a:srgbClr val="64748B"/>
                </a:solidFill>
                <a:latin typeface="Inter" pitchFamily="34" charset="0"/>
                <a:ea typeface="Inter" pitchFamily="34" charset="-122"/>
                <a:cs typeface="Inter" pitchFamily="34" charset="-120"/>
              </a:rPr>
              <a:t>providing </a:t>
            </a:r>
            <a:r>
              <a:rPr lang="en-IN" altLang="en-US" sz="1200" b="1" dirty="0">
                <a:solidFill>
                  <a:schemeClr val="accent2">
                    <a:lumMod val="75000"/>
                  </a:schemeClr>
                </a:solidFill>
                <a:latin typeface="Inter" pitchFamily="34" charset="0"/>
                <a:ea typeface="Inter" pitchFamily="34" charset="-122"/>
                <a:cs typeface="Inter" pitchFamily="34" charset="-120"/>
              </a:rPr>
              <a:t>RESTful APIs</a:t>
            </a:r>
            <a:r>
              <a:rPr lang="en" altLang="en-US" sz="1200" dirty="0">
                <a:solidFill>
                  <a:srgbClr val="64748B"/>
                </a:solidFill>
                <a:latin typeface="Inter" pitchFamily="34" charset="0"/>
                <a:ea typeface="Inter" pitchFamily="34" charset="-122"/>
                <a:cs typeface="Inter" pitchFamily="34" charset="-120"/>
              </a:rPr>
              <a:t>.</a:t>
            </a:r>
            <a:endParaRPr lang="en" sz="1200" dirty="0"/>
          </a:p>
        </p:txBody>
      </p:sp>
      <p:sp>
        <p:nvSpPr>
          <p:cNvPr id="35" name="TextBox 168">
            <a:extLst>
              <a:ext uri="{FF2B5EF4-FFF2-40B4-BE49-F238E27FC236}">
                <a16:creationId xmlns:a16="http://schemas.microsoft.com/office/drawing/2014/main" id="{FF85E1AF-F165-4AE3-8BC5-3DA4E8135E3F}"/>
              </a:ext>
            </a:extLst>
          </p:cNvPr>
          <p:cNvSpPr/>
          <p:nvPr/>
        </p:nvSpPr>
        <p:spPr>
          <a:xfrm>
            <a:off x="13110731" y="4652775"/>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chemeClr val="accent2">
                    <a:lumMod val="75000"/>
                  </a:schemeClr>
                </a:solidFill>
                <a:latin typeface="Liberation Mono" pitchFamily="34" charset="0"/>
                <a:ea typeface="Liberation Mono" pitchFamily="34" charset="-122"/>
                <a:cs typeface="Liberation Mono" pitchFamily="34" charset="-120"/>
              </a:rPr>
              <a:t>LAYER 02 // STORAGE</a:t>
            </a:r>
            <a:endParaRPr lang="en" sz="1200" b="1" dirty="0">
              <a:solidFill>
                <a:schemeClr val="accent2">
                  <a:lumMod val="75000"/>
                </a:schemeClr>
              </a:solidFill>
            </a:endParaRPr>
          </a:p>
        </p:txBody>
      </p:sp>
      <p:sp>
        <p:nvSpPr>
          <p:cNvPr id="36" name="TextBox 170">
            <a:extLst>
              <a:ext uri="{FF2B5EF4-FFF2-40B4-BE49-F238E27FC236}">
                <a16:creationId xmlns:a16="http://schemas.microsoft.com/office/drawing/2014/main" id="{69DCBA8D-CC96-404F-8EDC-A10852B1B92A}"/>
              </a:ext>
            </a:extLst>
          </p:cNvPr>
          <p:cNvSpPr/>
          <p:nvPr/>
        </p:nvSpPr>
        <p:spPr>
          <a:xfrm>
            <a:off x="13110731" y="4908284"/>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Decentralized Database Storage</a:t>
            </a:r>
            <a:endParaRPr lang="en" sz="1200" b="1" dirty="0"/>
          </a:p>
        </p:txBody>
      </p:sp>
      <p:sp>
        <p:nvSpPr>
          <p:cNvPr id="37" name="TextBox 175">
            <a:extLst>
              <a:ext uri="{FF2B5EF4-FFF2-40B4-BE49-F238E27FC236}">
                <a16:creationId xmlns:a16="http://schemas.microsoft.com/office/drawing/2014/main" id="{13AD88C3-61F4-4984-A198-D8566E8DCDE6}"/>
              </a:ext>
            </a:extLst>
          </p:cNvPr>
          <p:cNvSpPr/>
          <p:nvPr/>
        </p:nvSpPr>
        <p:spPr>
          <a:xfrm>
            <a:off x="15382539" y="4453406"/>
            <a:ext cx="4031273" cy="933750"/>
          </a:xfrm>
          <a:prstGeom prst="rect">
            <a:avLst/>
          </a:prstGeom>
          <a:noFill/>
          <a:ln/>
        </p:spPr>
        <p:txBody>
          <a:bodyPr wrap="none" lIns="0" tIns="0" rIns="0" bIns="0" rtlCol="0" anchor="t">
            <a:noAutofit/>
          </a:bodyPr>
          <a:lstStyle/>
          <a:p>
            <a:pPr marL="0" indent="0" algn="l">
              <a:lnSpc>
                <a:spcPct val="150000"/>
              </a:lnSpc>
              <a:buNone/>
            </a:pPr>
            <a:r>
              <a:rPr lang="en-IN" altLang="en-US" sz="1200" b="1" dirty="0">
                <a:solidFill>
                  <a:schemeClr val="accent2">
                    <a:lumMod val="75000"/>
                  </a:schemeClr>
                </a:solidFill>
                <a:latin typeface="Inter" pitchFamily="34" charset="0"/>
                <a:ea typeface="Inter" pitchFamily="34" charset="-122"/>
                <a:cs typeface="Inter" pitchFamily="34" charset="-120"/>
              </a:rPr>
              <a:t>MongoDB</a:t>
            </a:r>
            <a:r>
              <a:rPr lang="en-IN" altLang="en-US" sz="1200" dirty="0">
                <a:solidFill>
                  <a:srgbClr val="64748B"/>
                </a:solidFill>
                <a:latin typeface="Inter" pitchFamily="34" charset="0"/>
                <a:ea typeface="Inter" pitchFamily="34" charset="-122"/>
                <a:cs typeface="Inter" pitchFamily="34" charset="-120"/>
              </a:rPr>
              <a:t> with Mongoose ODM for </a:t>
            </a:r>
            <a:r>
              <a:rPr lang="en-IN" altLang="en-US" sz="1200" b="1" dirty="0">
                <a:solidFill>
                  <a:schemeClr val="accent2">
                    <a:lumMod val="75000"/>
                  </a:schemeClr>
                </a:solidFill>
                <a:latin typeface="Inter" pitchFamily="34" charset="0"/>
                <a:ea typeface="Inter" pitchFamily="34" charset="-122"/>
                <a:cs typeface="Inter" pitchFamily="34" charset="-120"/>
              </a:rPr>
              <a:t>structured data storage</a:t>
            </a:r>
          </a:p>
          <a:p>
            <a:pPr marL="0" indent="0" algn="l">
              <a:lnSpc>
                <a:spcPct val="150000"/>
              </a:lnSpc>
              <a:buNone/>
            </a:pPr>
            <a:r>
              <a:rPr lang="en" altLang="en-US" sz="1200" dirty="0">
                <a:solidFill>
                  <a:srgbClr val="64748B"/>
                </a:solidFill>
                <a:latin typeface="Inter" pitchFamily="34" charset="0"/>
                <a:ea typeface="Inter" pitchFamily="34" charset="-122"/>
                <a:cs typeface="Inter" pitchFamily="34" charset="-120"/>
              </a:rPr>
              <a:t>for hosting document files securely (</a:t>
            </a:r>
            <a:r>
              <a:rPr lang="en-IN" altLang="en-US" sz="1200" dirty="0">
                <a:solidFill>
                  <a:srgbClr val="64748B"/>
                </a:solidFill>
                <a:latin typeface="Inter" pitchFamily="34" charset="0"/>
                <a:ea typeface="Inter" pitchFamily="34" charset="-122"/>
                <a:cs typeface="Inter" pitchFamily="34" charset="-120"/>
              </a:rPr>
              <a:t>Courses, Students, </a:t>
            </a:r>
          </a:p>
          <a:p>
            <a:pPr marL="0" indent="0" algn="l">
              <a:lnSpc>
                <a:spcPct val="150000"/>
              </a:lnSpc>
              <a:buNone/>
            </a:pPr>
            <a:r>
              <a:rPr lang="en-IN" altLang="en-US" sz="1200" dirty="0">
                <a:solidFill>
                  <a:srgbClr val="64748B"/>
                </a:solidFill>
                <a:latin typeface="Inter" pitchFamily="34" charset="0"/>
                <a:ea typeface="Inter" pitchFamily="34" charset="-122"/>
                <a:cs typeface="Inter" pitchFamily="34" charset="-120"/>
              </a:rPr>
              <a:t>Exams, Results, ID etc. )</a:t>
            </a:r>
            <a:endParaRPr lang="en" sz="1200" dirty="0"/>
          </a:p>
        </p:txBody>
      </p:sp>
      <p:sp>
        <p:nvSpPr>
          <p:cNvPr id="38" name="TextBox 184">
            <a:extLst>
              <a:ext uri="{FF2B5EF4-FFF2-40B4-BE49-F238E27FC236}">
                <a16:creationId xmlns:a16="http://schemas.microsoft.com/office/drawing/2014/main" id="{C4D2585A-6296-4E1A-9C87-31D4A82B4A57}"/>
              </a:ext>
            </a:extLst>
          </p:cNvPr>
          <p:cNvSpPr/>
          <p:nvPr/>
        </p:nvSpPr>
        <p:spPr>
          <a:xfrm>
            <a:off x="18841378" y="5648325"/>
            <a:ext cx="812602" cy="166688"/>
          </a:xfrm>
          <a:prstGeom prst="rect">
            <a:avLst/>
          </a:prstGeom>
          <a:noFill/>
          <a:ln/>
        </p:spPr>
        <p:txBody>
          <a:bodyPr wrap="none" lIns="76200" tIns="19050" rIns="76200" bIns="19050" rtlCol="0" anchor="t">
            <a:normAutofit/>
          </a:bodyPr>
          <a:lstStyle/>
          <a:p>
            <a:pPr marL="0" indent="0" algn="l">
              <a:lnSpc>
                <a:spcPct val="100000"/>
              </a:lnSpc>
              <a:buNone/>
            </a:pPr>
            <a:r>
              <a:rPr lang="en" altLang="en-US" sz="675" kern="0" spc="68" dirty="0">
                <a:solidFill>
                  <a:srgbClr val="FFFFFF"/>
                </a:solidFill>
                <a:latin typeface="Liberation Mono" pitchFamily="34" charset="0"/>
                <a:ea typeface="Liberation Mono" pitchFamily="34" charset="-122"/>
                <a:cs typeface="Liberation Mono" pitchFamily="34" charset="-120"/>
              </a:rPr>
              <a:t>CORE LEDGER</a:t>
            </a:r>
            <a:endParaRPr lang="en" sz="675" dirty="0"/>
          </a:p>
        </p:txBody>
      </p:sp>
      <p:sp>
        <p:nvSpPr>
          <p:cNvPr id="39" name="TextBox 195">
            <a:extLst>
              <a:ext uri="{FF2B5EF4-FFF2-40B4-BE49-F238E27FC236}">
                <a16:creationId xmlns:a16="http://schemas.microsoft.com/office/drawing/2014/main" id="{D659A44B-7916-4909-85B1-B3CB116AB51B}"/>
              </a:ext>
            </a:extLst>
          </p:cNvPr>
          <p:cNvSpPr/>
          <p:nvPr/>
        </p:nvSpPr>
        <p:spPr>
          <a:xfrm>
            <a:off x="13125410" y="5800741"/>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01 // TRUST</a:t>
            </a:r>
            <a:endParaRPr lang="en" sz="1200" b="1" dirty="0"/>
          </a:p>
        </p:txBody>
      </p:sp>
      <p:sp>
        <p:nvSpPr>
          <p:cNvPr id="40" name="TextBox 197">
            <a:extLst>
              <a:ext uri="{FF2B5EF4-FFF2-40B4-BE49-F238E27FC236}">
                <a16:creationId xmlns:a16="http://schemas.microsoft.com/office/drawing/2014/main" id="{F7B8B6AA-7D3D-47DB-B1B4-1A0691A8E723}"/>
              </a:ext>
            </a:extLst>
          </p:cNvPr>
          <p:cNvSpPr/>
          <p:nvPr/>
        </p:nvSpPr>
        <p:spPr>
          <a:xfrm>
            <a:off x="13125410" y="6078167"/>
            <a:ext cx="2021384" cy="345676"/>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Blockchain Layer</a:t>
            </a:r>
            <a:endParaRPr lang="en" sz="1200" b="1" dirty="0"/>
          </a:p>
        </p:txBody>
      </p:sp>
      <p:sp>
        <p:nvSpPr>
          <p:cNvPr id="41" name="TextBox 40">
            <a:extLst>
              <a:ext uri="{FF2B5EF4-FFF2-40B4-BE49-F238E27FC236}">
                <a16:creationId xmlns:a16="http://schemas.microsoft.com/office/drawing/2014/main" id="{12AB2C63-F61D-4715-9E20-8C068A9795A4}"/>
              </a:ext>
            </a:extLst>
          </p:cNvPr>
          <p:cNvSpPr txBox="1"/>
          <p:nvPr/>
        </p:nvSpPr>
        <p:spPr>
          <a:xfrm>
            <a:off x="15334321" y="5472422"/>
            <a:ext cx="4079491" cy="894732"/>
          </a:xfrm>
          <a:prstGeom prst="rect">
            <a:avLst/>
          </a:prstGeom>
          <a:noFill/>
        </p:spPr>
        <p:txBody>
          <a:bodyPr wrap="square">
            <a:spAutoFit/>
          </a:bodyPr>
          <a:lstStyle/>
          <a:p>
            <a:pPr marL="0" indent="0" algn="l">
              <a:lnSpc>
                <a:spcPct val="150000"/>
              </a:lnSpc>
              <a:buNone/>
            </a:pPr>
            <a:r>
              <a:rPr lang="en-US" altLang="en-US" sz="1200" b="1" dirty="0">
                <a:solidFill>
                  <a:schemeClr val="accent2">
                    <a:lumMod val="75000"/>
                  </a:schemeClr>
                </a:solidFill>
                <a:latin typeface="Inter" pitchFamily="34" charset="0"/>
                <a:ea typeface="Inter" pitchFamily="34" charset="-122"/>
                <a:cs typeface="Inter" pitchFamily="34" charset="-120"/>
              </a:rPr>
              <a:t>Ethereum</a:t>
            </a:r>
            <a:r>
              <a:rPr lang="en-US" altLang="en-US" sz="1200" dirty="0">
                <a:solidFill>
                  <a:srgbClr val="64748B"/>
                </a:solidFill>
                <a:latin typeface="Inter" pitchFamily="34" charset="0"/>
                <a:ea typeface="Inter" pitchFamily="34" charset="-122"/>
                <a:cs typeface="Inter" pitchFamily="34" charset="-120"/>
              </a:rPr>
              <a:t> Network, </a:t>
            </a:r>
            <a:r>
              <a:rPr lang="en-US" altLang="en-US" sz="1200" b="1" dirty="0">
                <a:solidFill>
                  <a:schemeClr val="accent2">
                    <a:lumMod val="75000"/>
                  </a:schemeClr>
                </a:solidFill>
                <a:latin typeface="Inter" pitchFamily="34" charset="0"/>
                <a:ea typeface="Inter" pitchFamily="34" charset="-122"/>
                <a:cs typeface="Inter" pitchFamily="34" charset="-120"/>
              </a:rPr>
              <a:t>Solidity Smart Contracts</a:t>
            </a:r>
            <a:r>
              <a:rPr lang="en-US" altLang="en-US" sz="1200" dirty="0">
                <a:solidFill>
                  <a:srgbClr val="64748B"/>
                </a:solidFill>
                <a:latin typeface="Inter" pitchFamily="34" charset="0"/>
                <a:ea typeface="Inter" pitchFamily="34" charset="-122"/>
                <a:cs typeface="Inter" pitchFamily="34" charset="-120"/>
              </a:rPr>
              <a:t>, </a:t>
            </a:r>
            <a:r>
              <a:rPr lang="en-US" altLang="en-US" sz="1200" b="1" dirty="0">
                <a:solidFill>
                  <a:schemeClr val="accent2">
                    <a:lumMod val="75000"/>
                  </a:schemeClr>
                </a:solidFill>
                <a:latin typeface="Inter" pitchFamily="34" charset="0"/>
                <a:ea typeface="Inter" pitchFamily="34" charset="-122"/>
                <a:cs typeface="Inter" pitchFamily="34" charset="-120"/>
              </a:rPr>
              <a:t>Hardhat</a:t>
            </a:r>
            <a:r>
              <a:rPr lang="en-US" altLang="en-US" sz="1200" dirty="0">
                <a:solidFill>
                  <a:srgbClr val="64748B"/>
                </a:solidFill>
                <a:latin typeface="Inter" pitchFamily="34" charset="0"/>
                <a:ea typeface="Inter" pitchFamily="34" charset="-122"/>
                <a:cs typeface="Inter" pitchFamily="34" charset="-120"/>
              </a:rPr>
              <a:t>  (local Ethereum node), </a:t>
            </a:r>
            <a:r>
              <a:rPr lang="en-US" altLang="en-US" sz="1200" b="1" dirty="0">
                <a:solidFill>
                  <a:schemeClr val="accent2">
                    <a:lumMod val="75000"/>
                  </a:schemeClr>
                </a:solidFill>
                <a:latin typeface="Inter" pitchFamily="34" charset="0"/>
                <a:ea typeface="Inter" pitchFamily="34" charset="-122"/>
                <a:cs typeface="Inter" pitchFamily="34" charset="-120"/>
              </a:rPr>
              <a:t>and Ethers.js/Web3.js </a:t>
            </a:r>
            <a:r>
              <a:rPr lang="en-US" altLang="en-US" sz="1200" dirty="0">
                <a:solidFill>
                  <a:srgbClr val="64748B"/>
                </a:solidFill>
                <a:latin typeface="Inter" pitchFamily="34" charset="0"/>
                <a:ea typeface="Inter" pitchFamily="34" charset="-122"/>
                <a:cs typeface="Inter" pitchFamily="34" charset="-120"/>
              </a:rPr>
              <a:t>for seamless backend-to-blockchain communication. </a:t>
            </a:r>
            <a:endParaRPr lang="en" sz="1200" dirty="0"/>
          </a:p>
        </p:txBody>
      </p:sp>
      <p:grpSp>
        <p:nvGrpSpPr>
          <p:cNvPr id="42" name="Group 41">
            <a:extLst>
              <a:ext uri="{FF2B5EF4-FFF2-40B4-BE49-F238E27FC236}">
                <a16:creationId xmlns:a16="http://schemas.microsoft.com/office/drawing/2014/main" id="{BAB4EFF7-7732-40F8-A968-CAB1F4BB12A0}"/>
              </a:ext>
            </a:extLst>
          </p:cNvPr>
          <p:cNvGrpSpPr/>
          <p:nvPr/>
        </p:nvGrpSpPr>
        <p:grpSpPr>
          <a:xfrm>
            <a:off x="601388" y="7168811"/>
            <a:ext cx="3574958" cy="3979460"/>
            <a:chOff x="568287" y="2847578"/>
            <a:chExt cx="3474369" cy="3867489"/>
          </a:xfrm>
        </p:grpSpPr>
        <p:pic>
          <p:nvPicPr>
            <p:cNvPr id="43" name="Picture 42">
              <a:extLst>
                <a:ext uri="{FF2B5EF4-FFF2-40B4-BE49-F238E27FC236}">
                  <a16:creationId xmlns:a16="http://schemas.microsoft.com/office/drawing/2014/main" id="{E4C125CF-D0D0-4D56-A9CB-5336A7232766}"/>
                </a:ext>
              </a:extLst>
            </p:cNvPr>
            <p:cNvPicPr>
              <a:picLocks noChangeAspect="1"/>
            </p:cNvPicPr>
            <p:nvPr/>
          </p:nvPicPr>
          <p:blipFill rotWithShape="1">
            <a:blip r:embed="rId10"/>
            <a:srcRect l="10378" t="4776" r="3423"/>
            <a:stretch/>
          </p:blipFill>
          <p:spPr>
            <a:xfrm>
              <a:off x="568287" y="3152027"/>
              <a:ext cx="3474369" cy="3563040"/>
            </a:xfrm>
            <a:prstGeom prst="rect">
              <a:avLst/>
            </a:prstGeom>
          </p:spPr>
        </p:pic>
        <p:grpSp>
          <p:nvGrpSpPr>
            <p:cNvPr id="44" name="Group 43">
              <a:extLst>
                <a:ext uri="{FF2B5EF4-FFF2-40B4-BE49-F238E27FC236}">
                  <a16:creationId xmlns:a16="http://schemas.microsoft.com/office/drawing/2014/main" id="{0330EAC1-B837-4474-8AFC-B193FE7685E9}"/>
                </a:ext>
              </a:extLst>
            </p:cNvPr>
            <p:cNvGrpSpPr/>
            <p:nvPr/>
          </p:nvGrpSpPr>
          <p:grpSpPr>
            <a:xfrm>
              <a:off x="572550" y="2847578"/>
              <a:ext cx="3470106" cy="295131"/>
              <a:chOff x="677475" y="2851780"/>
              <a:chExt cx="3606338" cy="295131"/>
            </a:xfrm>
          </p:grpSpPr>
          <p:pic>
            <p:nvPicPr>
              <p:cNvPr id="45" name="Picture 44">
                <a:extLst>
                  <a:ext uri="{FF2B5EF4-FFF2-40B4-BE49-F238E27FC236}">
                    <a16:creationId xmlns:a16="http://schemas.microsoft.com/office/drawing/2014/main" id="{19AEBFB6-1A32-4DF9-87C6-581A6CB9732F}"/>
                  </a:ext>
                </a:extLst>
              </p:cNvPr>
              <p:cNvPicPr>
                <a:picLocks noChangeAspect="1"/>
              </p:cNvPicPr>
              <p:nvPr/>
            </p:nvPicPr>
            <p:blipFill rotWithShape="1">
              <a:blip r:embed="rId10"/>
              <a:srcRect l="1" r="84797" b="95112"/>
              <a:stretch/>
            </p:blipFill>
            <p:spPr>
              <a:xfrm>
                <a:off x="677475" y="2851780"/>
                <a:ext cx="1014165" cy="295131"/>
              </a:xfrm>
              <a:prstGeom prst="rect">
                <a:avLst/>
              </a:prstGeom>
            </p:spPr>
          </p:pic>
          <p:sp>
            <p:nvSpPr>
              <p:cNvPr id="46" name="Rectangle 45">
                <a:extLst>
                  <a:ext uri="{FF2B5EF4-FFF2-40B4-BE49-F238E27FC236}">
                    <a16:creationId xmlns:a16="http://schemas.microsoft.com/office/drawing/2014/main" id="{CD0A1636-A1E2-431F-B4EE-0AD9868F5120}"/>
                  </a:ext>
                </a:extLst>
              </p:cNvPr>
              <p:cNvSpPr/>
              <p:nvPr/>
            </p:nvSpPr>
            <p:spPr>
              <a:xfrm>
                <a:off x="1691641" y="2851780"/>
                <a:ext cx="2592172" cy="258133"/>
              </a:xfrm>
              <a:prstGeom prst="rect">
                <a:avLst/>
              </a:prstGeom>
              <a:solidFill>
                <a:srgbClr val="F5FB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48" name="TextBox 47">
            <a:extLst>
              <a:ext uri="{FF2B5EF4-FFF2-40B4-BE49-F238E27FC236}">
                <a16:creationId xmlns:a16="http://schemas.microsoft.com/office/drawing/2014/main" id="{4BE5EEE3-589F-4E75-83BA-7440E6C2672A}"/>
              </a:ext>
            </a:extLst>
          </p:cNvPr>
          <p:cNvSpPr txBox="1"/>
          <p:nvPr/>
        </p:nvSpPr>
        <p:spPr>
          <a:xfrm>
            <a:off x="-3824600" y="1095848"/>
            <a:ext cx="3682945" cy="705258"/>
          </a:xfrm>
          <a:prstGeom prst="rect">
            <a:avLst/>
          </a:prstGeom>
          <a:noFill/>
        </p:spPr>
        <p:txBody>
          <a:bodyPr wrap="square">
            <a:spAutoFit/>
          </a:bodyPr>
          <a:lstStyle/>
          <a:p>
            <a:pPr marL="0" indent="0" algn="l">
              <a:lnSpc>
                <a:spcPct val="150000"/>
              </a:lnSpc>
              <a:buNone/>
            </a:pPr>
            <a:r>
              <a:rPr lang="en-US" altLang="en-US" sz="1400" b="1" kern="0" spc="45" dirty="0">
                <a:solidFill>
                  <a:srgbClr val="0033CC"/>
                </a:solidFill>
                <a:latin typeface="Inter"/>
                <a:ea typeface="Liberation Mono" pitchFamily="34" charset="-122"/>
                <a:cs typeface="Liberation Mono" pitchFamily="34" charset="-120"/>
              </a:rPr>
              <a:t>Bridging operational speed with permanent cryptographic trust.</a:t>
            </a:r>
            <a:endParaRPr lang="en" sz="1400" b="1" dirty="0">
              <a:solidFill>
                <a:srgbClr val="0033CC"/>
              </a:solidFill>
              <a:latin typeface="Inter"/>
            </a:endParaRPr>
          </a:p>
        </p:txBody>
      </p:sp>
      <p:sp>
        <p:nvSpPr>
          <p:cNvPr id="49" name="TextBox 48">
            <a:extLst>
              <a:ext uri="{FF2B5EF4-FFF2-40B4-BE49-F238E27FC236}">
                <a16:creationId xmlns:a16="http://schemas.microsoft.com/office/drawing/2014/main" id="{B38A254A-2347-42A0-9F7B-A422693721C4}"/>
              </a:ext>
            </a:extLst>
          </p:cNvPr>
          <p:cNvSpPr txBox="1"/>
          <p:nvPr/>
        </p:nvSpPr>
        <p:spPr>
          <a:xfrm>
            <a:off x="-3888099" y="1849204"/>
            <a:ext cx="3474369" cy="845040"/>
          </a:xfrm>
          <a:prstGeom prst="rect">
            <a:avLst/>
          </a:prstGeom>
          <a:noFill/>
        </p:spPr>
        <p:txBody>
          <a:bodyPr wrap="square">
            <a:spAutoFit/>
          </a:bodyPr>
          <a:lstStyle/>
          <a:p>
            <a:pPr marL="0" indent="0" algn="l">
              <a:lnSpc>
                <a:spcPts val="2025"/>
              </a:lnSpc>
              <a:buNone/>
            </a:pPr>
            <a:r>
              <a:rPr lang="en" altLang="en-US" sz="1400" dirty="0">
                <a:solidFill>
                  <a:srgbClr val="1E293B"/>
                </a:solidFill>
                <a:latin typeface="Inter" pitchFamily="34" charset="0"/>
                <a:ea typeface="Inter" pitchFamily="34" charset="-122"/>
                <a:cs typeface="Inter" pitchFamily="34" charset="-120"/>
              </a:rPr>
              <a:t>A modern </a:t>
            </a:r>
            <a:r>
              <a:rPr lang="en-IN" altLang="en-US" sz="1400" dirty="0">
                <a:solidFill>
                  <a:srgbClr val="1E293B"/>
                </a:solidFill>
                <a:latin typeface="Inter" pitchFamily="34" charset="0"/>
                <a:ea typeface="Inter" pitchFamily="34" charset="-122"/>
                <a:cs typeface="Inter" pitchFamily="34" charset="-120"/>
              </a:rPr>
              <a:t>Hybrid Web2 &amp; Web3 Architecture</a:t>
            </a:r>
            <a:r>
              <a:rPr lang="en" altLang="en-US" sz="1400" dirty="0">
                <a:solidFill>
                  <a:srgbClr val="1E293B"/>
                </a:solidFill>
                <a:latin typeface="Inter" pitchFamily="34" charset="0"/>
                <a:ea typeface="Inter" pitchFamily="34" charset="-122"/>
                <a:cs typeface="Inter" pitchFamily="34" charset="-120"/>
              </a:rPr>
              <a:t> </a:t>
            </a:r>
            <a:r>
              <a:rPr lang="en-IN" altLang="en-US" sz="1400" dirty="0">
                <a:solidFill>
                  <a:srgbClr val="1E293B"/>
                </a:solidFill>
                <a:latin typeface="Inter" pitchFamily="34" charset="0"/>
                <a:ea typeface="Inter" pitchFamily="34" charset="-122"/>
                <a:cs typeface="Inter" pitchFamily="34" charset="-120"/>
              </a:rPr>
              <a:t>E</a:t>
            </a:r>
            <a:r>
              <a:rPr lang="en" altLang="en-US" sz="1400" dirty="0">
                <a:solidFill>
                  <a:srgbClr val="1E293B"/>
                </a:solidFill>
                <a:latin typeface="Inter" pitchFamily="34" charset="0"/>
                <a:ea typeface="Inter" pitchFamily="34" charset="-122"/>
                <a:cs typeface="Inter" pitchFamily="34" charset="-120"/>
              </a:rPr>
              <a:t>nsuring</a:t>
            </a:r>
            <a:r>
              <a:rPr lang="en" altLang="en-US" sz="1400" dirty="0"/>
              <a:t> </a:t>
            </a:r>
            <a:r>
              <a:rPr lang="en" altLang="en-US" sz="1400" dirty="0">
                <a:solidFill>
                  <a:srgbClr val="1E293B"/>
                </a:solidFill>
                <a:latin typeface="Inter" pitchFamily="34" charset="0"/>
                <a:ea typeface="Inter" pitchFamily="34" charset="-122"/>
                <a:cs typeface="Inter" pitchFamily="34" charset="-120"/>
              </a:rPr>
              <a:t>scalability, security, and a seamless user experience.</a:t>
            </a:r>
            <a:endParaRPr lang="en" sz="1400" dirty="0"/>
          </a:p>
        </p:txBody>
      </p:sp>
      <p:sp>
        <p:nvSpPr>
          <p:cNvPr id="47" name="TextBox 26">
            <a:extLst>
              <a:ext uri="{FF2B5EF4-FFF2-40B4-BE49-F238E27FC236}">
                <a16:creationId xmlns:a16="http://schemas.microsoft.com/office/drawing/2014/main" id="{D20B1312-4526-49AE-A4A1-A6D1BBA4E6AB}"/>
              </a:ext>
            </a:extLst>
          </p:cNvPr>
          <p:cNvSpPr/>
          <p:nvPr/>
        </p:nvSpPr>
        <p:spPr>
          <a:xfrm>
            <a:off x="571500" y="-866775"/>
            <a:ext cx="11049000" cy="428625"/>
          </a:xfrm>
          <a:prstGeom prst="rect">
            <a:avLst/>
          </a:prstGeom>
          <a:noFill/>
          <a:ln/>
        </p:spPr>
        <p:txBody>
          <a:bodyPr wrap="none" lIns="0" tIns="0" rIns="0" bIns="0" rtlCol="0" anchor="t">
            <a:normAutofit/>
          </a:bodyPr>
          <a:lstStyle/>
          <a:p>
            <a:pPr marL="0" indent="0" algn="l">
              <a:lnSpc>
                <a:spcPct val="100000"/>
              </a:lnSpc>
              <a:buNone/>
            </a:pPr>
            <a:r>
              <a:rPr lang="en-IN" altLang="en-US" sz="2700" b="1" dirty="0">
                <a:solidFill>
                  <a:srgbClr val="0F172A"/>
                </a:solidFill>
                <a:latin typeface="Inter" pitchFamily="34" charset="0"/>
                <a:ea typeface="Inter" pitchFamily="34" charset="-122"/>
                <a:cs typeface="Inter" pitchFamily="34" charset="-120"/>
              </a:rPr>
              <a:t>Architecture Used: </a:t>
            </a:r>
            <a:r>
              <a:rPr lang="en" altLang="en-US" sz="2700" b="1" dirty="0">
                <a:solidFill>
                  <a:srgbClr val="0F172A"/>
                </a:solidFill>
                <a:latin typeface="Inter" pitchFamily="34" charset="0"/>
                <a:ea typeface="Inter" pitchFamily="34" charset="-122"/>
                <a:cs typeface="Inter" pitchFamily="34" charset="-120"/>
              </a:rPr>
              <a:t>Powering the Decentralized Web</a:t>
            </a:r>
            <a:endParaRPr lang="en" sz="2700" dirty="0"/>
          </a:p>
        </p:txBody>
      </p:sp>
      <p:pic>
        <p:nvPicPr>
          <p:cNvPr id="50" name="Picture 49">
            <a:extLst>
              <a:ext uri="{FF2B5EF4-FFF2-40B4-BE49-F238E27FC236}">
                <a16:creationId xmlns:a16="http://schemas.microsoft.com/office/drawing/2014/main" id="{9DEB3564-86BC-4986-95C3-DA51CAE35A57}"/>
              </a:ext>
            </a:extLst>
          </p:cNvPr>
          <p:cNvPicPr>
            <a:picLocks noChangeAspect="1"/>
          </p:cNvPicPr>
          <p:nvPr/>
        </p:nvPicPr>
        <p:blipFill>
          <a:blip r:embed="rId5"/>
          <a:stretch>
            <a:fillRect/>
          </a:stretch>
        </p:blipFill>
        <p:spPr>
          <a:xfrm>
            <a:off x="-578569" y="2775741"/>
            <a:ext cx="308947" cy="308947"/>
          </a:xfrm>
          <a:prstGeom prst="rect">
            <a:avLst/>
          </a:prstGeom>
        </p:spPr>
      </p:pic>
      <p:pic>
        <p:nvPicPr>
          <p:cNvPr id="51" name="Picture 50">
            <a:extLst>
              <a:ext uri="{FF2B5EF4-FFF2-40B4-BE49-F238E27FC236}">
                <a16:creationId xmlns:a16="http://schemas.microsoft.com/office/drawing/2014/main" id="{3A09200C-9F41-4E57-8801-3F41ED47EA40}"/>
              </a:ext>
            </a:extLst>
          </p:cNvPr>
          <p:cNvPicPr>
            <a:picLocks noChangeAspect="1"/>
          </p:cNvPicPr>
          <p:nvPr/>
        </p:nvPicPr>
        <p:blipFill>
          <a:blip r:embed="rId6"/>
          <a:stretch>
            <a:fillRect/>
          </a:stretch>
        </p:blipFill>
        <p:spPr>
          <a:xfrm>
            <a:off x="12757955" y="4897670"/>
            <a:ext cx="370160" cy="418909"/>
          </a:xfrm>
          <a:prstGeom prst="rect">
            <a:avLst/>
          </a:prstGeom>
        </p:spPr>
      </p:pic>
      <p:pic>
        <p:nvPicPr>
          <p:cNvPr id="52" name="Graphic 51">
            <a:extLst>
              <a:ext uri="{FF2B5EF4-FFF2-40B4-BE49-F238E27FC236}">
                <a16:creationId xmlns:a16="http://schemas.microsoft.com/office/drawing/2014/main" id="{EEB2E3F1-525C-4CF9-909B-857AE2CE471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34755" y="-972918"/>
            <a:ext cx="366448" cy="366448"/>
          </a:xfrm>
          <a:prstGeom prst="rect">
            <a:avLst/>
          </a:prstGeom>
        </p:spPr>
      </p:pic>
      <p:pic>
        <p:nvPicPr>
          <p:cNvPr id="53" name="Picture 52">
            <a:extLst>
              <a:ext uri="{FF2B5EF4-FFF2-40B4-BE49-F238E27FC236}">
                <a16:creationId xmlns:a16="http://schemas.microsoft.com/office/drawing/2014/main" id="{217ECA04-4ACE-441F-A6C8-92AD383B2B42}"/>
              </a:ext>
            </a:extLst>
          </p:cNvPr>
          <p:cNvPicPr>
            <a:picLocks noChangeAspect="1"/>
          </p:cNvPicPr>
          <p:nvPr/>
        </p:nvPicPr>
        <p:blipFill>
          <a:blip r:embed="rId9"/>
          <a:stretch>
            <a:fillRect/>
          </a:stretch>
        </p:blipFill>
        <p:spPr>
          <a:xfrm>
            <a:off x="4988488" y="7642629"/>
            <a:ext cx="316657" cy="491974"/>
          </a:xfrm>
          <a:prstGeom prst="rect">
            <a:avLst/>
          </a:prstGeom>
        </p:spPr>
      </p:pic>
    </p:spTree>
    <p:extLst>
      <p:ext uri="{BB962C8B-B14F-4D97-AF65-F5344CB8AC3E}">
        <p14:creationId xmlns:p14="http://schemas.microsoft.com/office/powerpoint/2010/main" val="3550967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p:nvPr/>
        </p:nvSpPr>
        <p:spPr>
          <a:xfrm>
            <a:off x="228600" y="228600"/>
            <a:ext cx="754559" cy="152400"/>
          </a:xfrm>
          <a:prstGeom prst="rect">
            <a:avLst/>
          </a:prstGeom>
          <a:noFill/>
          <a:ln/>
        </p:spPr>
        <p:txBody>
          <a:bodyPr wrap="none" lIns="0" tIns="0" rIns="0" bIns="0" rtlCol="0" anchor="t">
            <a:normAutofit/>
          </a:bodyPr>
          <a:lstStyle/>
          <a:p>
            <a:pPr marL="0" indent="0" algn="l">
              <a:lnSpc>
                <a:spcPct val="100000"/>
              </a:lnSpc>
              <a:buNone/>
            </a:pPr>
            <a:r>
              <a:rPr lang="en" altLang="en-US" sz="900" dirty="0">
                <a:solidFill>
                  <a:srgbClr val="CBD5E1">
                    <a:alpha val="40000"/>
                  </a:srgbClr>
                </a:solidFill>
                <a:latin typeface="Liberation Mono" pitchFamily="34" charset="0"/>
                <a:ea typeface="Liberation Mono" pitchFamily="34" charset="-122"/>
                <a:cs typeface="Liberation Mono" pitchFamily="34" charset="-120"/>
              </a:rPr>
              <a:t>SYS_REF_001</a:t>
            </a:r>
            <a:endParaRPr lang="en" sz="900" dirty="0"/>
          </a:p>
        </p:txBody>
      </p:sp>
      <p:sp>
        <p:nvSpPr>
          <p:cNvPr id="4" name="TextBox 13"/>
          <p:cNvSpPr/>
          <p:nvPr/>
        </p:nvSpPr>
        <p:spPr>
          <a:xfrm>
            <a:off x="10248602" y="6477000"/>
            <a:ext cx="1714798" cy="152400"/>
          </a:xfrm>
          <a:prstGeom prst="rect">
            <a:avLst/>
          </a:prstGeom>
          <a:noFill/>
          <a:ln/>
        </p:spPr>
        <p:txBody>
          <a:bodyPr wrap="none" lIns="0" tIns="0" rIns="0" bIns="0" rtlCol="0" anchor="t">
            <a:normAutofit/>
          </a:bodyPr>
          <a:lstStyle/>
          <a:p>
            <a:pPr marL="0" indent="0" algn="l">
              <a:lnSpc>
                <a:spcPct val="100000"/>
              </a:lnSpc>
              <a:buNone/>
            </a:pPr>
            <a:r>
              <a:rPr lang="en" altLang="en-US" sz="900" dirty="0">
                <a:solidFill>
                  <a:srgbClr val="CBD5E1">
                    <a:alpha val="40000"/>
                  </a:srgbClr>
                </a:solidFill>
                <a:latin typeface="Liberation Mono" pitchFamily="34" charset="0"/>
                <a:ea typeface="Liberation Mono" pitchFamily="34" charset="-122"/>
                <a:cs typeface="Liberation Mono" pitchFamily="34" charset="-120"/>
              </a:rPr>
              <a:t>LAYERED_ARCHITECTURE_SPEC</a:t>
            </a:r>
            <a:endParaRPr lang="en" sz="900" dirty="0"/>
          </a:p>
        </p:txBody>
      </p:sp>
      <p:sp>
        <p:nvSpPr>
          <p:cNvPr id="6" name="TextBox 26"/>
          <p:cNvSpPr/>
          <p:nvPr/>
        </p:nvSpPr>
        <p:spPr>
          <a:xfrm>
            <a:off x="571500" y="877880"/>
            <a:ext cx="11049000" cy="428625"/>
          </a:xfrm>
          <a:prstGeom prst="rect">
            <a:avLst/>
          </a:prstGeom>
          <a:noFill/>
          <a:ln/>
        </p:spPr>
        <p:txBody>
          <a:bodyPr wrap="none" lIns="0" tIns="0" rIns="0" bIns="0" rtlCol="0" anchor="t">
            <a:noAutofit/>
          </a:bodyPr>
          <a:lstStyle/>
          <a:p>
            <a:pPr marL="0" indent="0" algn="l">
              <a:lnSpc>
                <a:spcPct val="100000"/>
              </a:lnSpc>
              <a:buNone/>
            </a:pPr>
            <a:r>
              <a:rPr lang="en-IN" altLang="en-US" sz="3200" dirty="0">
                <a:solidFill>
                  <a:srgbClr val="0F172A"/>
                </a:solidFill>
                <a:effectLst>
                  <a:outerShdw blurRad="38100" dist="38100" dir="2700000" algn="tl">
                    <a:srgbClr val="000000">
                      <a:alpha val="43137"/>
                    </a:srgbClr>
                  </a:outerShdw>
                </a:effectLst>
                <a:latin typeface="+mj-lt"/>
                <a:ea typeface="Inter" pitchFamily="34" charset="-122"/>
                <a:cs typeface="Inter" pitchFamily="34" charset="-120"/>
              </a:rPr>
              <a:t>Architecture Used: </a:t>
            </a:r>
            <a:r>
              <a:rPr lang="en" altLang="en-US" sz="3200" dirty="0">
                <a:solidFill>
                  <a:srgbClr val="0F172A"/>
                </a:solidFill>
                <a:effectLst>
                  <a:outerShdw blurRad="38100" dist="38100" dir="2700000" algn="tl">
                    <a:srgbClr val="000000">
                      <a:alpha val="43137"/>
                    </a:srgbClr>
                  </a:outerShdw>
                </a:effectLst>
                <a:latin typeface="+mj-lt"/>
                <a:ea typeface="Inter" pitchFamily="34" charset="-122"/>
                <a:cs typeface="Inter" pitchFamily="34" charset="-120"/>
              </a:rPr>
              <a:t>Powering the Decentralized Web</a:t>
            </a:r>
            <a:endParaRPr lang="en" sz="3200" dirty="0">
              <a:effectLst>
                <a:outerShdw blurRad="38100" dist="38100" dir="2700000" algn="tl">
                  <a:srgbClr val="000000">
                    <a:alpha val="43137"/>
                  </a:srgbClr>
                </a:outerShdw>
              </a:effectLst>
              <a:latin typeface="+mj-lt"/>
            </a:endParaRPr>
          </a:p>
        </p:txBody>
      </p:sp>
      <p:sp>
        <p:nvSpPr>
          <p:cNvPr id="25" name="TextBox 184"/>
          <p:cNvSpPr/>
          <p:nvPr/>
        </p:nvSpPr>
        <p:spPr>
          <a:xfrm>
            <a:off x="11098463" y="5414416"/>
            <a:ext cx="812602" cy="166688"/>
          </a:xfrm>
          <a:prstGeom prst="rect">
            <a:avLst/>
          </a:prstGeom>
          <a:noFill/>
          <a:ln/>
        </p:spPr>
        <p:txBody>
          <a:bodyPr wrap="none" lIns="76200" tIns="19050" rIns="76200" bIns="19050" rtlCol="0" anchor="t">
            <a:normAutofit/>
          </a:bodyPr>
          <a:lstStyle/>
          <a:p>
            <a:pPr marL="0" indent="0" algn="l">
              <a:lnSpc>
                <a:spcPct val="100000"/>
              </a:lnSpc>
              <a:buNone/>
            </a:pPr>
            <a:r>
              <a:rPr lang="en" altLang="en-US" sz="675" kern="0" spc="68" dirty="0">
                <a:solidFill>
                  <a:srgbClr val="FFFFFF"/>
                </a:solidFill>
                <a:latin typeface="Liberation Mono" pitchFamily="34" charset="0"/>
                <a:ea typeface="Liberation Mono" pitchFamily="34" charset="-122"/>
                <a:cs typeface="Liberation Mono" pitchFamily="34" charset="-120"/>
              </a:rPr>
              <a:t>CORE LEDGER</a:t>
            </a:r>
            <a:endParaRPr lang="en" sz="675" dirty="0"/>
          </a:p>
        </p:txBody>
      </p:sp>
      <p:sp>
        <p:nvSpPr>
          <p:cNvPr id="31" name="TextBox 24">
            <a:extLst>
              <a:ext uri="{FF2B5EF4-FFF2-40B4-BE49-F238E27FC236}">
                <a16:creationId xmlns:a16="http://schemas.microsoft.com/office/drawing/2014/main" id="{73D47D6D-C8EA-4E43-B14A-5F34665906D9}"/>
              </a:ext>
            </a:extLst>
          </p:cNvPr>
          <p:cNvSpPr/>
          <p:nvPr/>
        </p:nvSpPr>
        <p:spPr>
          <a:xfrm>
            <a:off x="601388" y="359566"/>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29" name="TextBox 28">
            <a:extLst>
              <a:ext uri="{FF2B5EF4-FFF2-40B4-BE49-F238E27FC236}">
                <a16:creationId xmlns:a16="http://schemas.microsoft.com/office/drawing/2014/main" id="{60FCAC05-6D98-4CF7-AE20-47A98E8BC0B3}"/>
              </a:ext>
            </a:extLst>
          </p:cNvPr>
          <p:cNvSpPr txBox="1"/>
          <p:nvPr/>
        </p:nvSpPr>
        <p:spPr>
          <a:xfrm>
            <a:off x="461536" y="1361380"/>
            <a:ext cx="6739190" cy="464871"/>
          </a:xfrm>
          <a:prstGeom prst="rect">
            <a:avLst/>
          </a:prstGeom>
          <a:noFill/>
        </p:spPr>
        <p:txBody>
          <a:bodyPr wrap="square">
            <a:spAutoFit/>
          </a:bodyPr>
          <a:lstStyle/>
          <a:p>
            <a:pPr marL="0" indent="0" algn="l">
              <a:lnSpc>
                <a:spcPct val="150000"/>
              </a:lnSpc>
              <a:buNone/>
            </a:pPr>
            <a:r>
              <a:rPr lang="en-US" altLang="en-US" kern="0" spc="45" dirty="0">
                <a:solidFill>
                  <a:srgbClr val="0033CC"/>
                </a:solidFill>
                <a:latin typeface="Inter"/>
                <a:ea typeface="Liberation Mono" pitchFamily="34" charset="-122"/>
                <a:cs typeface="Liberation Mono" pitchFamily="34" charset="-120"/>
              </a:rPr>
              <a:t>Bridging operational speed with permanent cryptographic trust.</a:t>
            </a:r>
            <a:endParaRPr lang="en" dirty="0">
              <a:solidFill>
                <a:srgbClr val="0033CC"/>
              </a:solidFill>
              <a:latin typeface="Inter"/>
            </a:endParaRPr>
          </a:p>
        </p:txBody>
      </p:sp>
      <p:sp>
        <p:nvSpPr>
          <p:cNvPr id="32" name="TextBox 31">
            <a:extLst>
              <a:ext uri="{FF2B5EF4-FFF2-40B4-BE49-F238E27FC236}">
                <a16:creationId xmlns:a16="http://schemas.microsoft.com/office/drawing/2014/main" id="{1C94FFFF-1995-4EF4-BE2C-C16F1212ADCB}"/>
              </a:ext>
            </a:extLst>
          </p:cNvPr>
          <p:cNvSpPr txBox="1"/>
          <p:nvPr/>
        </p:nvSpPr>
        <p:spPr>
          <a:xfrm>
            <a:off x="493401" y="1914293"/>
            <a:ext cx="10074601" cy="332079"/>
          </a:xfrm>
          <a:prstGeom prst="rect">
            <a:avLst/>
          </a:prstGeom>
          <a:noFill/>
        </p:spPr>
        <p:txBody>
          <a:bodyPr wrap="square">
            <a:spAutoFit/>
          </a:bodyPr>
          <a:lstStyle/>
          <a:p>
            <a:pPr marL="0" indent="0" algn="l">
              <a:lnSpc>
                <a:spcPts val="2025"/>
              </a:lnSpc>
              <a:buNone/>
            </a:pPr>
            <a:r>
              <a:rPr lang="en" altLang="en-US" sz="1400" dirty="0">
                <a:solidFill>
                  <a:srgbClr val="1E293B"/>
                </a:solidFill>
                <a:latin typeface="Inter" pitchFamily="34" charset="0"/>
                <a:ea typeface="Inter" pitchFamily="34" charset="-122"/>
                <a:cs typeface="Inter" pitchFamily="34" charset="-120"/>
              </a:rPr>
              <a:t>A modern </a:t>
            </a:r>
            <a:r>
              <a:rPr lang="en-IN" altLang="en-US" sz="1400" dirty="0">
                <a:solidFill>
                  <a:srgbClr val="1E293B"/>
                </a:solidFill>
                <a:latin typeface="Inter" pitchFamily="34" charset="0"/>
                <a:ea typeface="Inter" pitchFamily="34" charset="-122"/>
                <a:cs typeface="Inter" pitchFamily="34" charset="-120"/>
              </a:rPr>
              <a:t>Hybrid Web2 &amp; Web3 Architecture</a:t>
            </a:r>
            <a:r>
              <a:rPr lang="en" altLang="en-US" sz="1400" dirty="0">
                <a:solidFill>
                  <a:srgbClr val="1E293B"/>
                </a:solidFill>
                <a:latin typeface="Inter" pitchFamily="34" charset="0"/>
                <a:ea typeface="Inter" pitchFamily="34" charset="-122"/>
                <a:cs typeface="Inter" pitchFamily="34" charset="-120"/>
              </a:rPr>
              <a:t> </a:t>
            </a:r>
            <a:r>
              <a:rPr lang="en-IN" altLang="en-US" sz="1400" dirty="0">
                <a:solidFill>
                  <a:srgbClr val="1E293B"/>
                </a:solidFill>
                <a:latin typeface="Inter" pitchFamily="34" charset="0"/>
                <a:ea typeface="Inter" pitchFamily="34" charset="-122"/>
                <a:cs typeface="Inter" pitchFamily="34" charset="-120"/>
              </a:rPr>
              <a:t>E</a:t>
            </a:r>
            <a:r>
              <a:rPr lang="en" altLang="en-US" sz="1400" dirty="0">
                <a:solidFill>
                  <a:srgbClr val="1E293B"/>
                </a:solidFill>
                <a:latin typeface="Inter" pitchFamily="34" charset="0"/>
                <a:ea typeface="Inter" pitchFamily="34" charset="-122"/>
                <a:cs typeface="Inter" pitchFamily="34" charset="-120"/>
              </a:rPr>
              <a:t>nsuring</a:t>
            </a:r>
            <a:r>
              <a:rPr lang="en" altLang="en-US" sz="1400" dirty="0"/>
              <a:t> </a:t>
            </a:r>
            <a:r>
              <a:rPr lang="en" altLang="en-US" sz="1400" dirty="0">
                <a:solidFill>
                  <a:srgbClr val="1E293B"/>
                </a:solidFill>
                <a:latin typeface="Inter" pitchFamily="34" charset="0"/>
                <a:ea typeface="Inter" pitchFamily="34" charset="-122"/>
                <a:cs typeface="Inter" pitchFamily="34" charset="-120"/>
              </a:rPr>
              <a:t>scalability, security, and a seamless user experience.</a:t>
            </a:r>
            <a:endParaRPr lang="en" sz="1400" dirty="0"/>
          </a:p>
        </p:txBody>
      </p:sp>
      <p:sp>
        <p:nvSpPr>
          <p:cNvPr id="38" name="TextBox 96">
            <a:extLst>
              <a:ext uri="{FF2B5EF4-FFF2-40B4-BE49-F238E27FC236}">
                <a16:creationId xmlns:a16="http://schemas.microsoft.com/office/drawing/2014/main" id="{AE7C5A24-EF75-45D1-BC34-1004C70DEF47}"/>
              </a:ext>
            </a:extLst>
          </p:cNvPr>
          <p:cNvSpPr/>
          <p:nvPr/>
        </p:nvSpPr>
        <p:spPr>
          <a:xfrm>
            <a:off x="13307272" y="1828651"/>
            <a:ext cx="6405354" cy="257175"/>
          </a:xfrm>
          <a:prstGeom prst="rect">
            <a:avLst/>
          </a:prstGeom>
          <a:noFill/>
          <a:ln/>
        </p:spPr>
        <p:txBody>
          <a:bodyPr wrap="none" lIns="0" tIns="0" rIns="0" bIns="0" rtlCol="0" anchor="t">
            <a:normAutofit/>
          </a:bodyPr>
          <a:lstStyle/>
          <a:p>
            <a:pPr marL="0" indent="0" algn="l">
              <a:lnSpc>
                <a:spcPct val="100000"/>
              </a:lnSpc>
              <a:buNone/>
            </a:pPr>
            <a:r>
              <a:rPr lang="en-IN" altLang="en-US" sz="1350" b="1" dirty="0">
                <a:solidFill>
                  <a:srgbClr val="0F172A"/>
                </a:solidFill>
                <a:latin typeface="Arial" pitchFamily="34" charset="0"/>
                <a:ea typeface="Arial" pitchFamily="34" charset="-122"/>
                <a:cs typeface="Arial" pitchFamily="34" charset="-120"/>
              </a:rPr>
              <a:t>Requirements Gathering &amp; System Analysis</a:t>
            </a:r>
            <a:endParaRPr lang="en" sz="1350" dirty="0"/>
          </a:p>
        </p:txBody>
      </p:sp>
      <p:sp>
        <p:nvSpPr>
          <p:cNvPr id="39" name="TextBox 98">
            <a:extLst>
              <a:ext uri="{FF2B5EF4-FFF2-40B4-BE49-F238E27FC236}">
                <a16:creationId xmlns:a16="http://schemas.microsoft.com/office/drawing/2014/main" id="{95D8087D-5D24-486D-A1B9-1EAA82C5EF32}"/>
              </a:ext>
            </a:extLst>
          </p:cNvPr>
          <p:cNvSpPr/>
          <p:nvPr/>
        </p:nvSpPr>
        <p:spPr>
          <a:xfrm>
            <a:off x="13307273" y="2162026"/>
            <a:ext cx="6405354" cy="200025"/>
          </a:xfrm>
          <a:prstGeom prst="rect">
            <a:avLst/>
          </a:prstGeom>
          <a:noFill/>
          <a:ln/>
        </p:spPr>
        <p:txBody>
          <a:bodyPr wrap="none" lIns="0" tIns="0" rIns="0" bIns="0" rtlCol="0" anchor="t">
            <a:normAutofit/>
          </a:bodyPr>
          <a:lstStyle/>
          <a:p>
            <a:pPr marL="171450" indent="-171450" algn="l">
              <a:lnSpc>
                <a:spcPct val="100000"/>
              </a:lnSpc>
              <a:buFont typeface="Arial" panose="020B0604020202020204" pitchFamily="34" charset="0"/>
              <a:buChar char="•"/>
            </a:pPr>
            <a:r>
              <a:rPr lang="en-US" altLang="en-US" sz="1050" dirty="0">
                <a:solidFill>
                  <a:srgbClr val="64748B"/>
                </a:solidFill>
                <a:latin typeface="Arial" pitchFamily="34" charset="0"/>
                <a:ea typeface="Arial" pitchFamily="34" charset="-122"/>
                <a:cs typeface="Arial" pitchFamily="34" charset="-120"/>
              </a:rPr>
              <a:t>Identified physical certificate forgery vulnerabilities and verification bottlenecks.</a:t>
            </a:r>
            <a:endParaRPr lang="en" sz="1050" dirty="0"/>
          </a:p>
        </p:txBody>
      </p:sp>
      <p:sp>
        <p:nvSpPr>
          <p:cNvPr id="42" name="TextBox 113">
            <a:extLst>
              <a:ext uri="{FF2B5EF4-FFF2-40B4-BE49-F238E27FC236}">
                <a16:creationId xmlns:a16="http://schemas.microsoft.com/office/drawing/2014/main" id="{BF0FD59B-7E94-4EA7-A58A-2687F0E907D4}"/>
              </a:ext>
            </a:extLst>
          </p:cNvPr>
          <p:cNvSpPr/>
          <p:nvPr/>
        </p:nvSpPr>
        <p:spPr>
          <a:xfrm>
            <a:off x="13307273" y="2943076"/>
            <a:ext cx="6405354" cy="257175"/>
          </a:xfrm>
          <a:prstGeom prst="rect">
            <a:avLst/>
          </a:prstGeom>
          <a:noFill/>
          <a:ln/>
        </p:spPr>
        <p:txBody>
          <a:bodyPr wrap="none" lIns="0" tIns="0" rIns="0" bIns="0" rtlCol="0" anchor="t">
            <a:normAutofit/>
          </a:bodyPr>
          <a:lstStyle/>
          <a:p>
            <a:pPr marL="0" indent="0" algn="l">
              <a:lnSpc>
                <a:spcPct val="100000"/>
              </a:lnSpc>
              <a:buNone/>
            </a:pPr>
            <a:r>
              <a:rPr lang="en-IN" altLang="en-US" sz="1350" b="1" dirty="0">
                <a:solidFill>
                  <a:srgbClr val="0F172A"/>
                </a:solidFill>
                <a:latin typeface="Arial" pitchFamily="34" charset="0"/>
                <a:ea typeface="Arial" pitchFamily="34" charset="-122"/>
                <a:cs typeface="Arial" pitchFamily="34" charset="-120"/>
              </a:rPr>
              <a:t>System Architecture &amp; Data Modelling</a:t>
            </a:r>
            <a:endParaRPr lang="en" sz="1350" dirty="0"/>
          </a:p>
        </p:txBody>
      </p:sp>
      <p:sp>
        <p:nvSpPr>
          <p:cNvPr id="43" name="TextBox 115">
            <a:extLst>
              <a:ext uri="{FF2B5EF4-FFF2-40B4-BE49-F238E27FC236}">
                <a16:creationId xmlns:a16="http://schemas.microsoft.com/office/drawing/2014/main" id="{6475C4D0-94F0-4D1D-8414-C75B2C538562}"/>
              </a:ext>
            </a:extLst>
          </p:cNvPr>
          <p:cNvSpPr/>
          <p:nvPr/>
        </p:nvSpPr>
        <p:spPr>
          <a:xfrm>
            <a:off x="13427288" y="3238351"/>
            <a:ext cx="6489174" cy="666750"/>
          </a:xfrm>
          <a:prstGeom prst="rect">
            <a:avLst/>
          </a:prstGeom>
          <a:noFill/>
          <a:ln/>
        </p:spPr>
        <p:txBody>
          <a:bodyPr wrap="none" lIns="0" tIns="0" rIns="0" bIns="0" rtlCol="0" anchor="t">
            <a:normAutofit fontScale="92500" lnSpcReduction="20000"/>
          </a:bodyPr>
          <a:lstStyle/>
          <a:p>
            <a:pPr marL="0" indent="0" algn="l">
              <a:lnSpc>
                <a:spcPct val="160000"/>
              </a:lnSpc>
              <a:buNone/>
            </a:pPr>
            <a:r>
              <a:rPr lang="en-US" altLang="en-US" sz="1050" dirty="0">
                <a:solidFill>
                  <a:srgbClr val="64748B"/>
                </a:solidFill>
                <a:latin typeface="Arial" pitchFamily="34" charset="0"/>
                <a:ea typeface="Arial" pitchFamily="34" charset="-122"/>
                <a:cs typeface="Arial" pitchFamily="34" charset="-120"/>
              </a:rPr>
              <a:t>Modeled 3NF database schema across 8 core entities (ERD).</a:t>
            </a:r>
          </a:p>
          <a:p>
            <a:pPr marL="0" indent="0" algn="l">
              <a:lnSpc>
                <a:spcPct val="160000"/>
              </a:lnSpc>
              <a:buNone/>
            </a:pPr>
            <a:r>
              <a:rPr lang="en-US" altLang="en-US" sz="1050" dirty="0">
                <a:solidFill>
                  <a:srgbClr val="64748B"/>
                </a:solidFill>
                <a:latin typeface="Arial" pitchFamily="34" charset="0"/>
                <a:ea typeface="Arial" pitchFamily="34" charset="-122"/>
                <a:cs typeface="Arial" pitchFamily="34" charset="-120"/>
              </a:rPr>
              <a:t>Structured Level 0 Context, Level 1 Main Processes, and Level 2 Document Anchoring Data Flow </a:t>
            </a:r>
          </a:p>
          <a:p>
            <a:pPr marL="0" indent="0" algn="l">
              <a:lnSpc>
                <a:spcPct val="160000"/>
              </a:lnSpc>
              <a:buNone/>
            </a:pPr>
            <a:r>
              <a:rPr lang="en-US" altLang="en-US" sz="1050" dirty="0">
                <a:solidFill>
                  <a:srgbClr val="64748B"/>
                </a:solidFill>
                <a:latin typeface="Arial" pitchFamily="34" charset="0"/>
                <a:ea typeface="Arial" pitchFamily="34" charset="-122"/>
                <a:cs typeface="Arial" pitchFamily="34" charset="-120"/>
              </a:rPr>
              <a:t>Diagrams (DFDs).</a:t>
            </a:r>
          </a:p>
          <a:p>
            <a:pPr marL="0" indent="0" algn="l">
              <a:lnSpc>
                <a:spcPct val="160000"/>
              </a:lnSpc>
              <a:buNone/>
            </a:pPr>
            <a:endParaRPr lang="en-US" altLang="en-US" sz="1050" dirty="0">
              <a:solidFill>
                <a:srgbClr val="64748B"/>
              </a:solidFill>
              <a:latin typeface="Arial" pitchFamily="34" charset="0"/>
              <a:ea typeface="Arial" pitchFamily="34" charset="-122"/>
              <a:cs typeface="Arial" pitchFamily="34" charset="-120"/>
            </a:endParaRPr>
          </a:p>
        </p:txBody>
      </p:sp>
      <p:sp>
        <p:nvSpPr>
          <p:cNvPr id="45" name="TextBox 130">
            <a:extLst>
              <a:ext uri="{FF2B5EF4-FFF2-40B4-BE49-F238E27FC236}">
                <a16:creationId xmlns:a16="http://schemas.microsoft.com/office/drawing/2014/main" id="{40E05D41-9FD7-49EB-8487-AF0CE4A29879}"/>
              </a:ext>
            </a:extLst>
          </p:cNvPr>
          <p:cNvSpPr/>
          <p:nvPr/>
        </p:nvSpPr>
        <p:spPr>
          <a:xfrm>
            <a:off x="13307273" y="4000351"/>
            <a:ext cx="6405354" cy="257175"/>
          </a:xfrm>
          <a:prstGeom prst="rect">
            <a:avLst/>
          </a:prstGeom>
          <a:noFill/>
          <a:ln/>
        </p:spPr>
        <p:txBody>
          <a:bodyPr wrap="none" lIns="0" tIns="0" rIns="0" bIns="0" rtlCol="0" anchor="t">
            <a:normAutofit/>
          </a:bodyPr>
          <a:lstStyle/>
          <a:p>
            <a:pPr marL="0" indent="0" algn="l">
              <a:lnSpc>
                <a:spcPct val="100000"/>
              </a:lnSpc>
              <a:buNone/>
            </a:pPr>
            <a:r>
              <a:rPr lang="en-IN" altLang="en-US" sz="1350" b="1" dirty="0">
                <a:solidFill>
                  <a:srgbClr val="0F172A"/>
                </a:solidFill>
                <a:latin typeface="Arial" pitchFamily="34" charset="0"/>
                <a:ea typeface="Arial" pitchFamily="34" charset="-122"/>
                <a:cs typeface="Arial" pitchFamily="34" charset="-120"/>
              </a:rPr>
              <a:t> Full-Stack Implementation &amp; Smart Contracts</a:t>
            </a:r>
            <a:endParaRPr lang="en" sz="1350" dirty="0"/>
          </a:p>
        </p:txBody>
      </p:sp>
      <p:sp>
        <p:nvSpPr>
          <p:cNvPr id="46" name="TextBox 45">
            <a:extLst>
              <a:ext uri="{FF2B5EF4-FFF2-40B4-BE49-F238E27FC236}">
                <a16:creationId xmlns:a16="http://schemas.microsoft.com/office/drawing/2014/main" id="{D9075368-E9CD-46A6-A1FC-DACF476D42A9}"/>
              </a:ext>
            </a:extLst>
          </p:cNvPr>
          <p:cNvSpPr txBox="1"/>
          <p:nvPr/>
        </p:nvSpPr>
        <p:spPr>
          <a:xfrm>
            <a:off x="13292098" y="1058219"/>
            <a:ext cx="6739190" cy="307777"/>
          </a:xfrm>
          <a:prstGeom prst="rect">
            <a:avLst/>
          </a:prstGeom>
          <a:noFill/>
          <a:ln/>
        </p:spPr>
        <p:txBody>
          <a:bodyPr wrap="none" lIns="0" tIns="0" rIns="0" bIns="0" rtlCol="0" anchor="t">
            <a:normAutofit/>
          </a:bodyPr>
          <a:lstStyle>
            <a:lvl1pPr indent="0">
              <a:lnSpc>
                <a:spcPct val="100000"/>
              </a:lnSpc>
              <a:buNone/>
              <a:defRPr sz="1350" b="1">
                <a:solidFill>
                  <a:srgbClr val="0F172A"/>
                </a:solidFill>
                <a:latin typeface="Arial" pitchFamily="34" charset="0"/>
                <a:ea typeface="Arial" pitchFamily="34" charset="-122"/>
                <a:cs typeface="Arial" pitchFamily="34" charset="-120"/>
              </a:defRPr>
            </a:lvl1pPr>
          </a:lstStyle>
          <a:p>
            <a:r>
              <a:rPr lang="en-US" dirty="0"/>
              <a:t>Development Methodology:</a:t>
            </a:r>
            <a:endParaRPr lang="en-IN" dirty="0"/>
          </a:p>
        </p:txBody>
      </p:sp>
      <p:sp>
        <p:nvSpPr>
          <p:cNvPr id="48" name="TextBox 47">
            <a:extLst>
              <a:ext uri="{FF2B5EF4-FFF2-40B4-BE49-F238E27FC236}">
                <a16:creationId xmlns:a16="http://schemas.microsoft.com/office/drawing/2014/main" id="{F5E6A6B0-1586-44D7-9E55-13DCB63D3995}"/>
              </a:ext>
            </a:extLst>
          </p:cNvPr>
          <p:cNvSpPr txBox="1"/>
          <p:nvPr/>
        </p:nvSpPr>
        <p:spPr>
          <a:xfrm>
            <a:off x="13210068" y="2327404"/>
            <a:ext cx="6686802" cy="55201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050" dirty="0">
                <a:solidFill>
                  <a:srgbClr val="64748B"/>
                </a:solidFill>
              </a:rPr>
              <a:t>Mapped dynamic evaluation models (2 core subjects for Certificate courses vs. 5 subjects per semester for Diploma/Degree courses).</a:t>
            </a:r>
          </a:p>
        </p:txBody>
      </p:sp>
      <p:sp>
        <p:nvSpPr>
          <p:cNvPr id="49" name="TextBox 48">
            <a:extLst>
              <a:ext uri="{FF2B5EF4-FFF2-40B4-BE49-F238E27FC236}">
                <a16:creationId xmlns:a16="http://schemas.microsoft.com/office/drawing/2014/main" id="{E8658F20-8B88-443F-9A82-08303AB3E8A9}"/>
              </a:ext>
            </a:extLst>
          </p:cNvPr>
          <p:cNvSpPr txBox="1"/>
          <p:nvPr/>
        </p:nvSpPr>
        <p:spPr>
          <a:xfrm>
            <a:off x="13220700" y="4159293"/>
            <a:ext cx="6705600" cy="86126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IN" sz="1150" dirty="0">
                <a:solidFill>
                  <a:srgbClr val="64748B"/>
                </a:solidFill>
              </a:rPr>
              <a:t>Developed Node.js/Express REST APIs and React.js frontend dashboards.</a:t>
            </a:r>
          </a:p>
          <a:p>
            <a:pPr marL="171450" indent="-171450">
              <a:lnSpc>
                <a:spcPct val="150000"/>
              </a:lnSpc>
              <a:buFont typeface="Arial" panose="020B0604020202020204" pitchFamily="34" charset="0"/>
              <a:buChar char="•"/>
            </a:pPr>
            <a:r>
              <a:rPr lang="en-IN" sz="1150" dirty="0">
                <a:solidFill>
                  <a:srgbClr val="64748B"/>
                </a:solidFill>
              </a:rPr>
              <a:t>Codified Solidity smart contracts (Certificate. Sol) and compiled bytecode using Hardhat.</a:t>
            </a:r>
          </a:p>
          <a:p>
            <a:pPr marL="171450" indent="-171450">
              <a:lnSpc>
                <a:spcPct val="150000"/>
              </a:lnSpc>
              <a:buFont typeface="Arial" panose="020B0604020202020204" pitchFamily="34" charset="0"/>
              <a:buChar char="•"/>
            </a:pPr>
            <a:r>
              <a:rPr lang="en-IN" sz="1150" dirty="0">
                <a:solidFill>
                  <a:srgbClr val="64748B"/>
                </a:solidFill>
              </a:rPr>
              <a:t>Integrated ethers.js for browser and server Web3 communication.</a:t>
            </a:r>
          </a:p>
        </p:txBody>
      </p:sp>
      <p:sp>
        <p:nvSpPr>
          <p:cNvPr id="52" name="TextBox 51">
            <a:extLst>
              <a:ext uri="{FF2B5EF4-FFF2-40B4-BE49-F238E27FC236}">
                <a16:creationId xmlns:a16="http://schemas.microsoft.com/office/drawing/2014/main" id="{5BB7D165-0683-4905-8FAD-71CC18F05347}"/>
              </a:ext>
            </a:extLst>
          </p:cNvPr>
          <p:cNvSpPr txBox="1"/>
          <p:nvPr/>
        </p:nvSpPr>
        <p:spPr>
          <a:xfrm>
            <a:off x="13357625" y="5080063"/>
            <a:ext cx="6705600" cy="300082"/>
          </a:xfrm>
          <a:prstGeom prst="rect">
            <a:avLst/>
          </a:prstGeom>
          <a:noFill/>
          <a:ln/>
        </p:spPr>
        <p:txBody>
          <a:bodyPr wrap="none" lIns="0" tIns="0" rIns="0" bIns="0" rtlCol="0" anchor="t">
            <a:normAutofit/>
          </a:bodyPr>
          <a:lstStyle>
            <a:lvl1pPr indent="0">
              <a:lnSpc>
                <a:spcPct val="100000"/>
              </a:lnSpc>
              <a:buNone/>
              <a:defRPr sz="1350" b="1">
                <a:solidFill>
                  <a:srgbClr val="0F172A"/>
                </a:solidFill>
                <a:latin typeface="Arial" pitchFamily="34" charset="0"/>
                <a:ea typeface="Arial" pitchFamily="34" charset="-122"/>
                <a:cs typeface="Arial" pitchFamily="34" charset="-120"/>
              </a:defRPr>
            </a:lvl1pPr>
          </a:lstStyle>
          <a:p>
            <a:r>
              <a:rPr lang="en-IN" dirty="0"/>
              <a:t>Multi-Tier Testing &amp; Security Auditing</a:t>
            </a:r>
          </a:p>
        </p:txBody>
      </p:sp>
      <p:sp>
        <p:nvSpPr>
          <p:cNvPr id="53" name="TextBox 52">
            <a:extLst>
              <a:ext uri="{FF2B5EF4-FFF2-40B4-BE49-F238E27FC236}">
                <a16:creationId xmlns:a16="http://schemas.microsoft.com/office/drawing/2014/main" id="{0E383708-E512-44EE-8E70-72D790D65F6E}"/>
              </a:ext>
            </a:extLst>
          </p:cNvPr>
          <p:cNvSpPr txBox="1"/>
          <p:nvPr/>
        </p:nvSpPr>
        <p:spPr>
          <a:xfrm>
            <a:off x="13357625" y="5344404"/>
            <a:ext cx="6705600" cy="269304"/>
          </a:xfrm>
          <a:prstGeom prst="rect">
            <a:avLst/>
          </a:prstGeom>
          <a:noFill/>
        </p:spPr>
        <p:txBody>
          <a:bodyPr wrap="square">
            <a:spAutoFit/>
          </a:bodyPr>
          <a:lstStyle/>
          <a:p>
            <a:r>
              <a:rPr lang="en-US" sz="1150" dirty="0">
                <a:solidFill>
                  <a:srgbClr val="64748B"/>
                </a:solidFill>
              </a:rPr>
              <a:t>Integration testing for MongoDB and Ethereum synchronization.</a:t>
            </a:r>
            <a:endParaRPr lang="en-IN" sz="1150" dirty="0">
              <a:solidFill>
                <a:srgbClr val="64748B"/>
              </a:solidFill>
            </a:endParaRPr>
          </a:p>
        </p:txBody>
      </p:sp>
      <p:sp>
        <p:nvSpPr>
          <p:cNvPr id="55" name="TextBox 54">
            <a:extLst>
              <a:ext uri="{FF2B5EF4-FFF2-40B4-BE49-F238E27FC236}">
                <a16:creationId xmlns:a16="http://schemas.microsoft.com/office/drawing/2014/main" id="{F08C9B72-4D6B-455D-B192-BAD9C69F2CE3}"/>
              </a:ext>
            </a:extLst>
          </p:cNvPr>
          <p:cNvSpPr txBox="1"/>
          <p:nvPr/>
        </p:nvSpPr>
        <p:spPr>
          <a:xfrm>
            <a:off x="13371272" y="1315209"/>
            <a:ext cx="6405354" cy="415498"/>
          </a:xfrm>
          <a:prstGeom prst="rect">
            <a:avLst/>
          </a:prstGeom>
          <a:noFill/>
          <a:ln/>
        </p:spPr>
        <p:txBody>
          <a:bodyPr wrap="none" lIns="0" tIns="0" rIns="0" bIns="0" rtlCol="0" anchor="t">
            <a:normAutofit fontScale="92500" lnSpcReduction="10000"/>
          </a:bodyPr>
          <a:lstStyle>
            <a:lvl1pPr marL="171450" indent="-171450">
              <a:lnSpc>
                <a:spcPct val="100000"/>
              </a:lnSpc>
              <a:buFont typeface="Arial" panose="020B0604020202020204" pitchFamily="34" charset="0"/>
              <a:buChar char="•"/>
              <a:defRPr sz="1050">
                <a:solidFill>
                  <a:srgbClr val="64748B"/>
                </a:solidFill>
                <a:latin typeface="Arial" pitchFamily="34" charset="0"/>
                <a:ea typeface="Arial" pitchFamily="34" charset="-122"/>
                <a:cs typeface="Arial" pitchFamily="34" charset="-120"/>
              </a:defRPr>
            </a:lvl1pPr>
          </a:lstStyle>
          <a:p>
            <a:pPr marL="0" indent="0">
              <a:lnSpc>
                <a:spcPct val="150000"/>
              </a:lnSpc>
              <a:buNone/>
            </a:pPr>
            <a:r>
              <a:rPr lang="en-US" dirty="0"/>
              <a:t>Utilizes an Iterative Agile-Waterfall Hybrid approach to ensure smart contract immutability and</a:t>
            </a:r>
          </a:p>
          <a:p>
            <a:pPr marL="0" indent="0">
              <a:lnSpc>
                <a:spcPct val="150000"/>
              </a:lnSpc>
              <a:buNone/>
            </a:pPr>
            <a:r>
              <a:rPr lang="en-US" dirty="0"/>
              <a:t>rapid web interface iteration.</a:t>
            </a:r>
            <a:endParaRPr lang="en-IN" dirty="0"/>
          </a:p>
        </p:txBody>
      </p:sp>
      <p:sp>
        <p:nvSpPr>
          <p:cNvPr id="59" name="TextBox 58">
            <a:extLst>
              <a:ext uri="{FF2B5EF4-FFF2-40B4-BE49-F238E27FC236}">
                <a16:creationId xmlns:a16="http://schemas.microsoft.com/office/drawing/2014/main" id="{662D15AE-764D-41C6-B071-B1B57254FC9C}"/>
              </a:ext>
            </a:extLst>
          </p:cNvPr>
          <p:cNvSpPr txBox="1"/>
          <p:nvPr/>
        </p:nvSpPr>
        <p:spPr>
          <a:xfrm>
            <a:off x="13357625" y="5679514"/>
            <a:ext cx="6705600" cy="300082"/>
          </a:xfrm>
          <a:prstGeom prst="rect">
            <a:avLst/>
          </a:prstGeom>
          <a:noFill/>
          <a:ln/>
        </p:spPr>
        <p:txBody>
          <a:bodyPr wrap="none" lIns="0" tIns="0" rIns="0" bIns="0" rtlCol="0" anchor="t">
            <a:normAutofit/>
          </a:bodyPr>
          <a:lstStyle>
            <a:lvl1pPr indent="0">
              <a:lnSpc>
                <a:spcPct val="100000"/>
              </a:lnSpc>
              <a:buNone/>
              <a:defRPr sz="1350" b="1">
                <a:solidFill>
                  <a:srgbClr val="0F172A"/>
                </a:solidFill>
                <a:latin typeface="Arial" pitchFamily="34" charset="0"/>
                <a:ea typeface="Arial" pitchFamily="34" charset="-122"/>
                <a:cs typeface="Arial" pitchFamily="34" charset="-120"/>
              </a:defRPr>
            </a:lvl1pPr>
          </a:lstStyle>
          <a:p>
            <a:r>
              <a:rPr lang="en-IN" dirty="0"/>
              <a:t>Hybrid Infrastructure Deployment</a:t>
            </a:r>
          </a:p>
        </p:txBody>
      </p:sp>
      <p:sp>
        <p:nvSpPr>
          <p:cNvPr id="60" name="TextBox 59">
            <a:extLst>
              <a:ext uri="{FF2B5EF4-FFF2-40B4-BE49-F238E27FC236}">
                <a16:creationId xmlns:a16="http://schemas.microsoft.com/office/drawing/2014/main" id="{493E459D-1124-438D-A9D5-1CD85EDC7E93}"/>
              </a:ext>
            </a:extLst>
          </p:cNvPr>
          <p:cNvSpPr txBox="1"/>
          <p:nvPr/>
        </p:nvSpPr>
        <p:spPr>
          <a:xfrm>
            <a:off x="13220700" y="5869801"/>
            <a:ext cx="6705600" cy="861261"/>
          </a:xfrm>
          <a:prstGeom prst="rect">
            <a:avLst/>
          </a:prstGeom>
          <a:noFill/>
        </p:spPr>
        <p:txBody>
          <a:bodyPr wrap="square">
            <a:spAutoFit/>
          </a:bodyPr>
          <a:lstStyle>
            <a:lvl1pPr marL="171450" indent="-171450">
              <a:lnSpc>
                <a:spcPct val="150000"/>
              </a:lnSpc>
              <a:buFont typeface="Arial" panose="020B0604020202020204" pitchFamily="34" charset="0"/>
              <a:buChar char="•"/>
              <a:defRPr sz="1150">
                <a:solidFill>
                  <a:srgbClr val="64748B"/>
                </a:solidFill>
              </a:defRPr>
            </a:lvl1pPr>
          </a:lstStyle>
          <a:p>
            <a:r>
              <a:rPr lang="en-IN" dirty="0"/>
              <a:t>Frontend: Static asset deployment on </a:t>
            </a:r>
            <a:r>
              <a:rPr lang="en-IN" dirty="0" err="1"/>
              <a:t>Vercel</a:t>
            </a:r>
            <a:r>
              <a:rPr lang="en-IN" dirty="0"/>
              <a:t> /Netlify.</a:t>
            </a:r>
          </a:p>
          <a:p>
            <a:r>
              <a:rPr lang="en-IN" dirty="0"/>
              <a:t>Backend &amp; DB: Node.js APIs on AWS/Render connected to a MongoDB Atlas cluster.</a:t>
            </a:r>
          </a:p>
          <a:p>
            <a:r>
              <a:rPr lang="en-IN" dirty="0"/>
              <a:t>Blockchain: Solidity contracts deployed to </a:t>
            </a:r>
            <a:r>
              <a:rPr lang="en-IN" dirty="0" err="1"/>
              <a:t>Sepolia</a:t>
            </a:r>
            <a:r>
              <a:rPr lang="en-IN" dirty="0"/>
              <a:t> </a:t>
            </a:r>
            <a:r>
              <a:rPr lang="en-IN" dirty="0" err="1"/>
              <a:t>Testnet</a:t>
            </a:r>
            <a:r>
              <a:rPr lang="en-IN" dirty="0"/>
              <a:t> / Ethereum </a:t>
            </a:r>
            <a:r>
              <a:rPr lang="en-IN" dirty="0" err="1"/>
              <a:t>Mainnet</a:t>
            </a:r>
            <a:r>
              <a:rPr lang="en-IN" dirty="0"/>
              <a:t>.</a:t>
            </a:r>
          </a:p>
        </p:txBody>
      </p:sp>
      <p:sp>
        <p:nvSpPr>
          <p:cNvPr id="61" name="Rectangle: Rounded Corners 60">
            <a:extLst>
              <a:ext uri="{FF2B5EF4-FFF2-40B4-BE49-F238E27FC236}">
                <a16:creationId xmlns:a16="http://schemas.microsoft.com/office/drawing/2014/main" id="{AAA0D647-1B41-496E-B002-755FAE1880F0}"/>
              </a:ext>
            </a:extLst>
          </p:cNvPr>
          <p:cNvSpPr/>
          <p:nvPr/>
        </p:nvSpPr>
        <p:spPr>
          <a:xfrm>
            <a:off x="5772150" y="-4429125"/>
            <a:ext cx="569118"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Rounded Corners 61">
            <a:extLst>
              <a:ext uri="{FF2B5EF4-FFF2-40B4-BE49-F238E27FC236}">
                <a16:creationId xmlns:a16="http://schemas.microsoft.com/office/drawing/2014/main" id="{1529282A-D16A-4502-9387-D61A9CF391D3}"/>
              </a:ext>
            </a:extLst>
          </p:cNvPr>
          <p:cNvSpPr/>
          <p:nvPr/>
        </p:nvSpPr>
        <p:spPr>
          <a:xfrm>
            <a:off x="5772150" y="-2838450"/>
            <a:ext cx="604391"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Rounded Corners 62">
            <a:extLst>
              <a:ext uri="{FF2B5EF4-FFF2-40B4-BE49-F238E27FC236}">
                <a16:creationId xmlns:a16="http://schemas.microsoft.com/office/drawing/2014/main" id="{7A27C472-8A67-4C2B-833E-9AF558104D22}"/>
              </a:ext>
            </a:extLst>
          </p:cNvPr>
          <p:cNvSpPr/>
          <p:nvPr/>
        </p:nvSpPr>
        <p:spPr>
          <a:xfrm>
            <a:off x="5772150" y="-1114425"/>
            <a:ext cx="609600" cy="609600"/>
          </a:xfrm>
          <a:prstGeom prst="roundRect">
            <a:avLst/>
          </a:prstGeom>
          <a:solidFill>
            <a:srgbClr val="3B82F6"/>
          </a:solidFill>
          <a:ln>
            <a:noFill/>
          </a:ln>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C8CF1FEB-D8F1-4F84-92AD-8288C8B141F3}"/>
              </a:ext>
            </a:extLst>
          </p:cNvPr>
          <p:cNvSpPr txBox="1"/>
          <p:nvPr/>
        </p:nvSpPr>
        <p:spPr>
          <a:xfrm>
            <a:off x="5932884" y="-4262438"/>
            <a:ext cx="560070" cy="276225"/>
          </a:xfrm>
          <a:prstGeom prst="rect">
            <a:avLst/>
          </a:prstGeom>
          <a:noFill/>
        </p:spPr>
        <p:txBody>
          <a:bodyPr wrap="none" lIns="0" tIns="0" rIns="0" bIns="0" anchor="t">
            <a:spAutoFit/>
          </a:bodyPr>
          <a:lstStyle/>
          <a:p>
            <a:pPr algn="l"/>
            <a:r>
              <a:rPr sz="1800" b="1" i="0" u="none" dirty="0">
                <a:solidFill>
                  <a:srgbClr val="FFFFFF"/>
                </a:solidFill>
                <a:latin typeface="Inter"/>
              </a:rPr>
              <a:t>01</a:t>
            </a:r>
          </a:p>
        </p:txBody>
      </p:sp>
      <p:sp>
        <p:nvSpPr>
          <p:cNvPr id="65" name="TextBox 64">
            <a:extLst>
              <a:ext uri="{FF2B5EF4-FFF2-40B4-BE49-F238E27FC236}">
                <a16:creationId xmlns:a16="http://schemas.microsoft.com/office/drawing/2014/main" id="{E1679C58-899C-42CD-80F1-DFDC9B420C8B}"/>
              </a:ext>
            </a:extLst>
          </p:cNvPr>
          <p:cNvSpPr txBox="1"/>
          <p:nvPr/>
        </p:nvSpPr>
        <p:spPr>
          <a:xfrm>
            <a:off x="5926633" y="-2671763"/>
            <a:ext cx="610076" cy="276225"/>
          </a:xfrm>
          <a:prstGeom prst="rect">
            <a:avLst/>
          </a:prstGeom>
          <a:noFill/>
        </p:spPr>
        <p:txBody>
          <a:bodyPr wrap="none" lIns="0" tIns="0" rIns="0" bIns="0" anchor="t">
            <a:spAutoFit/>
          </a:bodyPr>
          <a:lstStyle/>
          <a:p>
            <a:pPr algn="l"/>
            <a:r>
              <a:rPr sz="1800" b="1" i="0" u="none">
                <a:solidFill>
                  <a:srgbClr val="FFFFFF"/>
                </a:solidFill>
                <a:latin typeface="Inter"/>
              </a:rPr>
              <a:t>02</a:t>
            </a:r>
          </a:p>
        </p:txBody>
      </p:sp>
      <p:sp>
        <p:nvSpPr>
          <p:cNvPr id="66" name="TextBox 65">
            <a:extLst>
              <a:ext uri="{FF2B5EF4-FFF2-40B4-BE49-F238E27FC236}">
                <a16:creationId xmlns:a16="http://schemas.microsoft.com/office/drawing/2014/main" id="{F7252585-6C1D-400A-98A5-5808C8D2D374}"/>
              </a:ext>
            </a:extLst>
          </p:cNvPr>
          <p:cNvSpPr txBox="1"/>
          <p:nvPr/>
        </p:nvSpPr>
        <p:spPr>
          <a:xfrm>
            <a:off x="5924550" y="-947738"/>
            <a:ext cx="620077" cy="276225"/>
          </a:xfrm>
          <a:prstGeom prst="rect">
            <a:avLst/>
          </a:prstGeom>
          <a:noFill/>
        </p:spPr>
        <p:txBody>
          <a:bodyPr wrap="none" lIns="0" tIns="0" rIns="0" bIns="0" anchor="t">
            <a:spAutoFit/>
          </a:bodyPr>
          <a:lstStyle/>
          <a:p>
            <a:pPr algn="l"/>
            <a:r>
              <a:rPr sz="1800" b="1" i="0" u="none">
                <a:solidFill>
                  <a:srgbClr val="FFFFFF"/>
                </a:solidFill>
                <a:latin typeface="Inter"/>
              </a:rPr>
              <a:t>03</a:t>
            </a:r>
          </a:p>
        </p:txBody>
      </p:sp>
      <p:sp>
        <p:nvSpPr>
          <p:cNvPr id="67" name="TextBox 66">
            <a:extLst>
              <a:ext uri="{FF2B5EF4-FFF2-40B4-BE49-F238E27FC236}">
                <a16:creationId xmlns:a16="http://schemas.microsoft.com/office/drawing/2014/main" id="{D7F56FB2-D1BB-481A-9629-BEEF94118DB8}"/>
              </a:ext>
            </a:extLst>
          </p:cNvPr>
          <p:cNvSpPr txBox="1"/>
          <p:nvPr/>
        </p:nvSpPr>
        <p:spPr>
          <a:xfrm>
            <a:off x="6600973" y="-4772025"/>
            <a:ext cx="3850482" cy="253916"/>
          </a:xfrm>
          <a:prstGeom prst="rect">
            <a:avLst/>
          </a:prstGeom>
          <a:noFill/>
        </p:spPr>
        <p:txBody>
          <a:bodyPr wrap="square" lIns="0" tIns="0" rIns="0" bIns="0" anchor="t">
            <a:spAutoFit/>
          </a:bodyPr>
          <a:lstStyle/>
          <a:p>
            <a:pPr algn="l"/>
            <a:r>
              <a:rPr sz="1650" b="1" i="0" u="none" dirty="0">
                <a:solidFill>
                  <a:srgbClr val="0F172A"/>
                </a:solidFill>
                <a:latin typeface="Inter"/>
              </a:rPr>
              <a:t>Administrative Domain</a:t>
            </a:r>
          </a:p>
        </p:txBody>
      </p:sp>
      <p:sp>
        <p:nvSpPr>
          <p:cNvPr id="68" name="TextBox 67">
            <a:extLst>
              <a:ext uri="{FF2B5EF4-FFF2-40B4-BE49-F238E27FC236}">
                <a16:creationId xmlns:a16="http://schemas.microsoft.com/office/drawing/2014/main" id="{C89E1CEF-E6FE-4A62-8E45-F7344BBA710E}"/>
              </a:ext>
            </a:extLst>
          </p:cNvPr>
          <p:cNvSpPr txBox="1"/>
          <p:nvPr/>
        </p:nvSpPr>
        <p:spPr>
          <a:xfrm>
            <a:off x="6600973" y="-4450565"/>
            <a:ext cx="5152877" cy="520079"/>
          </a:xfrm>
          <a:prstGeom prst="rect">
            <a:avLst/>
          </a:prstGeom>
          <a:noFill/>
        </p:spPr>
        <p:txBody>
          <a:bodyPr wrap="square" lIns="0" tIns="0" rIns="0" bIns="0" anchor="t">
            <a:spAutoFit/>
          </a:bodyPr>
          <a:lstStyle/>
          <a:p>
            <a:pPr algn="l">
              <a:lnSpc>
                <a:spcPct val="150000"/>
              </a:lnSpc>
            </a:pPr>
            <a:r>
              <a:rPr lang="en-US" sz="1200" b="0" i="0" u="none" dirty="0">
                <a:solidFill>
                  <a:srgbClr val="475569"/>
                </a:solidFill>
                <a:latin typeface="Inter"/>
              </a:rPr>
              <a:t>Manages the core educational workflows —from course  creation to ID card approvals, semester result uploads, and final certificate issuance.</a:t>
            </a:r>
            <a:endParaRPr sz="1200" b="0" i="0" u="none" dirty="0">
              <a:solidFill>
                <a:srgbClr val="475569"/>
              </a:solidFill>
              <a:latin typeface="Inter"/>
            </a:endParaRPr>
          </a:p>
        </p:txBody>
      </p:sp>
      <p:sp>
        <p:nvSpPr>
          <p:cNvPr id="69" name="TextBox 68">
            <a:extLst>
              <a:ext uri="{FF2B5EF4-FFF2-40B4-BE49-F238E27FC236}">
                <a16:creationId xmlns:a16="http://schemas.microsoft.com/office/drawing/2014/main" id="{6213523E-B63D-4BBB-840A-C22334D0FEDF}"/>
              </a:ext>
            </a:extLst>
          </p:cNvPr>
          <p:cNvSpPr txBox="1"/>
          <p:nvPr/>
        </p:nvSpPr>
        <p:spPr>
          <a:xfrm>
            <a:off x="6578559" y="-3194134"/>
            <a:ext cx="3681859" cy="253916"/>
          </a:xfrm>
          <a:prstGeom prst="rect">
            <a:avLst/>
          </a:prstGeom>
          <a:noFill/>
        </p:spPr>
        <p:txBody>
          <a:bodyPr wrap="square" lIns="0" tIns="0" rIns="0" bIns="0" anchor="t">
            <a:spAutoFit/>
          </a:bodyPr>
          <a:lstStyle/>
          <a:p>
            <a:pPr algn="l"/>
            <a:r>
              <a:rPr sz="1650" b="1" i="0" u="none" dirty="0">
                <a:solidFill>
                  <a:srgbClr val="0F172A"/>
                </a:solidFill>
                <a:latin typeface="Inter"/>
              </a:rPr>
              <a:t>Candidate Domain</a:t>
            </a:r>
          </a:p>
        </p:txBody>
      </p:sp>
      <p:sp>
        <p:nvSpPr>
          <p:cNvPr id="70" name="TextBox 69">
            <a:extLst>
              <a:ext uri="{FF2B5EF4-FFF2-40B4-BE49-F238E27FC236}">
                <a16:creationId xmlns:a16="http://schemas.microsoft.com/office/drawing/2014/main" id="{CEB6E7B8-C7E7-457A-BE2D-CD46C0C0B73F}"/>
              </a:ext>
            </a:extLst>
          </p:cNvPr>
          <p:cNvSpPr txBox="1"/>
          <p:nvPr/>
        </p:nvSpPr>
        <p:spPr>
          <a:xfrm>
            <a:off x="6578559" y="-2865744"/>
            <a:ext cx="5004838" cy="797078"/>
          </a:xfrm>
          <a:prstGeom prst="rect">
            <a:avLst/>
          </a:prstGeom>
          <a:noFill/>
        </p:spPr>
        <p:txBody>
          <a:bodyPr wrap="square" lIns="0" tIns="0" rIns="0" bIns="0" anchor="t">
            <a:spAutoFit/>
          </a:bodyPr>
          <a:lstStyle>
            <a:lvl1pPr>
              <a:lnSpc>
                <a:spcPct val="150000"/>
              </a:lnSpc>
              <a:defRPr sz="1200" b="0" i="0" u="none">
                <a:solidFill>
                  <a:srgbClr val="475569"/>
                </a:solidFill>
                <a:latin typeface="Inter"/>
              </a:defRPr>
            </a:lvl1pPr>
          </a:lstStyle>
          <a:p>
            <a:r>
              <a:rPr lang="en-US" dirty="0"/>
              <a:t>Allows students to access their educational records, request Web3 ID cards, view individual semester results, and access cryptographic certificates upon course completion</a:t>
            </a:r>
            <a:endParaRPr dirty="0"/>
          </a:p>
        </p:txBody>
      </p:sp>
      <p:sp>
        <p:nvSpPr>
          <p:cNvPr id="71" name="TextBox 70">
            <a:extLst>
              <a:ext uri="{FF2B5EF4-FFF2-40B4-BE49-F238E27FC236}">
                <a16:creationId xmlns:a16="http://schemas.microsoft.com/office/drawing/2014/main" id="{90193CEA-F710-467E-A885-4AEB2B5D52F5}"/>
              </a:ext>
            </a:extLst>
          </p:cNvPr>
          <p:cNvSpPr txBox="1"/>
          <p:nvPr/>
        </p:nvSpPr>
        <p:spPr>
          <a:xfrm>
            <a:off x="6644282" y="-1490663"/>
            <a:ext cx="4263032" cy="247650"/>
          </a:xfrm>
          <a:prstGeom prst="rect">
            <a:avLst/>
          </a:prstGeom>
          <a:noFill/>
        </p:spPr>
        <p:txBody>
          <a:bodyPr wrap="none" lIns="0" tIns="0" rIns="0" bIns="0" anchor="t">
            <a:spAutoFit/>
          </a:bodyPr>
          <a:lstStyle/>
          <a:p>
            <a:pPr algn="l"/>
            <a:r>
              <a:rPr sz="1650" b="1" i="0" u="none" dirty="0">
                <a:solidFill>
                  <a:srgbClr val="0F172A"/>
                </a:solidFill>
                <a:latin typeface="Inter"/>
              </a:rPr>
              <a:t>Blockchain Domain</a:t>
            </a:r>
          </a:p>
        </p:txBody>
      </p:sp>
      <p:sp>
        <p:nvSpPr>
          <p:cNvPr id="72" name="TextBox 71">
            <a:extLst>
              <a:ext uri="{FF2B5EF4-FFF2-40B4-BE49-F238E27FC236}">
                <a16:creationId xmlns:a16="http://schemas.microsoft.com/office/drawing/2014/main" id="{1EF4D225-DA2E-4F00-864A-65DA9F5FBCBF}"/>
              </a:ext>
            </a:extLst>
          </p:cNvPr>
          <p:cNvSpPr txBox="1"/>
          <p:nvPr/>
        </p:nvSpPr>
        <p:spPr>
          <a:xfrm>
            <a:off x="6600973" y="-1152526"/>
            <a:ext cx="4982424" cy="797078"/>
          </a:xfrm>
          <a:prstGeom prst="rect">
            <a:avLst/>
          </a:prstGeom>
          <a:noFill/>
        </p:spPr>
        <p:txBody>
          <a:bodyPr wrap="square" lIns="0" tIns="0" rIns="0" bIns="0" anchor="t">
            <a:spAutoFit/>
          </a:bodyPr>
          <a:lstStyle>
            <a:lvl1pPr>
              <a:lnSpc>
                <a:spcPct val="150000"/>
              </a:lnSpc>
              <a:defRPr sz="1200" b="0" i="0" u="none">
                <a:solidFill>
                  <a:srgbClr val="475569"/>
                </a:solidFill>
                <a:latin typeface="Inter"/>
              </a:defRPr>
            </a:lvl1pPr>
          </a:lstStyle>
          <a:p>
            <a:r>
              <a:rPr lang="en-US" dirty="0"/>
              <a:t> Acts as the immutable ledger. When an ID card, semester result, or final certificate is generated, its unique hash and transaction details are permanently recorded on the blockchain.</a:t>
            </a:r>
            <a:endParaRPr dirty="0"/>
          </a:p>
        </p:txBody>
      </p:sp>
      <p:pic>
        <p:nvPicPr>
          <p:cNvPr id="73" name="Picture 72">
            <a:extLst>
              <a:ext uri="{FF2B5EF4-FFF2-40B4-BE49-F238E27FC236}">
                <a16:creationId xmlns:a16="http://schemas.microsoft.com/office/drawing/2014/main" id="{662BB2EB-98A8-4871-9F00-8456E2C34906}"/>
              </a:ext>
            </a:extLst>
          </p:cNvPr>
          <p:cNvPicPr>
            <a:picLocks noChangeAspect="1"/>
          </p:cNvPicPr>
          <p:nvPr/>
        </p:nvPicPr>
        <p:blipFill>
          <a:blip r:embed="rId2"/>
          <a:stretch>
            <a:fillRect/>
          </a:stretch>
        </p:blipFill>
        <p:spPr>
          <a:xfrm>
            <a:off x="-5697632" y="3237194"/>
            <a:ext cx="5004838" cy="1412312"/>
          </a:xfrm>
          <a:prstGeom prst="rect">
            <a:avLst/>
          </a:prstGeom>
        </p:spPr>
      </p:pic>
      <p:sp>
        <p:nvSpPr>
          <p:cNvPr id="74" name="TextBox 73">
            <a:extLst>
              <a:ext uri="{FF2B5EF4-FFF2-40B4-BE49-F238E27FC236}">
                <a16:creationId xmlns:a16="http://schemas.microsoft.com/office/drawing/2014/main" id="{6AF0892A-F126-4CCA-8133-21A256A82B21}"/>
              </a:ext>
            </a:extLst>
          </p:cNvPr>
          <p:cNvSpPr txBox="1"/>
          <p:nvPr/>
        </p:nvSpPr>
        <p:spPr>
          <a:xfrm>
            <a:off x="-5479087" y="3417734"/>
            <a:ext cx="4548812" cy="996298"/>
          </a:xfrm>
          <a:prstGeom prst="rect">
            <a:avLst/>
          </a:prstGeom>
          <a:noFill/>
        </p:spPr>
        <p:txBody>
          <a:bodyPr wrap="square" lIns="0" tIns="0" rIns="0" bIns="0" anchor="t">
            <a:spAutoFit/>
          </a:bodyPr>
          <a:lstStyle/>
          <a:p>
            <a:pPr algn="just">
              <a:lnSpc>
                <a:spcPct val="150000"/>
              </a:lnSpc>
            </a:pPr>
            <a:r>
              <a:rPr lang="en-US" sz="1500" b="0" i="0" u="none" dirty="0">
                <a:solidFill>
                  <a:srgbClr val="475569"/>
                </a:solidFill>
                <a:latin typeface="Inter"/>
              </a:rPr>
              <a:t>The system operates around three primary domains: Administration, Student Portal, and the Blockchain Network</a:t>
            </a:r>
            <a:endParaRPr sz="1500" b="0" i="0" u="none" dirty="0">
              <a:solidFill>
                <a:srgbClr val="475569"/>
              </a:solidFill>
              <a:latin typeface="Inter"/>
            </a:endParaRPr>
          </a:p>
        </p:txBody>
      </p:sp>
      <p:sp>
        <p:nvSpPr>
          <p:cNvPr id="75" name="TextBox 74">
            <a:extLst>
              <a:ext uri="{FF2B5EF4-FFF2-40B4-BE49-F238E27FC236}">
                <a16:creationId xmlns:a16="http://schemas.microsoft.com/office/drawing/2014/main" id="{EE9255F3-36AE-405D-A82C-3E96956DD269}"/>
              </a:ext>
            </a:extLst>
          </p:cNvPr>
          <p:cNvSpPr txBox="1"/>
          <p:nvPr/>
        </p:nvSpPr>
        <p:spPr>
          <a:xfrm>
            <a:off x="-4819520" y="1397918"/>
            <a:ext cx="4175082" cy="1261884"/>
          </a:xfrm>
          <a:prstGeom prst="rect">
            <a:avLst/>
          </a:prstGeom>
          <a:noFill/>
        </p:spPr>
        <p:txBody>
          <a:bodyPr wrap="square" lIns="0" tIns="0" rIns="0" bIns="0" anchor="t">
            <a:spAutoFit/>
          </a:bodyPr>
          <a:lstStyle/>
          <a:p>
            <a:pPr algn="l">
              <a:spcBef>
                <a:spcPts val="600"/>
              </a:spcBef>
              <a:spcAft>
                <a:spcPts val="600"/>
              </a:spcAft>
            </a:pPr>
            <a:r>
              <a:rPr lang="en-IN" sz="3600" i="0" u="none" spc="100" dirty="0">
                <a:ln w="0"/>
                <a:effectLst>
                  <a:outerShdw blurRad="38100" dist="19050" dir="2700000" algn="tl" rotWithShape="0">
                    <a:schemeClr val="dk1">
                      <a:alpha val="40000"/>
                    </a:schemeClr>
                  </a:outerShdw>
                </a:effectLst>
                <a:latin typeface="Inter"/>
              </a:rPr>
              <a:t>Project System </a:t>
            </a:r>
          </a:p>
          <a:p>
            <a:pPr algn="l">
              <a:spcBef>
                <a:spcPts val="600"/>
              </a:spcBef>
              <a:spcAft>
                <a:spcPts val="600"/>
              </a:spcAft>
            </a:pPr>
            <a:r>
              <a:rPr lang="en-IN" sz="3600" i="0" u="none" spc="100" dirty="0">
                <a:ln w="0"/>
                <a:effectLst>
                  <a:outerShdw blurRad="38100" dist="19050" dir="2700000" algn="tl" rotWithShape="0">
                    <a:schemeClr val="dk1">
                      <a:alpha val="40000"/>
                    </a:schemeClr>
                  </a:outerShdw>
                </a:effectLst>
                <a:latin typeface="Inter"/>
              </a:rPr>
              <a:t>Analysis Design</a:t>
            </a:r>
            <a:endParaRPr sz="3600" i="0" u="none" spc="100" dirty="0">
              <a:ln w="0"/>
              <a:effectLst>
                <a:outerShdw blurRad="38100" dist="19050" dir="2700000" algn="tl" rotWithShape="0">
                  <a:schemeClr val="dk1">
                    <a:alpha val="40000"/>
                  </a:schemeClr>
                </a:outerShdw>
              </a:effectLst>
              <a:latin typeface="Inter"/>
            </a:endParaRPr>
          </a:p>
        </p:txBody>
      </p:sp>
      <p:grpSp>
        <p:nvGrpSpPr>
          <p:cNvPr id="2" name="Group 1">
            <a:extLst>
              <a:ext uri="{FF2B5EF4-FFF2-40B4-BE49-F238E27FC236}">
                <a16:creationId xmlns:a16="http://schemas.microsoft.com/office/drawing/2014/main" id="{6FC5FEF4-BE78-4287-B753-2446EB0D6A84}"/>
              </a:ext>
            </a:extLst>
          </p:cNvPr>
          <p:cNvGrpSpPr/>
          <p:nvPr/>
        </p:nvGrpSpPr>
        <p:grpSpPr>
          <a:xfrm>
            <a:off x="288433" y="2676512"/>
            <a:ext cx="12409042" cy="3826821"/>
            <a:chOff x="428285" y="2209651"/>
            <a:chExt cx="12409042" cy="3826821"/>
          </a:xfrm>
        </p:grpSpPr>
        <p:sp>
          <p:nvSpPr>
            <p:cNvPr id="15" name="TextBox 100"/>
            <p:cNvSpPr/>
            <p:nvPr/>
          </p:nvSpPr>
          <p:spPr>
            <a:xfrm>
              <a:off x="6085525" y="2273616"/>
              <a:ext cx="5012937" cy="229198"/>
            </a:xfrm>
            <a:prstGeom prst="rect">
              <a:avLst/>
            </a:prstGeom>
            <a:noFill/>
            <a:ln/>
          </p:spPr>
          <p:txBody>
            <a:bodyPr wrap="none" lIns="0" tIns="0" rIns="0" bIns="0" rtlCol="0" anchor="t">
              <a:noAutofit/>
            </a:bodyPr>
            <a:lstStyle/>
            <a:p>
              <a:pPr marL="0" indent="0" algn="l">
                <a:lnSpc>
                  <a:spcPct val="100000"/>
                </a:lnSpc>
                <a:buNone/>
              </a:pPr>
              <a:r>
                <a:rPr lang="en" altLang="en-US" sz="1200" dirty="0">
                  <a:solidFill>
                    <a:srgbClr val="64748B"/>
                  </a:solidFill>
                  <a:latin typeface="Inter" pitchFamily="34" charset="0"/>
                  <a:ea typeface="Inter" pitchFamily="34" charset="-122"/>
                  <a:cs typeface="Inter" pitchFamily="34" charset="-120"/>
                </a:rPr>
                <a:t>Integration with </a:t>
              </a:r>
              <a:r>
                <a:rPr lang="en" altLang="en-US" sz="1200" b="1" dirty="0">
                  <a:solidFill>
                    <a:schemeClr val="accent2">
                      <a:lumMod val="75000"/>
                    </a:schemeClr>
                  </a:solidFill>
                  <a:latin typeface="Inter" pitchFamily="34" charset="0"/>
                  <a:ea typeface="Inter" pitchFamily="34" charset="-122"/>
                  <a:cs typeface="Inter" pitchFamily="34" charset="-120"/>
                </a:rPr>
                <a:t>MetaMask</a:t>
              </a:r>
              <a:r>
                <a:rPr lang="en" altLang="en-US" sz="1200" dirty="0">
                  <a:solidFill>
                    <a:srgbClr val="64748B"/>
                  </a:solidFill>
                  <a:latin typeface="Inter" pitchFamily="34" charset="0"/>
                  <a:ea typeface="Inter" pitchFamily="34" charset="-122"/>
                  <a:cs typeface="Inter" pitchFamily="34" charset="-120"/>
                </a:rPr>
                <a:t>  wallet for secure  cryptographic transaction signing.</a:t>
              </a:r>
              <a:endParaRPr lang="en" sz="1200" dirty="0"/>
            </a:p>
          </p:txBody>
        </p:sp>
        <p:sp>
          <p:nvSpPr>
            <p:cNvPr id="18" name="TextBox 125"/>
            <p:cNvSpPr/>
            <p:nvPr/>
          </p:nvSpPr>
          <p:spPr>
            <a:xfrm>
              <a:off x="6085526" y="3014324"/>
              <a:ext cx="5524500" cy="450617"/>
            </a:xfrm>
            <a:prstGeom prst="rect">
              <a:avLst/>
            </a:prstGeom>
            <a:noFill/>
            <a:ln/>
          </p:spPr>
          <p:txBody>
            <a:bodyPr wrap="none" lIns="0" tIns="0" rIns="0" bIns="0" rtlCol="0" anchor="t">
              <a:noAutofit/>
            </a:bodyPr>
            <a:lstStyle/>
            <a:p>
              <a:pPr marL="0" indent="0" algn="l">
                <a:lnSpc>
                  <a:spcPct val="100000"/>
                </a:lnSpc>
                <a:buNone/>
              </a:pPr>
              <a:r>
                <a:rPr lang="en" altLang="en-US" sz="1200" b="1" dirty="0">
                  <a:solidFill>
                    <a:schemeClr val="accent2">
                      <a:lumMod val="75000"/>
                    </a:schemeClr>
                  </a:solidFill>
                  <a:latin typeface="Inter" pitchFamily="34" charset="0"/>
                  <a:ea typeface="Inter" pitchFamily="34" charset="-122"/>
                  <a:cs typeface="Inter" pitchFamily="34" charset="-120"/>
                </a:rPr>
                <a:t>React.js Vite </a:t>
              </a:r>
              <a:r>
                <a:rPr lang="en" altLang="en-US" sz="1200" dirty="0">
                  <a:solidFill>
                    <a:srgbClr val="64748B"/>
                  </a:solidFill>
                  <a:latin typeface="Inter" pitchFamily="34" charset="0"/>
                  <a:ea typeface="Inter" pitchFamily="34" charset="-122"/>
                  <a:cs typeface="Inter" pitchFamily="34" charset="-120"/>
                </a:rPr>
                <a:t>and </a:t>
              </a:r>
              <a:r>
                <a:rPr lang="en" altLang="en-US" sz="1200" b="1" dirty="0">
                  <a:solidFill>
                    <a:schemeClr val="accent2">
                      <a:lumMod val="75000"/>
                    </a:schemeClr>
                  </a:solidFill>
                  <a:latin typeface="Inter" pitchFamily="34" charset="0"/>
                  <a:ea typeface="Inter" pitchFamily="34" charset="-122"/>
                  <a:cs typeface="Inter" pitchFamily="34" charset="-120"/>
                </a:rPr>
                <a:t>Bootstrap css </a:t>
              </a:r>
              <a:r>
                <a:rPr lang="en" altLang="en-US" sz="1200" dirty="0">
                  <a:solidFill>
                    <a:srgbClr val="64748B"/>
                  </a:solidFill>
                  <a:latin typeface="Inter" pitchFamily="34" charset="0"/>
                  <a:ea typeface="Inter" pitchFamily="34" charset="-122"/>
                  <a:cs typeface="Inter" pitchFamily="34" charset="-120"/>
                </a:rPr>
                <a:t>for a Dynamic responsive user interface.</a:t>
              </a:r>
              <a:endParaRPr lang="en" sz="1200" dirty="0"/>
            </a:p>
          </p:txBody>
        </p:sp>
        <p:sp>
          <p:nvSpPr>
            <p:cNvPr id="21" name="TextBox 150"/>
            <p:cNvSpPr/>
            <p:nvPr/>
          </p:nvSpPr>
          <p:spPr>
            <a:xfrm>
              <a:off x="6056951" y="3702767"/>
              <a:ext cx="6780376" cy="516730"/>
            </a:xfrm>
            <a:prstGeom prst="rect">
              <a:avLst/>
            </a:prstGeom>
            <a:noFill/>
            <a:ln/>
          </p:spPr>
          <p:txBody>
            <a:bodyPr wrap="none" lIns="0" tIns="0" rIns="0" bIns="0" rtlCol="0" anchor="t"/>
            <a:lstStyle/>
            <a:p>
              <a:pPr marL="0" indent="0" algn="l">
                <a:lnSpc>
                  <a:spcPct val="150000"/>
                </a:lnSpc>
                <a:buNone/>
              </a:pPr>
              <a:r>
                <a:rPr lang="en" altLang="en-US" sz="1200" dirty="0">
                  <a:solidFill>
                    <a:srgbClr val="64748B"/>
                  </a:solidFill>
                  <a:latin typeface="Inter" pitchFamily="34" charset="0"/>
                  <a:ea typeface="Inter" pitchFamily="34" charset="-122"/>
                  <a:cs typeface="Inter" pitchFamily="34" charset="-120"/>
                </a:rPr>
                <a:t>Node.js and Express  REST API management </a:t>
              </a:r>
              <a:r>
                <a:rPr lang="en-IN" altLang="en-US" sz="1200" dirty="0">
                  <a:solidFill>
                    <a:srgbClr val="64748B"/>
                  </a:solidFill>
                  <a:latin typeface="Inter" pitchFamily="34" charset="0"/>
                  <a:ea typeface="Inter" pitchFamily="34" charset="-122"/>
                  <a:cs typeface="Inter" pitchFamily="34" charset="-120"/>
                </a:rPr>
                <a:t>I</a:t>
              </a:r>
              <a:r>
                <a:rPr lang="en" altLang="en-US" sz="1200" dirty="0">
                  <a:solidFill>
                    <a:srgbClr val="64748B"/>
                  </a:solidFill>
                  <a:latin typeface="Inter" pitchFamily="34" charset="0"/>
                  <a:ea typeface="Inter" pitchFamily="34" charset="-122"/>
                  <a:cs typeface="Inter" pitchFamily="34" charset="-120"/>
                </a:rPr>
                <a:t>nteraction via Web3.js/Ethers.js</a:t>
              </a:r>
              <a:endParaRPr lang="en" sz="1200" dirty="0"/>
            </a:p>
          </p:txBody>
        </p:sp>
        <p:sp>
          <p:nvSpPr>
            <p:cNvPr id="24" name="TextBox 175"/>
            <p:cNvSpPr/>
            <p:nvPr/>
          </p:nvSpPr>
          <p:spPr>
            <a:xfrm>
              <a:off x="6074345" y="4669953"/>
              <a:ext cx="5024117" cy="449610"/>
            </a:xfrm>
            <a:prstGeom prst="rect">
              <a:avLst/>
            </a:prstGeom>
            <a:noFill/>
            <a:ln/>
          </p:spPr>
          <p:txBody>
            <a:bodyPr wrap="none" lIns="0" tIns="0" rIns="0" bIns="0" rtlCol="0" anchor="t">
              <a:noAutofit/>
            </a:bodyPr>
            <a:lstStyle/>
            <a:p>
              <a:pPr marL="0" indent="0" algn="l">
                <a:lnSpc>
                  <a:spcPct val="150000"/>
                </a:lnSpc>
                <a:buNone/>
              </a:pPr>
              <a:r>
                <a:rPr lang="en-IN" altLang="en-US" sz="1200" b="1" dirty="0">
                  <a:solidFill>
                    <a:schemeClr val="accent2">
                      <a:lumMod val="75000"/>
                    </a:schemeClr>
                  </a:solidFill>
                  <a:latin typeface="Inter" pitchFamily="34" charset="0"/>
                  <a:ea typeface="Inter" pitchFamily="34" charset="-122"/>
                  <a:cs typeface="Inter" pitchFamily="34" charset="-120"/>
                </a:rPr>
                <a:t>MongoDB</a:t>
              </a:r>
              <a:r>
                <a:rPr lang="en-IN" altLang="en-US" sz="1200" dirty="0">
                  <a:solidFill>
                    <a:srgbClr val="64748B"/>
                  </a:solidFill>
                  <a:latin typeface="Inter" pitchFamily="34" charset="0"/>
                  <a:ea typeface="Inter" pitchFamily="34" charset="-122"/>
                  <a:cs typeface="Inter" pitchFamily="34" charset="-120"/>
                </a:rPr>
                <a:t> with Mongoose ODM for storing  </a:t>
              </a:r>
              <a:r>
                <a:rPr lang="en-IN" altLang="en-US" sz="1200" b="1" dirty="0">
                  <a:solidFill>
                    <a:schemeClr val="accent2">
                      <a:lumMod val="75000"/>
                    </a:schemeClr>
                  </a:solidFill>
                  <a:latin typeface="Inter" pitchFamily="34" charset="0"/>
                  <a:ea typeface="Inter" pitchFamily="34" charset="-122"/>
                  <a:cs typeface="Inter" pitchFamily="34" charset="-120"/>
                </a:rPr>
                <a:t>structured off-chain collections</a:t>
              </a:r>
              <a:endParaRPr lang="en" sz="1200" dirty="0"/>
            </a:p>
          </p:txBody>
        </p:sp>
        <p:sp>
          <p:nvSpPr>
            <p:cNvPr id="41" name="TextBox 40">
              <a:extLst>
                <a:ext uri="{FF2B5EF4-FFF2-40B4-BE49-F238E27FC236}">
                  <a16:creationId xmlns:a16="http://schemas.microsoft.com/office/drawing/2014/main" id="{BF833E59-B9F6-413A-8444-221400FA93D1}"/>
                </a:ext>
              </a:extLst>
            </p:cNvPr>
            <p:cNvSpPr txBox="1"/>
            <p:nvPr/>
          </p:nvSpPr>
          <p:spPr>
            <a:xfrm>
              <a:off x="6056952" y="5238513"/>
              <a:ext cx="5287323" cy="617733"/>
            </a:xfrm>
            <a:prstGeom prst="rect">
              <a:avLst/>
            </a:prstGeom>
            <a:noFill/>
          </p:spPr>
          <p:txBody>
            <a:bodyPr wrap="square">
              <a:spAutoFit/>
            </a:bodyPr>
            <a:lstStyle/>
            <a:p>
              <a:pPr marL="0" indent="0" algn="l">
                <a:lnSpc>
                  <a:spcPct val="150000"/>
                </a:lnSpc>
                <a:buNone/>
              </a:pPr>
              <a:r>
                <a:rPr lang="en-US" altLang="en-US" sz="1200" b="1" dirty="0">
                  <a:solidFill>
                    <a:schemeClr val="accent2">
                      <a:lumMod val="75000"/>
                    </a:schemeClr>
                  </a:solidFill>
                  <a:latin typeface="Inter" pitchFamily="34" charset="0"/>
                  <a:ea typeface="Inter" pitchFamily="34" charset="-122"/>
                  <a:cs typeface="Inter" pitchFamily="34" charset="-120"/>
                </a:rPr>
                <a:t>Ethereum</a:t>
              </a:r>
              <a:r>
                <a:rPr lang="en-US" altLang="en-US" sz="1200" dirty="0">
                  <a:solidFill>
                    <a:srgbClr val="64748B"/>
                  </a:solidFill>
                  <a:latin typeface="Inter" pitchFamily="34" charset="0"/>
                  <a:ea typeface="Inter" pitchFamily="34" charset="-122"/>
                  <a:cs typeface="Inter" pitchFamily="34" charset="-120"/>
                </a:rPr>
                <a:t> Network, </a:t>
              </a:r>
              <a:r>
                <a:rPr lang="en-US" altLang="en-US" sz="1200" b="1" dirty="0">
                  <a:solidFill>
                    <a:schemeClr val="accent2">
                      <a:lumMod val="75000"/>
                    </a:schemeClr>
                  </a:solidFill>
                  <a:latin typeface="Inter" pitchFamily="34" charset="0"/>
                  <a:ea typeface="Inter" pitchFamily="34" charset="-122"/>
                  <a:cs typeface="Inter" pitchFamily="34" charset="-120"/>
                </a:rPr>
                <a:t>Solidity Smart Contracts</a:t>
              </a:r>
              <a:r>
                <a:rPr lang="en-US" altLang="en-US" sz="1200" dirty="0">
                  <a:solidFill>
                    <a:srgbClr val="64748B"/>
                  </a:solidFill>
                  <a:latin typeface="Inter" pitchFamily="34" charset="0"/>
                  <a:ea typeface="Inter" pitchFamily="34" charset="-122"/>
                  <a:cs typeface="Inter" pitchFamily="34" charset="-120"/>
                </a:rPr>
                <a:t>, </a:t>
              </a:r>
              <a:r>
                <a:rPr lang="en-US" altLang="en-US" sz="1200" b="1" dirty="0">
                  <a:solidFill>
                    <a:schemeClr val="accent2">
                      <a:lumMod val="75000"/>
                    </a:schemeClr>
                  </a:solidFill>
                  <a:latin typeface="Inter" pitchFamily="34" charset="0"/>
                  <a:ea typeface="Inter" pitchFamily="34" charset="-122"/>
                  <a:cs typeface="Inter" pitchFamily="34" charset="-120"/>
                </a:rPr>
                <a:t>Hardhat</a:t>
              </a:r>
              <a:r>
                <a:rPr lang="en-US" altLang="en-US" sz="1200" dirty="0">
                  <a:solidFill>
                    <a:srgbClr val="64748B"/>
                  </a:solidFill>
                  <a:latin typeface="Inter" pitchFamily="34" charset="0"/>
                  <a:ea typeface="Inter" pitchFamily="34" charset="-122"/>
                  <a:cs typeface="Inter" pitchFamily="34" charset="-120"/>
                </a:rPr>
                <a:t>  (local Ethereum node), </a:t>
              </a:r>
              <a:r>
                <a:rPr lang="en-US" altLang="en-US" sz="1200" b="1" dirty="0">
                  <a:solidFill>
                    <a:schemeClr val="accent2">
                      <a:lumMod val="75000"/>
                    </a:schemeClr>
                  </a:solidFill>
                  <a:latin typeface="Inter" pitchFamily="34" charset="0"/>
                  <a:ea typeface="Inter" pitchFamily="34" charset="-122"/>
                  <a:cs typeface="Inter" pitchFamily="34" charset="-120"/>
                </a:rPr>
                <a:t>and Ethers.js/Web3.js </a:t>
              </a:r>
              <a:r>
                <a:rPr lang="en-US" altLang="en-US" sz="1200" dirty="0">
                  <a:solidFill>
                    <a:srgbClr val="64748B"/>
                  </a:solidFill>
                  <a:latin typeface="Inter" pitchFamily="34" charset="0"/>
                  <a:ea typeface="Inter" pitchFamily="34" charset="-122"/>
                  <a:cs typeface="Inter" pitchFamily="34" charset="-120"/>
                </a:rPr>
                <a:t>for seamless backend-to-blockchain communication. </a:t>
              </a:r>
              <a:endParaRPr lang="en" sz="1200" dirty="0"/>
            </a:p>
          </p:txBody>
        </p:sp>
        <p:pic>
          <p:nvPicPr>
            <p:cNvPr id="47" name="Picture 46">
              <a:extLst>
                <a:ext uri="{FF2B5EF4-FFF2-40B4-BE49-F238E27FC236}">
                  <a16:creationId xmlns:a16="http://schemas.microsoft.com/office/drawing/2014/main" id="{3E8F90CB-4E8E-457E-AB55-8C7FB9F2342B}"/>
                </a:ext>
              </a:extLst>
            </p:cNvPr>
            <p:cNvPicPr>
              <a:picLocks noChangeAspect="1"/>
            </p:cNvPicPr>
            <p:nvPr/>
          </p:nvPicPr>
          <p:blipFill>
            <a:blip r:embed="rId3"/>
            <a:stretch>
              <a:fillRect/>
            </a:stretch>
          </p:blipFill>
          <p:spPr>
            <a:xfrm>
              <a:off x="581974" y="3007895"/>
              <a:ext cx="308947" cy="308947"/>
            </a:xfrm>
            <a:prstGeom prst="rect">
              <a:avLst/>
            </a:prstGeom>
          </p:spPr>
        </p:pic>
        <p:pic>
          <p:nvPicPr>
            <p:cNvPr id="50" name="Picture 49">
              <a:extLst>
                <a:ext uri="{FF2B5EF4-FFF2-40B4-BE49-F238E27FC236}">
                  <a16:creationId xmlns:a16="http://schemas.microsoft.com/office/drawing/2014/main" id="{F739C749-00AB-4AA6-8740-E45AF79047F8}"/>
                </a:ext>
              </a:extLst>
            </p:cNvPr>
            <p:cNvPicPr>
              <a:picLocks noChangeAspect="1"/>
            </p:cNvPicPr>
            <p:nvPr/>
          </p:nvPicPr>
          <p:blipFill>
            <a:blip r:embed="rId4"/>
            <a:stretch>
              <a:fillRect/>
            </a:stretch>
          </p:blipFill>
          <p:spPr>
            <a:xfrm>
              <a:off x="536249" y="4642667"/>
              <a:ext cx="370160" cy="418909"/>
            </a:xfrm>
            <a:prstGeom prst="rect">
              <a:avLst/>
            </a:prstGeom>
          </p:spPr>
        </p:pic>
        <p:pic>
          <p:nvPicPr>
            <p:cNvPr id="54" name="Picture 53">
              <a:extLst>
                <a:ext uri="{FF2B5EF4-FFF2-40B4-BE49-F238E27FC236}">
                  <a16:creationId xmlns:a16="http://schemas.microsoft.com/office/drawing/2014/main" id="{0398974F-8759-4DC7-8EC9-54E553780E75}"/>
                </a:ext>
              </a:extLst>
            </p:cNvPr>
            <p:cNvPicPr>
              <a:picLocks noChangeAspect="1"/>
            </p:cNvPicPr>
            <p:nvPr/>
          </p:nvPicPr>
          <p:blipFill rotWithShape="1">
            <a:blip r:embed="rId5"/>
            <a:srcRect l="7732" t="11664" r="4816" b="12363"/>
            <a:stretch/>
          </p:blipFill>
          <p:spPr>
            <a:xfrm>
              <a:off x="428285" y="3741915"/>
              <a:ext cx="615586" cy="534787"/>
            </a:xfrm>
            <a:prstGeom prst="rect">
              <a:avLst/>
            </a:prstGeom>
          </p:spPr>
        </p:pic>
        <p:pic>
          <p:nvPicPr>
            <p:cNvPr id="56" name="Graphic 55">
              <a:extLst>
                <a:ext uri="{FF2B5EF4-FFF2-40B4-BE49-F238E27FC236}">
                  <a16:creationId xmlns:a16="http://schemas.microsoft.com/office/drawing/2014/main" id="{EAF261C7-89C8-4349-A29A-4B819A39CF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1388" y="2218576"/>
              <a:ext cx="366448" cy="366448"/>
            </a:xfrm>
            <a:prstGeom prst="rect">
              <a:avLst/>
            </a:prstGeom>
          </p:spPr>
        </p:pic>
        <p:pic>
          <p:nvPicPr>
            <p:cNvPr id="58" name="Picture 57">
              <a:extLst>
                <a:ext uri="{FF2B5EF4-FFF2-40B4-BE49-F238E27FC236}">
                  <a16:creationId xmlns:a16="http://schemas.microsoft.com/office/drawing/2014/main" id="{8BE1760B-F5A4-4B6B-9070-BD1091C2D41C}"/>
                </a:ext>
              </a:extLst>
            </p:cNvPr>
            <p:cNvPicPr>
              <a:picLocks noChangeAspect="1"/>
            </p:cNvPicPr>
            <p:nvPr/>
          </p:nvPicPr>
          <p:blipFill>
            <a:blip r:embed="rId8"/>
            <a:stretch>
              <a:fillRect/>
            </a:stretch>
          </p:blipFill>
          <p:spPr>
            <a:xfrm>
              <a:off x="601388" y="5544498"/>
              <a:ext cx="316657" cy="491974"/>
            </a:xfrm>
            <a:prstGeom prst="rect">
              <a:avLst/>
            </a:prstGeom>
          </p:spPr>
        </p:pic>
        <p:sp>
          <p:nvSpPr>
            <p:cNvPr id="77" name="TextBox 93">
              <a:extLst>
                <a:ext uri="{FF2B5EF4-FFF2-40B4-BE49-F238E27FC236}">
                  <a16:creationId xmlns:a16="http://schemas.microsoft.com/office/drawing/2014/main" id="{589DA0E8-BD8C-4B44-BFEB-0BD5E47D7C87}"/>
                </a:ext>
              </a:extLst>
            </p:cNvPr>
            <p:cNvSpPr/>
            <p:nvPr/>
          </p:nvSpPr>
          <p:spPr>
            <a:xfrm>
              <a:off x="1357950" y="2265874"/>
              <a:ext cx="2021384" cy="236940"/>
            </a:xfrm>
            <a:prstGeom prst="rect">
              <a:avLst/>
            </a:prstGeom>
            <a:noFill/>
            <a:ln/>
          </p:spPr>
          <p:txBody>
            <a:bodyPr wrap="none" lIns="0" tIns="0" rIns="0" bIns="0" rtlCol="0" anchor="t">
              <a:noAutofit/>
            </a:bodyPr>
            <a:lstStyle/>
            <a:p>
              <a:pPr>
                <a:lnSpc>
                  <a:spcPct val="150000"/>
                </a:lnSpc>
              </a:pPr>
              <a:r>
                <a:rPr lang="en" altLang="en-US" sz="1200" b="1" kern="0" spc="41" dirty="0">
                  <a:solidFill>
                    <a:schemeClr val="accent2">
                      <a:lumMod val="75000"/>
                    </a:schemeClr>
                  </a:solidFill>
                  <a:latin typeface="Liberation Mono" pitchFamily="34" charset="0"/>
                  <a:cs typeface="Liberation Mono" pitchFamily="34" charset="-120"/>
                </a:rPr>
                <a:t>LAYER 05 // IDENTITY</a:t>
              </a:r>
              <a:endParaRPr lang="en" sz="1200" b="1" kern="0" spc="41" dirty="0">
                <a:solidFill>
                  <a:schemeClr val="accent2">
                    <a:lumMod val="75000"/>
                  </a:schemeClr>
                </a:solidFill>
                <a:latin typeface="Liberation Mono" pitchFamily="34" charset="0"/>
                <a:cs typeface="Liberation Mono" pitchFamily="34" charset="-120"/>
              </a:endParaRPr>
            </a:p>
          </p:txBody>
        </p:sp>
        <p:sp>
          <p:nvSpPr>
            <p:cNvPr id="78" name="TextBox 95">
              <a:extLst>
                <a:ext uri="{FF2B5EF4-FFF2-40B4-BE49-F238E27FC236}">
                  <a16:creationId xmlns:a16="http://schemas.microsoft.com/office/drawing/2014/main" id="{2CFE1296-0E08-4695-BA48-87D4293D7AA4}"/>
                </a:ext>
              </a:extLst>
            </p:cNvPr>
            <p:cNvSpPr/>
            <p:nvPr/>
          </p:nvSpPr>
          <p:spPr>
            <a:xfrm>
              <a:off x="3862996" y="2209651"/>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Identity Management</a:t>
              </a:r>
              <a:endParaRPr lang="en" sz="1200" b="1" dirty="0"/>
            </a:p>
          </p:txBody>
        </p:sp>
        <p:sp>
          <p:nvSpPr>
            <p:cNvPr id="79" name="TextBox 118">
              <a:extLst>
                <a:ext uri="{FF2B5EF4-FFF2-40B4-BE49-F238E27FC236}">
                  <a16:creationId xmlns:a16="http://schemas.microsoft.com/office/drawing/2014/main" id="{5312F10A-B002-4B9E-87AF-635903CF3C95}"/>
                </a:ext>
              </a:extLst>
            </p:cNvPr>
            <p:cNvSpPr/>
            <p:nvPr/>
          </p:nvSpPr>
          <p:spPr>
            <a:xfrm>
              <a:off x="1357950" y="2994267"/>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04 // INTERFACE</a:t>
              </a:r>
              <a:endParaRPr lang="en" sz="1200" b="1" dirty="0"/>
            </a:p>
          </p:txBody>
        </p:sp>
        <p:sp>
          <p:nvSpPr>
            <p:cNvPr id="80" name="TextBox 120">
              <a:extLst>
                <a:ext uri="{FF2B5EF4-FFF2-40B4-BE49-F238E27FC236}">
                  <a16:creationId xmlns:a16="http://schemas.microsoft.com/office/drawing/2014/main" id="{8542311B-D851-467E-931B-E608FD2D165D}"/>
                </a:ext>
              </a:extLst>
            </p:cNvPr>
            <p:cNvSpPr/>
            <p:nvPr/>
          </p:nvSpPr>
          <p:spPr>
            <a:xfrm>
              <a:off x="3862996" y="3014324"/>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Frontend Framework</a:t>
              </a:r>
              <a:endParaRPr lang="en" sz="1200" b="1" dirty="0"/>
            </a:p>
          </p:txBody>
        </p:sp>
        <p:sp>
          <p:nvSpPr>
            <p:cNvPr id="81" name="TextBox 143">
              <a:extLst>
                <a:ext uri="{FF2B5EF4-FFF2-40B4-BE49-F238E27FC236}">
                  <a16:creationId xmlns:a16="http://schemas.microsoft.com/office/drawing/2014/main" id="{D5EFC2E7-6F88-4679-8337-66295668655D}"/>
                </a:ext>
              </a:extLst>
            </p:cNvPr>
            <p:cNvSpPr/>
            <p:nvPr/>
          </p:nvSpPr>
          <p:spPr>
            <a:xfrm>
              <a:off x="1357950" y="3829883"/>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03 // SERVICES</a:t>
              </a:r>
              <a:endParaRPr lang="en" sz="1200" b="1" dirty="0"/>
            </a:p>
          </p:txBody>
        </p:sp>
        <p:sp>
          <p:nvSpPr>
            <p:cNvPr id="82" name="TextBox 145">
              <a:extLst>
                <a:ext uri="{FF2B5EF4-FFF2-40B4-BE49-F238E27FC236}">
                  <a16:creationId xmlns:a16="http://schemas.microsoft.com/office/drawing/2014/main" id="{634F0A90-6599-4892-9E57-B105E52CACC4}"/>
                </a:ext>
              </a:extLst>
            </p:cNvPr>
            <p:cNvSpPr/>
            <p:nvPr/>
          </p:nvSpPr>
          <p:spPr>
            <a:xfrm>
              <a:off x="3862996" y="3781365"/>
              <a:ext cx="202138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Backend Services</a:t>
              </a:r>
              <a:endParaRPr lang="en" sz="1200" b="1" dirty="0"/>
            </a:p>
          </p:txBody>
        </p:sp>
        <p:sp>
          <p:nvSpPr>
            <p:cNvPr id="83" name="TextBox 168">
              <a:extLst>
                <a:ext uri="{FF2B5EF4-FFF2-40B4-BE49-F238E27FC236}">
                  <a16:creationId xmlns:a16="http://schemas.microsoft.com/office/drawing/2014/main" id="{ED04CB30-0818-47FB-AED2-91801C8B1615}"/>
                </a:ext>
              </a:extLst>
            </p:cNvPr>
            <p:cNvSpPr/>
            <p:nvPr/>
          </p:nvSpPr>
          <p:spPr>
            <a:xfrm>
              <a:off x="1357950" y="4690833"/>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chemeClr val="accent2">
                      <a:lumMod val="75000"/>
                    </a:schemeClr>
                  </a:solidFill>
                  <a:latin typeface="Liberation Mono" pitchFamily="34" charset="0"/>
                  <a:ea typeface="Liberation Mono" pitchFamily="34" charset="-122"/>
                  <a:cs typeface="Liberation Mono" pitchFamily="34" charset="-120"/>
                </a:rPr>
                <a:t>LAYER 02 // STORAGE</a:t>
              </a:r>
              <a:endParaRPr lang="en" sz="1200" b="1" dirty="0">
                <a:solidFill>
                  <a:schemeClr val="accent2">
                    <a:lumMod val="75000"/>
                  </a:schemeClr>
                </a:solidFill>
              </a:endParaRPr>
            </a:p>
          </p:txBody>
        </p:sp>
        <p:sp>
          <p:nvSpPr>
            <p:cNvPr id="84" name="TextBox 170">
              <a:extLst>
                <a:ext uri="{FF2B5EF4-FFF2-40B4-BE49-F238E27FC236}">
                  <a16:creationId xmlns:a16="http://schemas.microsoft.com/office/drawing/2014/main" id="{363EE584-6763-4029-9A78-8C66A5A2C5A1}"/>
                </a:ext>
              </a:extLst>
            </p:cNvPr>
            <p:cNvSpPr/>
            <p:nvPr/>
          </p:nvSpPr>
          <p:spPr>
            <a:xfrm>
              <a:off x="3862996" y="4690832"/>
              <a:ext cx="1547204" cy="322575"/>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Persistence Layer</a:t>
              </a:r>
              <a:endParaRPr lang="en" sz="1200" b="1" dirty="0"/>
            </a:p>
          </p:txBody>
        </p:sp>
        <p:sp>
          <p:nvSpPr>
            <p:cNvPr id="85" name="TextBox 195">
              <a:extLst>
                <a:ext uri="{FF2B5EF4-FFF2-40B4-BE49-F238E27FC236}">
                  <a16:creationId xmlns:a16="http://schemas.microsoft.com/office/drawing/2014/main" id="{09CC5653-A263-4AC6-AE1C-B83026EEAA03}"/>
                </a:ext>
              </a:extLst>
            </p:cNvPr>
            <p:cNvSpPr/>
            <p:nvPr/>
          </p:nvSpPr>
          <p:spPr>
            <a:xfrm>
              <a:off x="1353913" y="5612320"/>
              <a:ext cx="2021384" cy="322575"/>
            </a:xfrm>
            <a:prstGeom prst="rect">
              <a:avLst/>
            </a:prstGeom>
            <a:noFill/>
            <a:ln/>
          </p:spPr>
          <p:txBody>
            <a:bodyPr wrap="none" lIns="0" tIns="0" rIns="0" bIns="0" rtlCol="0" anchor="t">
              <a:noAutofit/>
            </a:bodyPr>
            <a:lstStyle/>
            <a:p>
              <a:pPr marL="0" indent="0" algn="l">
                <a:lnSpc>
                  <a:spcPct val="150000"/>
                </a:lnSpc>
                <a:buNone/>
              </a:pPr>
              <a:r>
                <a:rPr lang="en" altLang="en-US" sz="1200" b="1" kern="0" spc="41" dirty="0">
                  <a:solidFill>
                    <a:srgbClr val="0052FF"/>
                  </a:solidFill>
                  <a:latin typeface="Liberation Mono" pitchFamily="34" charset="0"/>
                  <a:ea typeface="Liberation Mono" pitchFamily="34" charset="-122"/>
                  <a:cs typeface="Liberation Mono" pitchFamily="34" charset="-120"/>
                </a:rPr>
                <a:t>LAYER 01 // TRUST</a:t>
              </a:r>
              <a:endParaRPr lang="en" sz="1200" b="1" dirty="0"/>
            </a:p>
          </p:txBody>
        </p:sp>
        <p:sp>
          <p:nvSpPr>
            <p:cNvPr id="86" name="TextBox 197">
              <a:extLst>
                <a:ext uri="{FF2B5EF4-FFF2-40B4-BE49-F238E27FC236}">
                  <a16:creationId xmlns:a16="http://schemas.microsoft.com/office/drawing/2014/main" id="{CF03A29F-4794-4869-8636-023BB265D181}"/>
                </a:ext>
              </a:extLst>
            </p:cNvPr>
            <p:cNvSpPr/>
            <p:nvPr/>
          </p:nvSpPr>
          <p:spPr>
            <a:xfrm>
              <a:off x="3862996" y="5584275"/>
              <a:ext cx="2021384" cy="345676"/>
            </a:xfrm>
            <a:prstGeom prst="rect">
              <a:avLst/>
            </a:prstGeom>
            <a:noFill/>
            <a:ln/>
          </p:spPr>
          <p:txBody>
            <a:bodyPr wrap="none" lIns="0" tIns="0" rIns="0" bIns="0" rtlCol="0" anchor="t">
              <a:normAutofit/>
            </a:bodyPr>
            <a:lstStyle/>
            <a:p>
              <a:pPr marL="0" indent="0" algn="l">
                <a:lnSpc>
                  <a:spcPct val="150000"/>
                </a:lnSpc>
                <a:buNone/>
              </a:pPr>
              <a:r>
                <a:rPr lang="en" altLang="en-US" sz="1200" b="1" dirty="0">
                  <a:solidFill>
                    <a:srgbClr val="0F172A"/>
                  </a:solidFill>
                  <a:latin typeface="Inter" pitchFamily="34" charset="0"/>
                  <a:ea typeface="Inter" pitchFamily="34" charset="-122"/>
                  <a:cs typeface="Inter" pitchFamily="34" charset="-120"/>
                </a:rPr>
                <a:t>Blockchain Layer</a:t>
              </a:r>
              <a:endParaRPr lang="en" sz="1200" b="1"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11" name="TextBox 10"/>
          <p:cNvSpPr txBox="1"/>
          <p:nvPr/>
        </p:nvSpPr>
        <p:spPr>
          <a:xfrm>
            <a:off x="609600" y="704850"/>
            <a:ext cx="5658152" cy="553998"/>
          </a:xfrm>
          <a:prstGeom prst="rect">
            <a:avLst/>
          </a:prstGeom>
          <a:noFill/>
        </p:spPr>
        <p:txBody>
          <a:bodyPr wrap="none" lIns="0" tIns="0" rIns="0" bIns="0" anchor="t">
            <a:spAutoFit/>
          </a:bodyPr>
          <a:lstStyle/>
          <a:p>
            <a:pPr algn="l"/>
            <a:r>
              <a:rPr sz="3600" i="0" u="none" dirty="0">
                <a:solidFill>
                  <a:srgbClr val="0F172A"/>
                </a:solidFill>
                <a:effectLst>
                  <a:outerShdw blurRad="38100" dist="38100" dir="2700000" algn="tl">
                    <a:srgbClr val="000000">
                      <a:alpha val="43137"/>
                    </a:srgbClr>
                  </a:outerShdw>
                </a:effectLst>
                <a:latin typeface="+mj-lt"/>
              </a:rPr>
              <a:t>Project Flow Process</a:t>
            </a:r>
            <a:r>
              <a:rPr lang="en-IN" sz="3600" i="0" u="none" dirty="0">
                <a:solidFill>
                  <a:srgbClr val="0F172A"/>
                </a:solidFill>
                <a:effectLst>
                  <a:outerShdw blurRad="38100" dist="38100" dir="2700000" algn="tl">
                    <a:srgbClr val="000000">
                      <a:alpha val="43137"/>
                    </a:srgbClr>
                  </a:outerShdw>
                </a:effectLst>
                <a:latin typeface="+mj-lt"/>
              </a:rPr>
              <a:t> : Module </a:t>
            </a:r>
            <a:endParaRPr sz="3600" i="0" u="none" dirty="0">
              <a:solidFill>
                <a:srgbClr val="0F172A"/>
              </a:solidFill>
              <a:effectLst>
                <a:outerShdw blurRad="38100" dist="38100" dir="2700000" algn="tl">
                  <a:srgbClr val="000000">
                    <a:alpha val="43137"/>
                  </a:srgbClr>
                </a:outerShdw>
              </a:effectLst>
              <a:latin typeface="+mj-lt"/>
            </a:endParaRPr>
          </a:p>
        </p:txBody>
      </p:sp>
      <p:sp>
        <p:nvSpPr>
          <p:cNvPr id="24" name="Rectangle 33">
            <a:extLst>
              <a:ext uri="{FF2B5EF4-FFF2-40B4-BE49-F238E27FC236}">
                <a16:creationId xmlns:a16="http://schemas.microsoft.com/office/drawing/2014/main" id="{EA2C9DC1-B459-4CB0-B671-75537B1DD14D}"/>
              </a:ext>
            </a:extLst>
          </p:cNvPr>
          <p:cNvSpPr/>
          <p:nvPr/>
        </p:nvSpPr>
        <p:spPr>
          <a:xfrm>
            <a:off x="-1589" y="4733925"/>
            <a:ext cx="12192001" cy="2170752"/>
          </a:xfrm>
          <a:custGeom>
            <a:avLst/>
            <a:gdLst>
              <a:gd name="connsiteX0" fmla="*/ 0 w 12192000"/>
              <a:gd name="connsiteY0" fmla="*/ 0 h 2219581"/>
              <a:gd name="connsiteX1" fmla="*/ 12192000 w 12192000"/>
              <a:gd name="connsiteY1" fmla="*/ 0 h 2219581"/>
              <a:gd name="connsiteX2" fmla="*/ 12192000 w 12192000"/>
              <a:gd name="connsiteY2" fmla="*/ 2219581 h 2219581"/>
              <a:gd name="connsiteX3" fmla="*/ 0 w 12192000"/>
              <a:gd name="connsiteY3" fmla="*/ 2219581 h 2219581"/>
              <a:gd name="connsiteX4" fmla="*/ 0 w 12192000"/>
              <a:gd name="connsiteY4" fmla="*/ 0 h 2219581"/>
              <a:gd name="connsiteX0" fmla="*/ 0 w 12192000"/>
              <a:gd name="connsiteY0" fmla="*/ 209484 h 2429065"/>
              <a:gd name="connsiteX1" fmla="*/ 12192000 w 12192000"/>
              <a:gd name="connsiteY1" fmla="*/ 209484 h 2429065"/>
              <a:gd name="connsiteX2" fmla="*/ 12192000 w 12192000"/>
              <a:gd name="connsiteY2" fmla="*/ 2429065 h 2429065"/>
              <a:gd name="connsiteX3" fmla="*/ 0 w 12192000"/>
              <a:gd name="connsiteY3" fmla="*/ 2429065 h 2429065"/>
              <a:gd name="connsiteX4" fmla="*/ 0 w 12192000"/>
              <a:gd name="connsiteY4" fmla="*/ 209484 h 2429065"/>
              <a:gd name="connsiteX0" fmla="*/ 0 w 12192000"/>
              <a:gd name="connsiteY0" fmla="*/ 138131 h 2357712"/>
              <a:gd name="connsiteX1" fmla="*/ 12031745 w 12192000"/>
              <a:gd name="connsiteY1" fmla="*/ 552910 h 2357712"/>
              <a:gd name="connsiteX2" fmla="*/ 12192000 w 12192000"/>
              <a:gd name="connsiteY2" fmla="*/ 2357712 h 2357712"/>
              <a:gd name="connsiteX3" fmla="*/ 0 w 12192000"/>
              <a:gd name="connsiteY3" fmla="*/ 2357712 h 2357712"/>
              <a:gd name="connsiteX4" fmla="*/ 0 w 12192000"/>
              <a:gd name="connsiteY4" fmla="*/ 138131 h 2357712"/>
              <a:gd name="connsiteX0" fmla="*/ 0 w 12192000"/>
              <a:gd name="connsiteY0" fmla="*/ 95756 h 2315337"/>
              <a:gd name="connsiteX1" fmla="*/ 12031745 w 12192000"/>
              <a:gd name="connsiteY1" fmla="*/ 510535 h 2315337"/>
              <a:gd name="connsiteX2" fmla="*/ 12192000 w 12192000"/>
              <a:gd name="connsiteY2" fmla="*/ 2315337 h 2315337"/>
              <a:gd name="connsiteX3" fmla="*/ 0 w 12192000"/>
              <a:gd name="connsiteY3" fmla="*/ 2315337 h 2315337"/>
              <a:gd name="connsiteX4" fmla="*/ 0 w 12192000"/>
              <a:gd name="connsiteY4" fmla="*/ 95756 h 2315337"/>
              <a:gd name="connsiteX0" fmla="*/ 0 w 12192000"/>
              <a:gd name="connsiteY0" fmla="*/ 87347 h 2306928"/>
              <a:gd name="connsiteX1" fmla="*/ 6542277 w 12192000"/>
              <a:gd name="connsiteY1" fmla="*/ 452499 h 2306928"/>
              <a:gd name="connsiteX2" fmla="*/ 12031745 w 12192000"/>
              <a:gd name="connsiteY2" fmla="*/ 502126 h 2306928"/>
              <a:gd name="connsiteX3" fmla="*/ 12192000 w 12192000"/>
              <a:gd name="connsiteY3" fmla="*/ 2306928 h 2306928"/>
              <a:gd name="connsiteX4" fmla="*/ 0 w 12192000"/>
              <a:gd name="connsiteY4" fmla="*/ 2306928 h 2306928"/>
              <a:gd name="connsiteX5" fmla="*/ 0 w 12192000"/>
              <a:gd name="connsiteY5" fmla="*/ 87347 h 2306928"/>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52289 h 2271870"/>
              <a:gd name="connsiteX1" fmla="*/ 6523423 w 12192000"/>
              <a:gd name="connsiteY1" fmla="*/ 709672 h 2271870"/>
              <a:gd name="connsiteX2" fmla="*/ 12031745 w 12192000"/>
              <a:gd name="connsiteY2" fmla="*/ 467068 h 2271870"/>
              <a:gd name="connsiteX3" fmla="*/ 12192000 w 12192000"/>
              <a:gd name="connsiteY3" fmla="*/ 2271870 h 2271870"/>
              <a:gd name="connsiteX4" fmla="*/ 0 w 12192000"/>
              <a:gd name="connsiteY4" fmla="*/ 2271870 h 2271870"/>
              <a:gd name="connsiteX5" fmla="*/ 0 w 12192000"/>
              <a:gd name="connsiteY5" fmla="*/ 52289 h 2271870"/>
              <a:gd name="connsiteX0" fmla="*/ 0 w 12192001"/>
              <a:gd name="connsiteY0" fmla="*/ 52289 h 2271870"/>
              <a:gd name="connsiteX1" fmla="*/ 6523423 w 12192001"/>
              <a:gd name="connsiteY1" fmla="*/ 709672 h 2271870"/>
              <a:gd name="connsiteX2" fmla="*/ 12192001 w 12192001"/>
              <a:gd name="connsiteY2" fmla="*/ 467068 h 2271870"/>
              <a:gd name="connsiteX3" fmla="*/ 12192000 w 12192001"/>
              <a:gd name="connsiteY3" fmla="*/ 2271870 h 2271870"/>
              <a:gd name="connsiteX4" fmla="*/ 0 w 12192001"/>
              <a:gd name="connsiteY4" fmla="*/ 2271870 h 2271870"/>
              <a:gd name="connsiteX5" fmla="*/ 0 w 12192001"/>
              <a:gd name="connsiteY5" fmla="*/ 52289 h 2271870"/>
              <a:gd name="connsiteX0" fmla="*/ 0 w 12192001"/>
              <a:gd name="connsiteY0" fmla="*/ 54095 h 2273676"/>
              <a:gd name="connsiteX1" fmla="*/ 6523423 w 12192001"/>
              <a:gd name="connsiteY1" fmla="*/ 711478 h 2273676"/>
              <a:gd name="connsiteX2" fmla="*/ 12192001 w 12192001"/>
              <a:gd name="connsiteY2" fmla="*/ 468874 h 2273676"/>
              <a:gd name="connsiteX3" fmla="*/ 12192000 w 12192001"/>
              <a:gd name="connsiteY3" fmla="*/ 2273676 h 2273676"/>
              <a:gd name="connsiteX4" fmla="*/ 0 w 12192001"/>
              <a:gd name="connsiteY4" fmla="*/ 2273676 h 2273676"/>
              <a:gd name="connsiteX5" fmla="*/ 0 w 12192001"/>
              <a:gd name="connsiteY5" fmla="*/ 54095 h 227367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670572 h 2541362"/>
              <a:gd name="connsiteX1" fmla="*/ 6523423 w 12192001"/>
              <a:gd name="connsiteY1" fmla="*/ 979164 h 2541362"/>
              <a:gd name="connsiteX2" fmla="*/ 12192001 w 12192001"/>
              <a:gd name="connsiteY2" fmla="*/ 736560 h 2541362"/>
              <a:gd name="connsiteX3" fmla="*/ 12192000 w 12192001"/>
              <a:gd name="connsiteY3" fmla="*/ 2541362 h 2541362"/>
              <a:gd name="connsiteX4" fmla="*/ 0 w 12192001"/>
              <a:gd name="connsiteY4" fmla="*/ 2541362 h 2541362"/>
              <a:gd name="connsiteX5" fmla="*/ 9427 w 12192001"/>
              <a:gd name="connsiteY5" fmla="*/ 670572 h 2541362"/>
              <a:gd name="connsiteX0" fmla="*/ 9427 w 12192001"/>
              <a:gd name="connsiteY0" fmla="*/ 890764 h 2761554"/>
              <a:gd name="connsiteX1" fmla="*/ 6523423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9880 h 2750670"/>
              <a:gd name="connsiteX1" fmla="*/ 6561130 w 12192001"/>
              <a:gd name="connsiteY1" fmla="*/ 1188472 h 2750670"/>
              <a:gd name="connsiteX2" fmla="*/ 12192001 w 12192001"/>
              <a:gd name="connsiteY2" fmla="*/ 568796 h 2750670"/>
              <a:gd name="connsiteX3" fmla="*/ 12192000 w 12192001"/>
              <a:gd name="connsiteY3" fmla="*/ 2750670 h 2750670"/>
              <a:gd name="connsiteX4" fmla="*/ 0 w 12192001"/>
              <a:gd name="connsiteY4" fmla="*/ 2750670 h 2750670"/>
              <a:gd name="connsiteX5" fmla="*/ 9427 w 12192001"/>
              <a:gd name="connsiteY5" fmla="*/ 879880 h 2750670"/>
              <a:gd name="connsiteX0" fmla="*/ 9427 w 12192001"/>
              <a:gd name="connsiteY0" fmla="*/ 876602 h 2747392"/>
              <a:gd name="connsiteX1" fmla="*/ 6136924 w 12192001"/>
              <a:gd name="connsiteY1" fmla="*/ 1194621 h 2747392"/>
              <a:gd name="connsiteX2" fmla="*/ 12192001 w 12192001"/>
              <a:gd name="connsiteY2" fmla="*/ 565518 h 2747392"/>
              <a:gd name="connsiteX3" fmla="*/ 12192000 w 12192001"/>
              <a:gd name="connsiteY3" fmla="*/ 2747392 h 2747392"/>
              <a:gd name="connsiteX4" fmla="*/ 0 w 12192001"/>
              <a:gd name="connsiteY4" fmla="*/ 2747392 h 2747392"/>
              <a:gd name="connsiteX5" fmla="*/ 9427 w 12192001"/>
              <a:gd name="connsiteY5" fmla="*/ 876602 h 2747392"/>
              <a:gd name="connsiteX0" fmla="*/ 9427 w 12192001"/>
              <a:gd name="connsiteY0" fmla="*/ 889875 h 2760665"/>
              <a:gd name="connsiteX1" fmla="*/ 6344313 w 12192001"/>
              <a:gd name="connsiteY1" fmla="*/ 1170187 h 2760665"/>
              <a:gd name="connsiteX2" fmla="*/ 12192001 w 12192001"/>
              <a:gd name="connsiteY2" fmla="*/ 578791 h 2760665"/>
              <a:gd name="connsiteX3" fmla="*/ 12192000 w 12192001"/>
              <a:gd name="connsiteY3" fmla="*/ 2760665 h 2760665"/>
              <a:gd name="connsiteX4" fmla="*/ 0 w 12192001"/>
              <a:gd name="connsiteY4" fmla="*/ 2760665 h 2760665"/>
              <a:gd name="connsiteX5" fmla="*/ 9427 w 12192001"/>
              <a:gd name="connsiteY5" fmla="*/ 889875 h 2760665"/>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66543 h 2737333"/>
              <a:gd name="connsiteX1" fmla="*/ 6372593 w 12192001"/>
              <a:gd name="connsiteY1" fmla="*/ 1175135 h 2737333"/>
              <a:gd name="connsiteX2" fmla="*/ 12192001 w 12192001"/>
              <a:gd name="connsiteY2" fmla="*/ 555459 h 2737333"/>
              <a:gd name="connsiteX3" fmla="*/ 12192000 w 12192001"/>
              <a:gd name="connsiteY3" fmla="*/ 2737333 h 2737333"/>
              <a:gd name="connsiteX4" fmla="*/ 0 w 12192001"/>
              <a:gd name="connsiteY4" fmla="*/ 2737333 h 2737333"/>
              <a:gd name="connsiteX5" fmla="*/ 9427 w 12192001"/>
              <a:gd name="connsiteY5" fmla="*/ 866543 h 2737333"/>
              <a:gd name="connsiteX0" fmla="*/ 9427 w 12192001"/>
              <a:gd name="connsiteY0" fmla="*/ 943643 h 2814433"/>
              <a:gd name="connsiteX1" fmla="*/ 6042655 w 12192001"/>
              <a:gd name="connsiteY1" fmla="*/ 1044845 h 2814433"/>
              <a:gd name="connsiteX2" fmla="*/ 12192001 w 12192001"/>
              <a:gd name="connsiteY2" fmla="*/ 632559 h 2814433"/>
              <a:gd name="connsiteX3" fmla="*/ 12192000 w 12192001"/>
              <a:gd name="connsiteY3" fmla="*/ 2814433 h 2814433"/>
              <a:gd name="connsiteX4" fmla="*/ 0 w 12192001"/>
              <a:gd name="connsiteY4" fmla="*/ 2814433 h 2814433"/>
              <a:gd name="connsiteX5" fmla="*/ 9427 w 12192001"/>
              <a:gd name="connsiteY5" fmla="*/ 943643 h 2814433"/>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1" h="2799402">
                <a:moveTo>
                  <a:pt x="9427" y="928612"/>
                </a:moveTo>
                <a:cubicBezTo>
                  <a:pt x="2560962" y="129346"/>
                  <a:pt x="3943094" y="1752536"/>
                  <a:pt x="6042655" y="1029814"/>
                </a:cubicBezTo>
                <a:cubicBezTo>
                  <a:pt x="8123360" y="-154821"/>
                  <a:pt x="11127833" y="-351419"/>
                  <a:pt x="12192001" y="617528"/>
                </a:cubicBezTo>
                <a:cubicBezTo>
                  <a:pt x="12192001" y="1219129"/>
                  <a:pt x="12192000" y="2197801"/>
                  <a:pt x="12192000" y="2799402"/>
                </a:cubicBezTo>
                <a:lnTo>
                  <a:pt x="0" y="2799402"/>
                </a:lnTo>
                <a:cubicBezTo>
                  <a:pt x="3142" y="2175805"/>
                  <a:pt x="6285" y="1552209"/>
                  <a:pt x="9427" y="928612"/>
                </a:cubicBezTo>
                <a:close/>
              </a:path>
            </a:pathLst>
          </a:custGeom>
          <a:gradFill>
            <a:gsLst>
              <a:gs pos="0">
                <a:schemeClr val="accent1">
                  <a:lumMod val="5000"/>
                  <a:lumOff val="95000"/>
                </a:schemeClr>
              </a:gs>
              <a:gs pos="59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ounded Rectangle 1"/>
          <p:cNvSpPr/>
          <p:nvPr/>
        </p:nvSpPr>
        <p:spPr>
          <a:xfrm>
            <a:off x="609600" y="2388547"/>
            <a:ext cx="2600325" cy="2457450"/>
          </a:xfrm>
          <a:prstGeom prst="roundRect">
            <a:avLst>
              <a:gd name="adj" fmla="val 5426"/>
            </a:avLst>
          </a:prstGeom>
          <a:solidFill>
            <a:srgbClr val="FFFFFF"/>
          </a:solidFill>
          <a:ln>
            <a:noFill/>
          </a:ln>
          <a:effectLst>
            <a:outerShdw blurRad="50800" dist="38100" dir="18900000" algn="bl" rotWithShape="0">
              <a:prstClr val="black">
                <a:alpha val="40000"/>
              </a:prstClr>
            </a:outerShdw>
            <a:reflection blurRad="6350" stA="50000" endA="275" endPos="40000" dist="1016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400425" y="2921109"/>
            <a:ext cx="2600325" cy="2457450"/>
          </a:xfrm>
          <a:prstGeom prst="roundRect">
            <a:avLst>
              <a:gd name="adj" fmla="val 5426"/>
            </a:avLst>
          </a:prstGeom>
          <a:solidFill>
            <a:srgbClr val="FFFFFF"/>
          </a:solidFill>
          <a:ln>
            <a:noFill/>
          </a:ln>
          <a:effectLst>
            <a:outerShdw blurRad="50800" dist="38100" dir="18900000" algn="bl" rotWithShape="0">
              <a:prstClr val="black">
                <a:alpha val="40000"/>
              </a:prstClr>
            </a:outerShdw>
            <a:reflection blurRad="6350" stA="50000" endA="275" endPos="40000" dist="1016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91250" y="2468928"/>
            <a:ext cx="2600325" cy="2419349"/>
          </a:xfrm>
          <a:prstGeom prst="roundRect">
            <a:avLst>
              <a:gd name="adj" fmla="val 6086"/>
            </a:avLst>
          </a:prstGeom>
          <a:solidFill>
            <a:srgbClr val="FFFFFF"/>
          </a:solidFill>
          <a:ln>
            <a:noFill/>
          </a:ln>
          <a:effectLst>
            <a:outerShdw blurRad="50800" dist="38100" dir="18900000" algn="bl" rotWithShape="0">
              <a:prstClr val="black">
                <a:alpha val="40000"/>
              </a:prstClr>
            </a:outerShdw>
            <a:reflection blurRad="6350" stA="50000" endA="275" endPos="40000" dist="1016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82075" y="3211457"/>
            <a:ext cx="2600325" cy="2419350"/>
          </a:xfrm>
          <a:prstGeom prst="roundRect">
            <a:avLst>
              <a:gd name="adj" fmla="val 5511"/>
            </a:avLst>
          </a:prstGeom>
          <a:solidFill>
            <a:srgbClr val="FFFFFF"/>
          </a:solidFill>
          <a:ln>
            <a:noFill/>
          </a:ln>
          <a:effectLst>
            <a:outerShdw blurRad="50800" dist="38100" dir="18900000" algn="bl" rotWithShape="0">
              <a:prstClr val="black">
                <a:alpha val="40000"/>
              </a:prstClr>
            </a:outerShdw>
            <a:reflection blurRad="6350" stA="50000" endA="275" endPos="40000" dist="1016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8200" y="3315756"/>
            <a:ext cx="2350293" cy="533400"/>
          </a:xfrm>
          <a:prstGeom prst="rect">
            <a:avLst/>
          </a:prstGeom>
          <a:noFill/>
        </p:spPr>
        <p:txBody>
          <a:bodyPr wrap="square" lIns="0" tIns="0" rIns="0" bIns="0" anchor="t">
            <a:spAutoFit/>
          </a:bodyPr>
          <a:lstStyle/>
          <a:p>
            <a:pPr algn="l"/>
            <a:r>
              <a:rPr sz="1650" b="1" i="0" u="none" dirty="0">
                <a:solidFill>
                  <a:srgbClr val="0F172A"/>
                </a:solidFill>
                <a:latin typeface="Space Grotesk"/>
              </a:rPr>
              <a:t>Course &amp; Batch Setup</a:t>
            </a:r>
          </a:p>
        </p:txBody>
      </p:sp>
      <p:sp>
        <p:nvSpPr>
          <p:cNvPr id="14" name="TextBox 13"/>
          <p:cNvSpPr txBox="1"/>
          <p:nvPr/>
        </p:nvSpPr>
        <p:spPr>
          <a:xfrm>
            <a:off x="838200" y="3893497"/>
            <a:ext cx="2238375" cy="685800"/>
          </a:xfrm>
          <a:prstGeom prst="rect">
            <a:avLst/>
          </a:prstGeom>
          <a:noFill/>
        </p:spPr>
        <p:txBody>
          <a:bodyPr wrap="square" lIns="0" tIns="0" rIns="0" bIns="0" anchor="t">
            <a:spAutoFit/>
          </a:bodyPr>
          <a:lstStyle/>
          <a:p>
            <a:pPr algn="l"/>
            <a:r>
              <a:rPr sz="1350" b="0" i="0" u="none" dirty="0">
                <a:solidFill>
                  <a:srgbClr val="334155"/>
                </a:solidFill>
                <a:latin typeface="DM Sans"/>
              </a:rPr>
              <a:t>Admin creates Certificate or Diploma course and initializes Batch.</a:t>
            </a:r>
          </a:p>
        </p:txBody>
      </p:sp>
      <p:sp>
        <p:nvSpPr>
          <p:cNvPr id="16" name="TextBox 15"/>
          <p:cNvSpPr txBox="1"/>
          <p:nvPr/>
        </p:nvSpPr>
        <p:spPr>
          <a:xfrm>
            <a:off x="3585609" y="3856511"/>
            <a:ext cx="2350293" cy="533400"/>
          </a:xfrm>
          <a:prstGeom prst="rect">
            <a:avLst/>
          </a:prstGeom>
          <a:noFill/>
        </p:spPr>
        <p:txBody>
          <a:bodyPr wrap="square" lIns="0" tIns="0" rIns="0" bIns="0" anchor="t">
            <a:spAutoFit/>
          </a:bodyPr>
          <a:lstStyle/>
          <a:p>
            <a:pPr algn="l"/>
            <a:r>
              <a:rPr sz="1650" b="1" i="0" u="none" dirty="0">
                <a:solidFill>
                  <a:srgbClr val="0F172A"/>
                </a:solidFill>
                <a:latin typeface="Space Grotesk"/>
              </a:rPr>
              <a:t>Candidate Onboarding</a:t>
            </a:r>
          </a:p>
        </p:txBody>
      </p:sp>
      <p:sp>
        <p:nvSpPr>
          <p:cNvPr id="17" name="TextBox 16"/>
          <p:cNvSpPr txBox="1"/>
          <p:nvPr/>
        </p:nvSpPr>
        <p:spPr>
          <a:xfrm>
            <a:off x="3629025" y="4426059"/>
            <a:ext cx="2238375" cy="685800"/>
          </a:xfrm>
          <a:prstGeom prst="rect">
            <a:avLst/>
          </a:prstGeom>
          <a:noFill/>
        </p:spPr>
        <p:txBody>
          <a:bodyPr wrap="square" lIns="0" tIns="0" rIns="0" bIns="0" anchor="t">
            <a:spAutoFit/>
          </a:bodyPr>
          <a:lstStyle/>
          <a:p>
            <a:pPr algn="l"/>
            <a:r>
              <a:rPr sz="1350" b="0" i="0" u="none" dirty="0">
                <a:solidFill>
                  <a:srgbClr val="334155"/>
                </a:solidFill>
                <a:latin typeface="DM Sans"/>
              </a:rPr>
              <a:t>Students register on portal; Admin approves active batch assignment.</a:t>
            </a:r>
          </a:p>
        </p:txBody>
      </p:sp>
      <p:sp>
        <p:nvSpPr>
          <p:cNvPr id="19" name="TextBox 18"/>
          <p:cNvSpPr txBox="1"/>
          <p:nvPr/>
        </p:nvSpPr>
        <p:spPr>
          <a:xfrm>
            <a:off x="6392279" y="3488378"/>
            <a:ext cx="2812851" cy="266700"/>
          </a:xfrm>
          <a:prstGeom prst="rect">
            <a:avLst/>
          </a:prstGeom>
          <a:noFill/>
        </p:spPr>
        <p:txBody>
          <a:bodyPr wrap="none" lIns="0" tIns="0" rIns="0" bIns="0" anchor="t">
            <a:spAutoFit/>
          </a:bodyPr>
          <a:lstStyle/>
          <a:p>
            <a:pPr algn="l"/>
            <a:r>
              <a:rPr sz="1650" b="1" i="0" u="none" dirty="0">
                <a:solidFill>
                  <a:srgbClr val="0F172A"/>
                </a:solidFill>
                <a:latin typeface="Space Grotesk"/>
              </a:rPr>
              <a:t>Web3 ID Issuance</a:t>
            </a:r>
          </a:p>
        </p:txBody>
      </p:sp>
      <p:sp>
        <p:nvSpPr>
          <p:cNvPr id="20" name="TextBox 19"/>
          <p:cNvSpPr txBox="1"/>
          <p:nvPr/>
        </p:nvSpPr>
        <p:spPr>
          <a:xfrm>
            <a:off x="6400800" y="3981498"/>
            <a:ext cx="2238375" cy="685800"/>
          </a:xfrm>
          <a:prstGeom prst="rect">
            <a:avLst/>
          </a:prstGeom>
          <a:noFill/>
        </p:spPr>
        <p:txBody>
          <a:bodyPr wrap="square" lIns="0" tIns="0" rIns="0" bIns="0" anchor="t">
            <a:spAutoFit/>
          </a:bodyPr>
          <a:lstStyle/>
          <a:p>
            <a:pPr algn="l"/>
            <a:r>
              <a:rPr sz="1350" b="0" i="0" u="none" dirty="0">
                <a:solidFill>
                  <a:srgbClr val="334155"/>
                </a:solidFill>
                <a:latin typeface="DM Sans"/>
              </a:rPr>
              <a:t>Candidate requests ID; Admin approves and mints on Ethereum.</a:t>
            </a:r>
          </a:p>
        </p:txBody>
      </p:sp>
      <p:sp>
        <p:nvSpPr>
          <p:cNvPr id="22" name="TextBox 21"/>
          <p:cNvSpPr txBox="1"/>
          <p:nvPr/>
        </p:nvSpPr>
        <p:spPr>
          <a:xfrm>
            <a:off x="9210675" y="4076853"/>
            <a:ext cx="2812851" cy="266700"/>
          </a:xfrm>
          <a:prstGeom prst="rect">
            <a:avLst/>
          </a:prstGeom>
          <a:noFill/>
        </p:spPr>
        <p:txBody>
          <a:bodyPr wrap="none" lIns="0" tIns="0" rIns="0" bIns="0" anchor="t">
            <a:spAutoFit/>
          </a:bodyPr>
          <a:lstStyle/>
          <a:p>
            <a:pPr algn="l"/>
            <a:r>
              <a:rPr sz="1650" b="1" i="0" u="none" dirty="0">
                <a:solidFill>
                  <a:srgbClr val="0F172A"/>
                </a:solidFill>
                <a:latin typeface="Space Grotesk"/>
              </a:rPr>
              <a:t>Exam Scheduling</a:t>
            </a:r>
          </a:p>
        </p:txBody>
      </p:sp>
      <p:sp>
        <p:nvSpPr>
          <p:cNvPr id="23" name="TextBox 22"/>
          <p:cNvSpPr txBox="1"/>
          <p:nvPr/>
        </p:nvSpPr>
        <p:spPr>
          <a:xfrm>
            <a:off x="9210675" y="4449707"/>
            <a:ext cx="2238375" cy="914400"/>
          </a:xfrm>
          <a:prstGeom prst="rect">
            <a:avLst/>
          </a:prstGeom>
          <a:noFill/>
        </p:spPr>
        <p:txBody>
          <a:bodyPr wrap="square" lIns="0" tIns="0" rIns="0" bIns="0" anchor="t">
            <a:spAutoFit/>
          </a:bodyPr>
          <a:lstStyle/>
          <a:p>
            <a:pPr algn="l"/>
            <a:r>
              <a:rPr sz="1350" b="0" i="0" u="none">
                <a:solidFill>
                  <a:srgbClr val="334155"/>
                </a:solidFill>
                <a:latin typeface="DM Sans"/>
              </a:rPr>
              <a:t>Admin schedules examination slots for specific batch and semester.</a:t>
            </a:r>
          </a:p>
        </p:txBody>
      </p:sp>
      <p:sp>
        <p:nvSpPr>
          <p:cNvPr id="25" name="Oval 24">
            <a:extLst>
              <a:ext uri="{FF2B5EF4-FFF2-40B4-BE49-F238E27FC236}">
                <a16:creationId xmlns:a16="http://schemas.microsoft.com/office/drawing/2014/main" id="{1620A956-5F4C-46CE-98BC-69C48042014D}"/>
              </a:ext>
            </a:extLst>
          </p:cNvPr>
          <p:cNvSpPr/>
          <p:nvPr/>
        </p:nvSpPr>
        <p:spPr>
          <a:xfrm>
            <a:off x="788166" y="2588455"/>
            <a:ext cx="471009" cy="498124"/>
          </a:xfrm>
          <a:prstGeom prst="ellipse">
            <a:avLst/>
          </a:prstGeom>
          <a:solidFill>
            <a:schemeClr val="accent6">
              <a:lumMod val="7500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CE3CD859-AB84-4FE0-98A1-205AD055A6CB}"/>
              </a:ext>
            </a:extLst>
          </p:cNvPr>
          <p:cNvSpPr/>
          <p:nvPr/>
        </p:nvSpPr>
        <p:spPr>
          <a:xfrm>
            <a:off x="3585609" y="3139612"/>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7" name="TextBox 58">
            <a:extLst>
              <a:ext uri="{FF2B5EF4-FFF2-40B4-BE49-F238E27FC236}">
                <a16:creationId xmlns:a16="http://schemas.microsoft.com/office/drawing/2014/main" id="{3BBCB711-3CE5-4457-A2A4-C6E23C58634D}"/>
              </a:ext>
            </a:extLst>
          </p:cNvPr>
          <p:cNvSpPr/>
          <p:nvPr/>
        </p:nvSpPr>
        <p:spPr>
          <a:xfrm>
            <a:off x="762000" y="2693960"/>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01</a:t>
            </a:r>
            <a:endParaRPr lang="en" sz="1350" dirty="0">
              <a:solidFill>
                <a:schemeClr val="bg1">
                  <a:lumMod val="95000"/>
                </a:schemeClr>
              </a:solidFill>
            </a:endParaRPr>
          </a:p>
        </p:txBody>
      </p:sp>
      <p:sp>
        <p:nvSpPr>
          <p:cNvPr id="28" name="Oval 27">
            <a:extLst>
              <a:ext uri="{FF2B5EF4-FFF2-40B4-BE49-F238E27FC236}">
                <a16:creationId xmlns:a16="http://schemas.microsoft.com/office/drawing/2014/main" id="{9CCB4726-7F28-48FD-B6C7-A8BABB467DAD}"/>
              </a:ext>
            </a:extLst>
          </p:cNvPr>
          <p:cNvSpPr/>
          <p:nvPr/>
        </p:nvSpPr>
        <p:spPr>
          <a:xfrm>
            <a:off x="6392279" y="2732412"/>
            <a:ext cx="471009" cy="498124"/>
          </a:xfrm>
          <a:prstGeom prst="ellipse">
            <a:avLst/>
          </a:prstGeom>
          <a:solidFill>
            <a:srgbClr val="C00000"/>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9" name="TextBox 72">
            <a:extLst>
              <a:ext uri="{FF2B5EF4-FFF2-40B4-BE49-F238E27FC236}">
                <a16:creationId xmlns:a16="http://schemas.microsoft.com/office/drawing/2014/main" id="{DC544DB1-75EE-47BB-B8C0-2F509B4E5AD9}"/>
              </a:ext>
            </a:extLst>
          </p:cNvPr>
          <p:cNvSpPr/>
          <p:nvPr/>
        </p:nvSpPr>
        <p:spPr>
          <a:xfrm>
            <a:off x="3585609" y="3245766"/>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02</a:t>
            </a:r>
            <a:endParaRPr lang="en" sz="1350" b="1" spc="50" dirty="0">
              <a:ln w="0"/>
              <a:solidFill>
                <a:schemeClr val="bg2"/>
              </a:solidFill>
              <a:effectLst>
                <a:innerShdw blurRad="63500" dist="50800" dir="13500000">
                  <a:srgbClr val="000000">
                    <a:alpha val="50000"/>
                  </a:srgbClr>
                </a:innerShdw>
              </a:effectLst>
            </a:endParaRPr>
          </a:p>
        </p:txBody>
      </p:sp>
      <p:sp>
        <p:nvSpPr>
          <p:cNvPr id="30" name="Oval 29">
            <a:extLst>
              <a:ext uri="{FF2B5EF4-FFF2-40B4-BE49-F238E27FC236}">
                <a16:creationId xmlns:a16="http://schemas.microsoft.com/office/drawing/2014/main" id="{781DD0AA-6F69-42C7-8082-B6AEE9A7B3FF}"/>
              </a:ext>
            </a:extLst>
          </p:cNvPr>
          <p:cNvSpPr/>
          <p:nvPr/>
        </p:nvSpPr>
        <p:spPr>
          <a:xfrm>
            <a:off x="9181236" y="3416746"/>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31" name="TextBox 86">
            <a:extLst>
              <a:ext uri="{FF2B5EF4-FFF2-40B4-BE49-F238E27FC236}">
                <a16:creationId xmlns:a16="http://schemas.microsoft.com/office/drawing/2014/main" id="{8E2327AE-3029-46F5-8B15-D78C270CCCE4}"/>
              </a:ext>
            </a:extLst>
          </p:cNvPr>
          <p:cNvSpPr/>
          <p:nvPr/>
        </p:nvSpPr>
        <p:spPr>
          <a:xfrm>
            <a:off x="6366112" y="2789488"/>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03</a:t>
            </a:r>
            <a:endParaRPr lang="en" sz="1350" b="1" spc="50" dirty="0">
              <a:ln w="0"/>
              <a:solidFill>
                <a:schemeClr val="bg2"/>
              </a:solidFill>
              <a:effectLst>
                <a:innerShdw blurRad="63500" dist="50800" dir="13500000">
                  <a:srgbClr val="000000">
                    <a:alpha val="50000"/>
                  </a:srgbClr>
                </a:innerShdw>
              </a:effectLst>
            </a:endParaRPr>
          </a:p>
        </p:txBody>
      </p:sp>
      <p:sp>
        <p:nvSpPr>
          <p:cNvPr id="32" name="TextBox 100">
            <a:extLst>
              <a:ext uri="{FF2B5EF4-FFF2-40B4-BE49-F238E27FC236}">
                <a16:creationId xmlns:a16="http://schemas.microsoft.com/office/drawing/2014/main" id="{EE8D9490-17B0-485D-BED4-28A14F2E5014}"/>
              </a:ext>
            </a:extLst>
          </p:cNvPr>
          <p:cNvSpPr/>
          <p:nvPr/>
        </p:nvSpPr>
        <p:spPr>
          <a:xfrm>
            <a:off x="9210675" y="3522900"/>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04</a:t>
            </a:r>
            <a:endParaRPr lang="en" sz="1350" b="1" spc="50" dirty="0">
              <a:ln w="0"/>
              <a:solidFill>
                <a:schemeClr val="bg2"/>
              </a:solidFill>
              <a:effectLst>
                <a:innerShdw blurRad="63500" dist="50800" dir="13500000">
                  <a:srgbClr val="000000">
                    <a:alpha val="50000"/>
                  </a:srgbClr>
                </a:innerShdw>
              </a:effectLst>
            </a:endParaRPr>
          </a:p>
        </p:txBody>
      </p:sp>
      <p:sp>
        <p:nvSpPr>
          <p:cNvPr id="36" name="TextBox 24">
            <a:extLst>
              <a:ext uri="{FF2B5EF4-FFF2-40B4-BE49-F238E27FC236}">
                <a16:creationId xmlns:a16="http://schemas.microsoft.com/office/drawing/2014/main" id="{FF779AFE-E1A7-4ECD-99CD-5837F3C805A9}"/>
              </a:ext>
            </a:extLst>
          </p:cNvPr>
          <p:cNvSpPr/>
          <p:nvPr/>
        </p:nvSpPr>
        <p:spPr>
          <a:xfrm>
            <a:off x="601388" y="359566"/>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37" name="TextBox 38">
            <a:extLst>
              <a:ext uri="{FF2B5EF4-FFF2-40B4-BE49-F238E27FC236}">
                <a16:creationId xmlns:a16="http://schemas.microsoft.com/office/drawing/2014/main" id="{9D662527-D5F3-4F45-8FB1-72A35E2A402A}"/>
              </a:ext>
            </a:extLst>
          </p:cNvPr>
          <p:cNvSpPr/>
          <p:nvPr/>
        </p:nvSpPr>
        <p:spPr>
          <a:xfrm>
            <a:off x="563802" y="1477220"/>
            <a:ext cx="10744200" cy="319980"/>
          </a:xfrm>
          <a:prstGeom prst="rect">
            <a:avLst/>
          </a:prstGeom>
          <a:noFill/>
          <a:ln/>
        </p:spPr>
        <p:txBody>
          <a:bodyPr wrap="none" lIns="0" tIns="0" rIns="0" bIns="0" rtlCol="0" anchor="t">
            <a:normAutofit/>
          </a:bodyPr>
          <a:lstStyle/>
          <a:p>
            <a:pPr marL="0" indent="0" algn="l">
              <a:lnSpc>
                <a:spcPct val="100000"/>
              </a:lnSpc>
              <a:buNone/>
            </a:pPr>
            <a:r>
              <a:rPr lang="en" altLang="en-US" sz="1800" dirty="0">
                <a:solidFill>
                  <a:schemeClr val="tx1">
                    <a:lumMod val="85000"/>
                    <a:lumOff val="15000"/>
                  </a:schemeClr>
                </a:solidFill>
                <a:latin typeface="Arial" pitchFamily="34" charset="0"/>
                <a:ea typeface="Arial" pitchFamily="34" charset="-122"/>
                <a:cs typeface="Arial" pitchFamily="34" charset="-120"/>
              </a:rPr>
              <a:t>A seamless transition from traditional record-keeping to blockchain-verified credentials.</a:t>
            </a:r>
            <a:endParaRPr lang="en" sz="1800" dirty="0">
              <a:solidFill>
                <a:schemeClr val="tx1">
                  <a:lumMod val="85000"/>
                  <a:lumOff val="1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TextBox 23"/>
          <p:cNvSpPr/>
          <p:nvPr/>
        </p:nvSpPr>
        <p:spPr>
          <a:xfrm>
            <a:off x="518262" y="801940"/>
            <a:ext cx="6035129" cy="428625"/>
          </a:xfrm>
          <a:prstGeom prst="rect">
            <a:avLst/>
          </a:prstGeom>
          <a:noFill/>
        </p:spPr>
        <p:txBody>
          <a:bodyPr wrap="none" lIns="0" tIns="0" rIns="0" bIns="0" anchor="t">
            <a:spAutoFit/>
          </a:bodyPr>
          <a:lstStyle/>
          <a:p>
            <a:r>
              <a:rPr lang="en" altLang="en-US" sz="3600" dirty="0">
                <a:solidFill>
                  <a:srgbClr val="0F172A"/>
                </a:solidFill>
                <a:effectLst>
                  <a:outerShdw blurRad="38100" dist="38100" dir="2700000" algn="tl">
                    <a:srgbClr val="000000">
                      <a:alpha val="43137"/>
                    </a:srgbClr>
                  </a:outerShdw>
                </a:effectLst>
                <a:latin typeface="+mj-lt"/>
              </a:rPr>
              <a:t>Project Flow &amp; Logic: The User Journey</a:t>
            </a:r>
            <a:endParaRPr lang="en" sz="3600" dirty="0">
              <a:solidFill>
                <a:srgbClr val="0F172A"/>
              </a:solidFill>
              <a:effectLst>
                <a:outerShdw blurRad="38100" dist="38100" dir="2700000" algn="tl">
                  <a:srgbClr val="000000">
                    <a:alpha val="43137"/>
                  </a:srgbClr>
                </a:outerShdw>
              </a:effectLst>
              <a:latin typeface="+mj-lt"/>
            </a:endParaRPr>
          </a:p>
        </p:txBody>
      </p:sp>
      <p:sp>
        <p:nvSpPr>
          <p:cNvPr id="34" name="Rectangle 33">
            <a:extLst>
              <a:ext uri="{FF2B5EF4-FFF2-40B4-BE49-F238E27FC236}">
                <a16:creationId xmlns:a16="http://schemas.microsoft.com/office/drawing/2014/main" id="{08A21665-5FE4-4020-9303-743A908C5D3A}"/>
              </a:ext>
            </a:extLst>
          </p:cNvPr>
          <p:cNvSpPr/>
          <p:nvPr/>
        </p:nvSpPr>
        <p:spPr>
          <a:xfrm>
            <a:off x="-75" y="4079515"/>
            <a:ext cx="12192001" cy="2799402"/>
          </a:xfrm>
          <a:custGeom>
            <a:avLst/>
            <a:gdLst>
              <a:gd name="connsiteX0" fmla="*/ 0 w 12192000"/>
              <a:gd name="connsiteY0" fmla="*/ 0 h 2219581"/>
              <a:gd name="connsiteX1" fmla="*/ 12192000 w 12192000"/>
              <a:gd name="connsiteY1" fmla="*/ 0 h 2219581"/>
              <a:gd name="connsiteX2" fmla="*/ 12192000 w 12192000"/>
              <a:gd name="connsiteY2" fmla="*/ 2219581 h 2219581"/>
              <a:gd name="connsiteX3" fmla="*/ 0 w 12192000"/>
              <a:gd name="connsiteY3" fmla="*/ 2219581 h 2219581"/>
              <a:gd name="connsiteX4" fmla="*/ 0 w 12192000"/>
              <a:gd name="connsiteY4" fmla="*/ 0 h 2219581"/>
              <a:gd name="connsiteX0" fmla="*/ 0 w 12192000"/>
              <a:gd name="connsiteY0" fmla="*/ 209484 h 2429065"/>
              <a:gd name="connsiteX1" fmla="*/ 12192000 w 12192000"/>
              <a:gd name="connsiteY1" fmla="*/ 209484 h 2429065"/>
              <a:gd name="connsiteX2" fmla="*/ 12192000 w 12192000"/>
              <a:gd name="connsiteY2" fmla="*/ 2429065 h 2429065"/>
              <a:gd name="connsiteX3" fmla="*/ 0 w 12192000"/>
              <a:gd name="connsiteY3" fmla="*/ 2429065 h 2429065"/>
              <a:gd name="connsiteX4" fmla="*/ 0 w 12192000"/>
              <a:gd name="connsiteY4" fmla="*/ 209484 h 2429065"/>
              <a:gd name="connsiteX0" fmla="*/ 0 w 12192000"/>
              <a:gd name="connsiteY0" fmla="*/ 138131 h 2357712"/>
              <a:gd name="connsiteX1" fmla="*/ 12031745 w 12192000"/>
              <a:gd name="connsiteY1" fmla="*/ 552910 h 2357712"/>
              <a:gd name="connsiteX2" fmla="*/ 12192000 w 12192000"/>
              <a:gd name="connsiteY2" fmla="*/ 2357712 h 2357712"/>
              <a:gd name="connsiteX3" fmla="*/ 0 w 12192000"/>
              <a:gd name="connsiteY3" fmla="*/ 2357712 h 2357712"/>
              <a:gd name="connsiteX4" fmla="*/ 0 w 12192000"/>
              <a:gd name="connsiteY4" fmla="*/ 138131 h 2357712"/>
              <a:gd name="connsiteX0" fmla="*/ 0 w 12192000"/>
              <a:gd name="connsiteY0" fmla="*/ 95756 h 2315337"/>
              <a:gd name="connsiteX1" fmla="*/ 12031745 w 12192000"/>
              <a:gd name="connsiteY1" fmla="*/ 510535 h 2315337"/>
              <a:gd name="connsiteX2" fmla="*/ 12192000 w 12192000"/>
              <a:gd name="connsiteY2" fmla="*/ 2315337 h 2315337"/>
              <a:gd name="connsiteX3" fmla="*/ 0 w 12192000"/>
              <a:gd name="connsiteY3" fmla="*/ 2315337 h 2315337"/>
              <a:gd name="connsiteX4" fmla="*/ 0 w 12192000"/>
              <a:gd name="connsiteY4" fmla="*/ 95756 h 2315337"/>
              <a:gd name="connsiteX0" fmla="*/ 0 w 12192000"/>
              <a:gd name="connsiteY0" fmla="*/ 87347 h 2306928"/>
              <a:gd name="connsiteX1" fmla="*/ 6542277 w 12192000"/>
              <a:gd name="connsiteY1" fmla="*/ 452499 h 2306928"/>
              <a:gd name="connsiteX2" fmla="*/ 12031745 w 12192000"/>
              <a:gd name="connsiteY2" fmla="*/ 502126 h 2306928"/>
              <a:gd name="connsiteX3" fmla="*/ 12192000 w 12192000"/>
              <a:gd name="connsiteY3" fmla="*/ 2306928 h 2306928"/>
              <a:gd name="connsiteX4" fmla="*/ 0 w 12192000"/>
              <a:gd name="connsiteY4" fmla="*/ 2306928 h 2306928"/>
              <a:gd name="connsiteX5" fmla="*/ 0 w 12192000"/>
              <a:gd name="connsiteY5" fmla="*/ 87347 h 2306928"/>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52289 h 2271870"/>
              <a:gd name="connsiteX1" fmla="*/ 6523423 w 12192000"/>
              <a:gd name="connsiteY1" fmla="*/ 709672 h 2271870"/>
              <a:gd name="connsiteX2" fmla="*/ 12031745 w 12192000"/>
              <a:gd name="connsiteY2" fmla="*/ 467068 h 2271870"/>
              <a:gd name="connsiteX3" fmla="*/ 12192000 w 12192000"/>
              <a:gd name="connsiteY3" fmla="*/ 2271870 h 2271870"/>
              <a:gd name="connsiteX4" fmla="*/ 0 w 12192000"/>
              <a:gd name="connsiteY4" fmla="*/ 2271870 h 2271870"/>
              <a:gd name="connsiteX5" fmla="*/ 0 w 12192000"/>
              <a:gd name="connsiteY5" fmla="*/ 52289 h 2271870"/>
              <a:gd name="connsiteX0" fmla="*/ 0 w 12192001"/>
              <a:gd name="connsiteY0" fmla="*/ 52289 h 2271870"/>
              <a:gd name="connsiteX1" fmla="*/ 6523423 w 12192001"/>
              <a:gd name="connsiteY1" fmla="*/ 709672 h 2271870"/>
              <a:gd name="connsiteX2" fmla="*/ 12192001 w 12192001"/>
              <a:gd name="connsiteY2" fmla="*/ 467068 h 2271870"/>
              <a:gd name="connsiteX3" fmla="*/ 12192000 w 12192001"/>
              <a:gd name="connsiteY3" fmla="*/ 2271870 h 2271870"/>
              <a:gd name="connsiteX4" fmla="*/ 0 w 12192001"/>
              <a:gd name="connsiteY4" fmla="*/ 2271870 h 2271870"/>
              <a:gd name="connsiteX5" fmla="*/ 0 w 12192001"/>
              <a:gd name="connsiteY5" fmla="*/ 52289 h 2271870"/>
              <a:gd name="connsiteX0" fmla="*/ 0 w 12192001"/>
              <a:gd name="connsiteY0" fmla="*/ 54095 h 2273676"/>
              <a:gd name="connsiteX1" fmla="*/ 6523423 w 12192001"/>
              <a:gd name="connsiteY1" fmla="*/ 711478 h 2273676"/>
              <a:gd name="connsiteX2" fmla="*/ 12192001 w 12192001"/>
              <a:gd name="connsiteY2" fmla="*/ 468874 h 2273676"/>
              <a:gd name="connsiteX3" fmla="*/ 12192000 w 12192001"/>
              <a:gd name="connsiteY3" fmla="*/ 2273676 h 2273676"/>
              <a:gd name="connsiteX4" fmla="*/ 0 w 12192001"/>
              <a:gd name="connsiteY4" fmla="*/ 2273676 h 2273676"/>
              <a:gd name="connsiteX5" fmla="*/ 0 w 12192001"/>
              <a:gd name="connsiteY5" fmla="*/ 54095 h 227367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670572 h 2541362"/>
              <a:gd name="connsiteX1" fmla="*/ 6523423 w 12192001"/>
              <a:gd name="connsiteY1" fmla="*/ 979164 h 2541362"/>
              <a:gd name="connsiteX2" fmla="*/ 12192001 w 12192001"/>
              <a:gd name="connsiteY2" fmla="*/ 736560 h 2541362"/>
              <a:gd name="connsiteX3" fmla="*/ 12192000 w 12192001"/>
              <a:gd name="connsiteY3" fmla="*/ 2541362 h 2541362"/>
              <a:gd name="connsiteX4" fmla="*/ 0 w 12192001"/>
              <a:gd name="connsiteY4" fmla="*/ 2541362 h 2541362"/>
              <a:gd name="connsiteX5" fmla="*/ 9427 w 12192001"/>
              <a:gd name="connsiteY5" fmla="*/ 670572 h 2541362"/>
              <a:gd name="connsiteX0" fmla="*/ 9427 w 12192001"/>
              <a:gd name="connsiteY0" fmla="*/ 890764 h 2761554"/>
              <a:gd name="connsiteX1" fmla="*/ 6523423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9880 h 2750670"/>
              <a:gd name="connsiteX1" fmla="*/ 6561130 w 12192001"/>
              <a:gd name="connsiteY1" fmla="*/ 1188472 h 2750670"/>
              <a:gd name="connsiteX2" fmla="*/ 12192001 w 12192001"/>
              <a:gd name="connsiteY2" fmla="*/ 568796 h 2750670"/>
              <a:gd name="connsiteX3" fmla="*/ 12192000 w 12192001"/>
              <a:gd name="connsiteY3" fmla="*/ 2750670 h 2750670"/>
              <a:gd name="connsiteX4" fmla="*/ 0 w 12192001"/>
              <a:gd name="connsiteY4" fmla="*/ 2750670 h 2750670"/>
              <a:gd name="connsiteX5" fmla="*/ 9427 w 12192001"/>
              <a:gd name="connsiteY5" fmla="*/ 879880 h 2750670"/>
              <a:gd name="connsiteX0" fmla="*/ 9427 w 12192001"/>
              <a:gd name="connsiteY0" fmla="*/ 876602 h 2747392"/>
              <a:gd name="connsiteX1" fmla="*/ 6136924 w 12192001"/>
              <a:gd name="connsiteY1" fmla="*/ 1194621 h 2747392"/>
              <a:gd name="connsiteX2" fmla="*/ 12192001 w 12192001"/>
              <a:gd name="connsiteY2" fmla="*/ 565518 h 2747392"/>
              <a:gd name="connsiteX3" fmla="*/ 12192000 w 12192001"/>
              <a:gd name="connsiteY3" fmla="*/ 2747392 h 2747392"/>
              <a:gd name="connsiteX4" fmla="*/ 0 w 12192001"/>
              <a:gd name="connsiteY4" fmla="*/ 2747392 h 2747392"/>
              <a:gd name="connsiteX5" fmla="*/ 9427 w 12192001"/>
              <a:gd name="connsiteY5" fmla="*/ 876602 h 2747392"/>
              <a:gd name="connsiteX0" fmla="*/ 9427 w 12192001"/>
              <a:gd name="connsiteY0" fmla="*/ 889875 h 2760665"/>
              <a:gd name="connsiteX1" fmla="*/ 6344313 w 12192001"/>
              <a:gd name="connsiteY1" fmla="*/ 1170187 h 2760665"/>
              <a:gd name="connsiteX2" fmla="*/ 12192001 w 12192001"/>
              <a:gd name="connsiteY2" fmla="*/ 578791 h 2760665"/>
              <a:gd name="connsiteX3" fmla="*/ 12192000 w 12192001"/>
              <a:gd name="connsiteY3" fmla="*/ 2760665 h 2760665"/>
              <a:gd name="connsiteX4" fmla="*/ 0 w 12192001"/>
              <a:gd name="connsiteY4" fmla="*/ 2760665 h 2760665"/>
              <a:gd name="connsiteX5" fmla="*/ 9427 w 12192001"/>
              <a:gd name="connsiteY5" fmla="*/ 889875 h 2760665"/>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66543 h 2737333"/>
              <a:gd name="connsiteX1" fmla="*/ 6372593 w 12192001"/>
              <a:gd name="connsiteY1" fmla="*/ 1175135 h 2737333"/>
              <a:gd name="connsiteX2" fmla="*/ 12192001 w 12192001"/>
              <a:gd name="connsiteY2" fmla="*/ 555459 h 2737333"/>
              <a:gd name="connsiteX3" fmla="*/ 12192000 w 12192001"/>
              <a:gd name="connsiteY3" fmla="*/ 2737333 h 2737333"/>
              <a:gd name="connsiteX4" fmla="*/ 0 w 12192001"/>
              <a:gd name="connsiteY4" fmla="*/ 2737333 h 2737333"/>
              <a:gd name="connsiteX5" fmla="*/ 9427 w 12192001"/>
              <a:gd name="connsiteY5" fmla="*/ 866543 h 2737333"/>
              <a:gd name="connsiteX0" fmla="*/ 9427 w 12192001"/>
              <a:gd name="connsiteY0" fmla="*/ 943643 h 2814433"/>
              <a:gd name="connsiteX1" fmla="*/ 6042655 w 12192001"/>
              <a:gd name="connsiteY1" fmla="*/ 1044845 h 2814433"/>
              <a:gd name="connsiteX2" fmla="*/ 12192001 w 12192001"/>
              <a:gd name="connsiteY2" fmla="*/ 632559 h 2814433"/>
              <a:gd name="connsiteX3" fmla="*/ 12192000 w 12192001"/>
              <a:gd name="connsiteY3" fmla="*/ 2814433 h 2814433"/>
              <a:gd name="connsiteX4" fmla="*/ 0 w 12192001"/>
              <a:gd name="connsiteY4" fmla="*/ 2814433 h 2814433"/>
              <a:gd name="connsiteX5" fmla="*/ 9427 w 12192001"/>
              <a:gd name="connsiteY5" fmla="*/ 943643 h 2814433"/>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1" h="2799402">
                <a:moveTo>
                  <a:pt x="9427" y="928612"/>
                </a:moveTo>
                <a:cubicBezTo>
                  <a:pt x="2560962" y="129346"/>
                  <a:pt x="3943094" y="1752536"/>
                  <a:pt x="6042655" y="1029814"/>
                </a:cubicBezTo>
                <a:cubicBezTo>
                  <a:pt x="8123360" y="-154821"/>
                  <a:pt x="11127833" y="-351419"/>
                  <a:pt x="12192001" y="617528"/>
                </a:cubicBezTo>
                <a:cubicBezTo>
                  <a:pt x="12192001" y="1219129"/>
                  <a:pt x="12192000" y="2197801"/>
                  <a:pt x="12192000" y="2799402"/>
                </a:cubicBezTo>
                <a:lnTo>
                  <a:pt x="0" y="2799402"/>
                </a:lnTo>
                <a:cubicBezTo>
                  <a:pt x="3142" y="2175805"/>
                  <a:pt x="6285" y="1552209"/>
                  <a:pt x="9427" y="928612"/>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38"/>
          <p:cNvSpPr/>
          <p:nvPr/>
        </p:nvSpPr>
        <p:spPr>
          <a:xfrm>
            <a:off x="571500" y="1688438"/>
            <a:ext cx="10744200" cy="319980"/>
          </a:xfrm>
          <a:prstGeom prst="rect">
            <a:avLst/>
          </a:prstGeom>
          <a:noFill/>
          <a:ln/>
        </p:spPr>
        <p:txBody>
          <a:bodyPr wrap="none" lIns="0" tIns="0" rIns="0" bIns="0" rtlCol="0" anchor="t">
            <a:normAutofit/>
          </a:bodyPr>
          <a:lstStyle/>
          <a:p>
            <a:pPr marL="0" indent="0" algn="l">
              <a:lnSpc>
                <a:spcPct val="100000"/>
              </a:lnSpc>
              <a:buNone/>
            </a:pPr>
            <a:r>
              <a:rPr lang="en" altLang="en-US" sz="1800" dirty="0">
                <a:solidFill>
                  <a:schemeClr val="tx1">
                    <a:lumMod val="85000"/>
                    <a:lumOff val="15000"/>
                  </a:schemeClr>
                </a:solidFill>
                <a:latin typeface="Arial" pitchFamily="34" charset="0"/>
                <a:ea typeface="Arial" pitchFamily="34" charset="-122"/>
                <a:cs typeface="Arial" pitchFamily="34" charset="-120"/>
              </a:rPr>
              <a:t>A seamless transition from traditional record-keeping to blockchain-verified credentials.</a:t>
            </a:r>
            <a:endParaRPr lang="en" sz="1800" dirty="0">
              <a:solidFill>
                <a:schemeClr val="tx1">
                  <a:lumMod val="85000"/>
                  <a:lumOff val="15000"/>
                </a:schemeClr>
              </a:solidFill>
            </a:endParaRPr>
          </a:p>
        </p:txBody>
      </p:sp>
      <p:sp>
        <p:nvSpPr>
          <p:cNvPr id="23" name="Oval 22">
            <a:extLst>
              <a:ext uri="{FF2B5EF4-FFF2-40B4-BE49-F238E27FC236}">
                <a16:creationId xmlns:a16="http://schemas.microsoft.com/office/drawing/2014/main" id="{1E0D73B1-9841-498F-8FF3-C729AF4B8D46}"/>
              </a:ext>
            </a:extLst>
          </p:cNvPr>
          <p:cNvSpPr/>
          <p:nvPr/>
        </p:nvSpPr>
        <p:spPr>
          <a:xfrm>
            <a:off x="478772" y="2669679"/>
            <a:ext cx="471009" cy="498124"/>
          </a:xfrm>
          <a:prstGeom prst="ellipse">
            <a:avLst/>
          </a:prstGeom>
          <a:solidFill>
            <a:schemeClr val="accent6">
              <a:lumMod val="7500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81E5A6E4-B461-4088-B1B3-D3DD2BCED7AA}"/>
              </a:ext>
            </a:extLst>
          </p:cNvPr>
          <p:cNvSpPr/>
          <p:nvPr/>
        </p:nvSpPr>
        <p:spPr>
          <a:xfrm>
            <a:off x="2776220" y="3001112"/>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6" name="TextBox 58"/>
          <p:cNvSpPr/>
          <p:nvPr/>
        </p:nvSpPr>
        <p:spPr>
          <a:xfrm>
            <a:off x="452606" y="2775184"/>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01</a:t>
            </a:r>
            <a:endParaRPr lang="en" sz="1350" dirty="0">
              <a:solidFill>
                <a:schemeClr val="bg1">
                  <a:lumMod val="95000"/>
                </a:schemeClr>
              </a:solidFill>
            </a:endParaRPr>
          </a:p>
        </p:txBody>
      </p:sp>
      <p:sp>
        <p:nvSpPr>
          <p:cNvPr id="25" name="Oval 24">
            <a:extLst>
              <a:ext uri="{FF2B5EF4-FFF2-40B4-BE49-F238E27FC236}">
                <a16:creationId xmlns:a16="http://schemas.microsoft.com/office/drawing/2014/main" id="{AE13E7E1-ECFA-4BEB-9E61-6095D61FD2D8}"/>
              </a:ext>
            </a:extLst>
          </p:cNvPr>
          <p:cNvSpPr/>
          <p:nvPr/>
        </p:nvSpPr>
        <p:spPr>
          <a:xfrm>
            <a:off x="5126002" y="2718108"/>
            <a:ext cx="471009" cy="498124"/>
          </a:xfrm>
          <a:prstGeom prst="ellipse">
            <a:avLst/>
          </a:prstGeom>
          <a:solidFill>
            <a:srgbClr val="C00000"/>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9" name="TextBox 72"/>
          <p:cNvSpPr/>
          <p:nvPr/>
        </p:nvSpPr>
        <p:spPr>
          <a:xfrm>
            <a:off x="2776220" y="3107266"/>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02</a:t>
            </a:r>
            <a:endParaRPr lang="en" sz="1350" b="1" spc="50" dirty="0">
              <a:ln w="0"/>
              <a:solidFill>
                <a:schemeClr val="bg2"/>
              </a:solidFill>
              <a:effectLst>
                <a:innerShdw blurRad="63500" dist="50800" dir="13500000">
                  <a:srgbClr val="000000">
                    <a:alpha val="50000"/>
                  </a:srgbClr>
                </a:innerShdw>
              </a:effectLst>
            </a:endParaRPr>
          </a:p>
        </p:txBody>
      </p:sp>
      <p:sp>
        <p:nvSpPr>
          <p:cNvPr id="26" name="Oval 25">
            <a:extLst>
              <a:ext uri="{FF2B5EF4-FFF2-40B4-BE49-F238E27FC236}">
                <a16:creationId xmlns:a16="http://schemas.microsoft.com/office/drawing/2014/main" id="{81810661-7430-4A5A-8128-B50318AD3A40}"/>
              </a:ext>
            </a:extLst>
          </p:cNvPr>
          <p:cNvSpPr/>
          <p:nvPr/>
        </p:nvSpPr>
        <p:spPr>
          <a:xfrm>
            <a:off x="7394012" y="3001112"/>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2" name="TextBox 86"/>
          <p:cNvSpPr/>
          <p:nvPr/>
        </p:nvSpPr>
        <p:spPr>
          <a:xfrm>
            <a:off x="5099835" y="2775184"/>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03</a:t>
            </a:r>
            <a:endParaRPr lang="en" sz="1350" b="1" spc="50" dirty="0">
              <a:ln w="0"/>
              <a:solidFill>
                <a:schemeClr val="bg2"/>
              </a:solidFill>
              <a:effectLst>
                <a:innerShdw blurRad="63500" dist="50800" dir="13500000">
                  <a:srgbClr val="000000">
                    <a:alpha val="50000"/>
                  </a:srgbClr>
                </a:innerShdw>
              </a:effectLst>
            </a:endParaRPr>
          </a:p>
        </p:txBody>
      </p:sp>
      <p:sp>
        <p:nvSpPr>
          <p:cNvPr id="15" name="TextBox 100"/>
          <p:cNvSpPr/>
          <p:nvPr/>
        </p:nvSpPr>
        <p:spPr>
          <a:xfrm>
            <a:off x="7423451" y="3107266"/>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04</a:t>
            </a:r>
            <a:endParaRPr lang="en" sz="1350" b="1" spc="50" dirty="0">
              <a:ln w="0"/>
              <a:solidFill>
                <a:schemeClr val="bg2"/>
              </a:solidFill>
              <a:effectLst>
                <a:innerShdw blurRad="63500" dist="50800" dir="13500000">
                  <a:srgbClr val="000000">
                    <a:alpha val="50000"/>
                  </a:srgbClr>
                </a:innerShdw>
              </a:effectLst>
            </a:endParaRPr>
          </a:p>
        </p:txBody>
      </p:sp>
      <p:sp>
        <p:nvSpPr>
          <p:cNvPr id="27" name="Oval 26">
            <a:extLst>
              <a:ext uri="{FF2B5EF4-FFF2-40B4-BE49-F238E27FC236}">
                <a16:creationId xmlns:a16="http://schemas.microsoft.com/office/drawing/2014/main" id="{0925AE5E-8DDC-4F0E-BEE8-632DD33BC81F}"/>
              </a:ext>
            </a:extLst>
          </p:cNvPr>
          <p:cNvSpPr/>
          <p:nvPr/>
        </p:nvSpPr>
        <p:spPr>
          <a:xfrm>
            <a:off x="9717627" y="2703624"/>
            <a:ext cx="471009" cy="498124"/>
          </a:xfrm>
          <a:prstGeom prst="ellipse">
            <a:avLst/>
          </a:prstGeom>
          <a:solidFill>
            <a:srgbClr val="00CCFF"/>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8" name="TextBox 114"/>
          <p:cNvSpPr/>
          <p:nvPr/>
        </p:nvSpPr>
        <p:spPr>
          <a:xfrm>
            <a:off x="9747065" y="2775184"/>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dirty="0">
                <a:ln w="0"/>
                <a:effectLst>
                  <a:outerShdw blurRad="38100" dist="19050" dir="2700000" algn="tl" rotWithShape="0">
                    <a:schemeClr val="dk1">
                      <a:alpha val="40000"/>
                    </a:schemeClr>
                  </a:outerShdw>
                </a:effectLst>
                <a:latin typeface="DejaVu Sans Mono" pitchFamily="34" charset="0"/>
                <a:ea typeface="DejaVu Sans Mono" pitchFamily="34" charset="-122"/>
                <a:cs typeface="DejaVu Sans Mono" pitchFamily="34" charset="-120"/>
              </a:rPr>
              <a:t>05</a:t>
            </a:r>
            <a:endParaRPr lang="en" sz="1350" dirty="0">
              <a:ln w="0"/>
              <a:effectLst>
                <a:outerShdw blurRad="38100" dist="19050" dir="2700000" algn="tl" rotWithShape="0">
                  <a:schemeClr val="dk1">
                    <a:alpha val="40000"/>
                  </a:schemeClr>
                </a:outerShdw>
              </a:effectLst>
            </a:endParaRPr>
          </a:p>
        </p:txBody>
      </p:sp>
      <p:grpSp>
        <p:nvGrpSpPr>
          <p:cNvPr id="38" name="Group 37">
            <a:extLst>
              <a:ext uri="{FF2B5EF4-FFF2-40B4-BE49-F238E27FC236}">
                <a16:creationId xmlns:a16="http://schemas.microsoft.com/office/drawing/2014/main" id="{91C324AD-A36B-4A29-840B-E02CA4A2DABB}"/>
              </a:ext>
            </a:extLst>
          </p:cNvPr>
          <p:cNvGrpSpPr/>
          <p:nvPr/>
        </p:nvGrpSpPr>
        <p:grpSpPr>
          <a:xfrm>
            <a:off x="441730" y="3437402"/>
            <a:ext cx="2017415" cy="1667465"/>
            <a:chOff x="441730" y="3437402"/>
            <a:chExt cx="2017415" cy="1667465"/>
          </a:xfrm>
        </p:grpSpPr>
        <p:pic>
          <p:nvPicPr>
            <p:cNvPr id="29" name="Picture 28">
              <a:extLst>
                <a:ext uri="{FF2B5EF4-FFF2-40B4-BE49-F238E27FC236}">
                  <a16:creationId xmlns:a16="http://schemas.microsoft.com/office/drawing/2014/main" id="{3C0DEC44-762B-49A1-BFC9-D7334682EC87}"/>
                </a:ext>
              </a:extLst>
            </p:cNvPr>
            <p:cNvPicPr>
              <a:picLocks noChangeAspect="1"/>
            </p:cNvPicPr>
            <p:nvPr/>
          </p:nvPicPr>
          <p:blipFill>
            <a:blip r:embed="rId3"/>
            <a:stretch>
              <a:fillRect/>
            </a:stretch>
          </p:blipFill>
          <p:spPr>
            <a:xfrm>
              <a:off x="441730" y="3437402"/>
              <a:ext cx="2017415" cy="1667465"/>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7" name="TextBox 62"/>
            <p:cNvSpPr/>
            <p:nvPr/>
          </p:nvSpPr>
          <p:spPr>
            <a:xfrm>
              <a:off x="658672" y="3657279"/>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Registration</a:t>
              </a:r>
              <a:endParaRPr lang="en" sz="1350" dirty="0"/>
            </a:p>
          </p:txBody>
        </p:sp>
        <p:sp>
          <p:nvSpPr>
            <p:cNvPr id="8" name="TextBox 64"/>
            <p:cNvSpPr/>
            <p:nvPr/>
          </p:nvSpPr>
          <p:spPr>
            <a:xfrm>
              <a:off x="658672" y="4001685"/>
              <a:ext cx="1675977" cy="653788"/>
            </a:xfrm>
            <a:prstGeom prst="rect">
              <a:avLst/>
            </a:prstGeom>
            <a:noFill/>
            <a:ln/>
          </p:spPr>
          <p:txBody>
            <a:bodyPr wrap="none" lIns="0" tIns="0" rIns="0" bIns="0" rtlCol="0" anchor="t"/>
            <a:lstStyle/>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Institutions undergo a one-</a:t>
              </a:r>
              <a:endParaRPr lang="en" sz="1050" dirty="0"/>
            </a:p>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time verification to be</a:t>
              </a:r>
              <a:endParaRPr lang="en" sz="1050" dirty="0"/>
            </a:p>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whitelisted on the platform.</a:t>
              </a:r>
              <a:endParaRPr lang="en" sz="1050" dirty="0"/>
            </a:p>
          </p:txBody>
        </p:sp>
      </p:grpSp>
      <p:grpSp>
        <p:nvGrpSpPr>
          <p:cNvPr id="39" name="Group 38">
            <a:extLst>
              <a:ext uri="{FF2B5EF4-FFF2-40B4-BE49-F238E27FC236}">
                <a16:creationId xmlns:a16="http://schemas.microsoft.com/office/drawing/2014/main" id="{1D23D5FB-267D-4563-B1C0-C4FFA8D5F2AC}"/>
              </a:ext>
            </a:extLst>
          </p:cNvPr>
          <p:cNvGrpSpPr/>
          <p:nvPr/>
        </p:nvGrpSpPr>
        <p:grpSpPr>
          <a:xfrm>
            <a:off x="2726129" y="3715478"/>
            <a:ext cx="2017415" cy="1982036"/>
            <a:chOff x="2726129" y="3715478"/>
            <a:chExt cx="2017415" cy="1982036"/>
          </a:xfrm>
        </p:grpSpPr>
        <p:pic>
          <p:nvPicPr>
            <p:cNvPr id="30" name="Picture 29">
              <a:extLst>
                <a:ext uri="{FF2B5EF4-FFF2-40B4-BE49-F238E27FC236}">
                  <a16:creationId xmlns:a16="http://schemas.microsoft.com/office/drawing/2014/main" id="{0B336953-2F6A-4D4E-8C01-E726A3CD765E}"/>
                </a:ext>
              </a:extLst>
            </p:cNvPr>
            <p:cNvPicPr>
              <a:picLocks noChangeAspect="1"/>
            </p:cNvPicPr>
            <p:nvPr/>
          </p:nvPicPr>
          <p:blipFill>
            <a:blip r:embed="rId3"/>
            <a:stretch>
              <a:fillRect/>
            </a:stretch>
          </p:blipFill>
          <p:spPr>
            <a:xfrm>
              <a:off x="2726129" y="3715478"/>
              <a:ext cx="2017415" cy="1982036"/>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10" name="TextBox 76"/>
            <p:cNvSpPr/>
            <p:nvPr/>
          </p:nvSpPr>
          <p:spPr>
            <a:xfrm>
              <a:off x="2982287" y="3989361"/>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Issuance</a:t>
              </a:r>
              <a:endParaRPr lang="en" sz="1350" dirty="0"/>
            </a:p>
          </p:txBody>
        </p:sp>
        <p:sp>
          <p:nvSpPr>
            <p:cNvPr id="11" name="TextBox 78"/>
            <p:cNvSpPr/>
            <p:nvPr/>
          </p:nvSpPr>
          <p:spPr>
            <a:xfrm>
              <a:off x="2982288" y="4333767"/>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institution uploads</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student records;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system generates hashes</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and mints tokens.</a:t>
              </a:r>
              <a:endParaRPr lang="en" sz="1050" dirty="0"/>
            </a:p>
          </p:txBody>
        </p:sp>
      </p:grpSp>
      <p:grpSp>
        <p:nvGrpSpPr>
          <p:cNvPr id="40" name="Group 39">
            <a:extLst>
              <a:ext uri="{FF2B5EF4-FFF2-40B4-BE49-F238E27FC236}">
                <a16:creationId xmlns:a16="http://schemas.microsoft.com/office/drawing/2014/main" id="{9456ADEF-440B-4E45-9202-5143E3BBFD34}"/>
              </a:ext>
            </a:extLst>
          </p:cNvPr>
          <p:cNvGrpSpPr/>
          <p:nvPr/>
        </p:nvGrpSpPr>
        <p:grpSpPr>
          <a:xfrm>
            <a:off x="5060620" y="3437401"/>
            <a:ext cx="2017415" cy="1919561"/>
            <a:chOff x="5060620" y="3437401"/>
            <a:chExt cx="2017415" cy="1919561"/>
          </a:xfrm>
        </p:grpSpPr>
        <p:pic>
          <p:nvPicPr>
            <p:cNvPr id="31" name="Picture 30">
              <a:extLst>
                <a:ext uri="{FF2B5EF4-FFF2-40B4-BE49-F238E27FC236}">
                  <a16:creationId xmlns:a16="http://schemas.microsoft.com/office/drawing/2014/main" id="{235D6C88-589A-4814-B303-6C48C2E3BF7D}"/>
                </a:ext>
              </a:extLst>
            </p:cNvPr>
            <p:cNvPicPr>
              <a:picLocks noChangeAspect="1"/>
            </p:cNvPicPr>
            <p:nvPr/>
          </p:nvPicPr>
          <p:blipFill>
            <a:blip r:embed="rId3"/>
            <a:stretch>
              <a:fillRect/>
            </a:stretch>
          </p:blipFill>
          <p:spPr>
            <a:xfrm>
              <a:off x="5060620" y="3437401"/>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13" name="TextBox 90"/>
            <p:cNvSpPr/>
            <p:nvPr/>
          </p:nvSpPr>
          <p:spPr>
            <a:xfrm>
              <a:off x="5305902" y="3657279"/>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Notification</a:t>
              </a:r>
              <a:endParaRPr lang="en" sz="1350" dirty="0"/>
            </a:p>
          </p:txBody>
        </p:sp>
        <p:sp>
          <p:nvSpPr>
            <p:cNvPr id="14" name="TextBox 92"/>
            <p:cNvSpPr/>
            <p:nvPr/>
          </p:nvSpPr>
          <p:spPr>
            <a:xfrm>
              <a:off x="5305902" y="4001684"/>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Students receive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notification that their digital</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credential is ready in their</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wallet.</a:t>
              </a:r>
              <a:endParaRPr lang="en" sz="1050" dirty="0"/>
            </a:p>
          </p:txBody>
        </p:sp>
      </p:grpSp>
      <p:grpSp>
        <p:nvGrpSpPr>
          <p:cNvPr id="41" name="Group 40">
            <a:extLst>
              <a:ext uri="{FF2B5EF4-FFF2-40B4-BE49-F238E27FC236}">
                <a16:creationId xmlns:a16="http://schemas.microsoft.com/office/drawing/2014/main" id="{E11E31C2-65F7-4C1F-8F10-887E68B44939}"/>
              </a:ext>
            </a:extLst>
          </p:cNvPr>
          <p:cNvGrpSpPr/>
          <p:nvPr/>
        </p:nvGrpSpPr>
        <p:grpSpPr>
          <a:xfrm>
            <a:off x="7394013" y="3787970"/>
            <a:ext cx="2017415" cy="1919561"/>
            <a:chOff x="7394013" y="3787970"/>
            <a:chExt cx="2017415" cy="1919561"/>
          </a:xfrm>
        </p:grpSpPr>
        <p:pic>
          <p:nvPicPr>
            <p:cNvPr id="32" name="Picture 31">
              <a:extLst>
                <a:ext uri="{FF2B5EF4-FFF2-40B4-BE49-F238E27FC236}">
                  <a16:creationId xmlns:a16="http://schemas.microsoft.com/office/drawing/2014/main" id="{5FC3F6E5-E127-47A7-94CA-1A30A791DC21}"/>
                </a:ext>
              </a:extLst>
            </p:cNvPr>
            <p:cNvPicPr>
              <a:picLocks noChangeAspect="1"/>
            </p:cNvPicPr>
            <p:nvPr/>
          </p:nvPicPr>
          <p:blipFill>
            <a:blip r:embed="rId3"/>
            <a:stretch>
              <a:fillRect/>
            </a:stretch>
          </p:blipFill>
          <p:spPr>
            <a:xfrm>
              <a:off x="7394013" y="3787970"/>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16" name="TextBox 104"/>
            <p:cNvSpPr/>
            <p:nvPr/>
          </p:nvSpPr>
          <p:spPr>
            <a:xfrm>
              <a:off x="7629518" y="3989360"/>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Sharing</a:t>
              </a:r>
              <a:endParaRPr lang="en" sz="1350" dirty="0"/>
            </a:p>
          </p:txBody>
        </p:sp>
        <p:sp>
          <p:nvSpPr>
            <p:cNvPr id="17" name="TextBox 106"/>
            <p:cNvSpPr/>
            <p:nvPr/>
          </p:nvSpPr>
          <p:spPr>
            <a:xfrm>
              <a:off x="7629517" y="4333766"/>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student provides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public key or link to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potential employer for</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verification.</a:t>
              </a:r>
              <a:endParaRPr lang="en" sz="1050" dirty="0"/>
            </a:p>
          </p:txBody>
        </p:sp>
      </p:grpSp>
      <p:grpSp>
        <p:nvGrpSpPr>
          <p:cNvPr id="42" name="Group 41">
            <a:extLst>
              <a:ext uri="{FF2B5EF4-FFF2-40B4-BE49-F238E27FC236}">
                <a16:creationId xmlns:a16="http://schemas.microsoft.com/office/drawing/2014/main" id="{7089C76B-1A30-40FE-A659-A98FA2377842}"/>
              </a:ext>
            </a:extLst>
          </p:cNvPr>
          <p:cNvGrpSpPr/>
          <p:nvPr/>
        </p:nvGrpSpPr>
        <p:grpSpPr>
          <a:xfrm>
            <a:off x="9717627" y="3454480"/>
            <a:ext cx="2017415" cy="1919561"/>
            <a:chOff x="9717627" y="3454480"/>
            <a:chExt cx="2017415" cy="1919561"/>
          </a:xfrm>
        </p:grpSpPr>
        <p:pic>
          <p:nvPicPr>
            <p:cNvPr id="33" name="Picture 32">
              <a:extLst>
                <a:ext uri="{FF2B5EF4-FFF2-40B4-BE49-F238E27FC236}">
                  <a16:creationId xmlns:a16="http://schemas.microsoft.com/office/drawing/2014/main" id="{E7B16F1D-417F-40BE-99D5-23635804F5EA}"/>
                </a:ext>
              </a:extLst>
            </p:cNvPr>
            <p:cNvPicPr>
              <a:picLocks noChangeAspect="1"/>
            </p:cNvPicPr>
            <p:nvPr/>
          </p:nvPicPr>
          <p:blipFill>
            <a:blip r:embed="rId3"/>
            <a:stretch>
              <a:fillRect/>
            </a:stretch>
          </p:blipFill>
          <p:spPr>
            <a:xfrm>
              <a:off x="9717627" y="3454480"/>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19" name="TextBox 118"/>
            <p:cNvSpPr/>
            <p:nvPr/>
          </p:nvSpPr>
          <p:spPr>
            <a:xfrm>
              <a:off x="9953131" y="3657278"/>
              <a:ext cx="1676130"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Verification</a:t>
              </a:r>
              <a:endParaRPr lang="en" sz="1350" dirty="0"/>
            </a:p>
          </p:txBody>
        </p:sp>
        <p:sp>
          <p:nvSpPr>
            <p:cNvPr id="20" name="TextBox 120"/>
            <p:cNvSpPr/>
            <p:nvPr/>
          </p:nvSpPr>
          <p:spPr>
            <a:xfrm>
              <a:off x="9953129" y="4001683"/>
              <a:ext cx="1676130"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employer clicks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link, the portal queries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blockchain, and 'Verified'</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status is displayed.</a:t>
              </a:r>
              <a:endParaRPr lang="en" sz="1050" dirty="0"/>
            </a:p>
          </p:txBody>
        </p:sp>
      </p:grpSp>
      <p:sp>
        <p:nvSpPr>
          <p:cNvPr id="36" name="TextBox 24">
            <a:extLst>
              <a:ext uri="{FF2B5EF4-FFF2-40B4-BE49-F238E27FC236}">
                <a16:creationId xmlns:a16="http://schemas.microsoft.com/office/drawing/2014/main" id="{DDE1BFC9-76B7-441F-B5A7-05AC6141D623}"/>
              </a:ext>
            </a:extLst>
          </p:cNvPr>
          <p:cNvSpPr/>
          <p:nvPr/>
        </p:nvSpPr>
        <p:spPr>
          <a:xfrm>
            <a:off x="571500" y="344569"/>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7" name="Picture 36">
            <a:extLst>
              <a:ext uri="{FF2B5EF4-FFF2-40B4-BE49-F238E27FC236}">
                <a16:creationId xmlns:a16="http://schemas.microsoft.com/office/drawing/2014/main" id="{5CF1AB69-4305-4E1C-9F17-89D2648342CA}"/>
              </a:ext>
            </a:extLst>
          </p:cNvPr>
          <p:cNvPicPr>
            <a:picLocks noChangeAspect="1"/>
          </p:cNvPicPr>
          <p:nvPr/>
        </p:nvPicPr>
        <p:blipFill rotWithShape="1">
          <a:blip r:embed="rId4"/>
          <a:srcRect l="2412" t="3443" r="2856" b="6412"/>
          <a:stretch/>
        </p:blipFill>
        <p:spPr>
          <a:xfrm>
            <a:off x="12618533" y="-4599880"/>
            <a:ext cx="7610209" cy="4489772"/>
          </a:xfrm>
          <a:prstGeom prst="rect">
            <a:avLst/>
          </a:prstGeom>
        </p:spPr>
      </p:pic>
      <p:grpSp>
        <p:nvGrpSpPr>
          <p:cNvPr id="43" name="Group 42">
            <a:extLst>
              <a:ext uri="{FF2B5EF4-FFF2-40B4-BE49-F238E27FC236}">
                <a16:creationId xmlns:a16="http://schemas.microsoft.com/office/drawing/2014/main" id="{A21B04D4-1AF0-4CE4-94B5-2E9258FB67E3}"/>
              </a:ext>
            </a:extLst>
          </p:cNvPr>
          <p:cNvGrpSpPr/>
          <p:nvPr/>
        </p:nvGrpSpPr>
        <p:grpSpPr>
          <a:xfrm>
            <a:off x="428776" y="-4390256"/>
            <a:ext cx="4141476" cy="3923825"/>
            <a:chOff x="571500" y="2954536"/>
            <a:chExt cx="4483447" cy="3443288"/>
          </a:xfrm>
        </p:grpSpPr>
        <p:sp>
          <p:nvSpPr>
            <p:cNvPr id="44" name="TextBox 45">
              <a:extLst>
                <a:ext uri="{FF2B5EF4-FFF2-40B4-BE49-F238E27FC236}">
                  <a16:creationId xmlns:a16="http://schemas.microsoft.com/office/drawing/2014/main" id="{35CAE0F4-BA24-4D01-81A2-2B7ACC4B9379}"/>
                </a:ext>
              </a:extLst>
            </p:cNvPr>
            <p:cNvSpPr/>
            <p:nvPr/>
          </p:nvSpPr>
          <p:spPr>
            <a:xfrm>
              <a:off x="571500" y="2954536"/>
              <a:ext cx="4483447" cy="25717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052FF"/>
                  </a:solidFill>
                  <a:latin typeface="Inter" pitchFamily="34" charset="0"/>
                  <a:ea typeface="Inter" pitchFamily="34" charset="-122"/>
                  <a:cs typeface="Inter" pitchFamily="34" charset="-120"/>
                </a:rPr>
                <a:t>Data Entity Relationships</a:t>
              </a:r>
              <a:endParaRPr lang="en" sz="1350" dirty="0"/>
            </a:p>
          </p:txBody>
        </p:sp>
        <p:sp>
          <p:nvSpPr>
            <p:cNvPr id="45" name="TextBox 47">
              <a:extLst>
                <a:ext uri="{FF2B5EF4-FFF2-40B4-BE49-F238E27FC236}">
                  <a16:creationId xmlns:a16="http://schemas.microsoft.com/office/drawing/2014/main" id="{C457953D-B497-4D8D-A26B-D36772D83906}"/>
                </a:ext>
              </a:extLst>
            </p:cNvPr>
            <p:cNvSpPr/>
            <p:nvPr/>
          </p:nvSpPr>
          <p:spPr>
            <a:xfrm>
              <a:off x="571500" y="3294818"/>
              <a:ext cx="4483447" cy="400050"/>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Inter" pitchFamily="34" charset="0"/>
                  <a:ea typeface="Inter" pitchFamily="34" charset="-122"/>
                  <a:cs typeface="Inter" pitchFamily="34" charset="-120"/>
                </a:rPr>
                <a:t>Detailed breakdown of the core data entities defining the system's</a:t>
              </a:r>
              <a:endParaRPr lang="en" sz="1050" dirty="0"/>
            </a:p>
            <a:p>
              <a:pPr marL="0" indent="0" algn="l">
                <a:lnSpc>
                  <a:spcPts val="1575"/>
                </a:lnSpc>
                <a:buNone/>
              </a:pPr>
              <a:r>
                <a:rPr lang="en" altLang="en-US" sz="1050" dirty="0">
                  <a:solidFill>
                    <a:srgbClr val="64748B"/>
                  </a:solidFill>
                  <a:latin typeface="Inter" pitchFamily="34" charset="0"/>
                  <a:ea typeface="Inter" pitchFamily="34" charset="-122"/>
                  <a:cs typeface="Inter" pitchFamily="34" charset="-120"/>
                </a:rPr>
                <a:t>ledger integrity.</a:t>
              </a:r>
              <a:endParaRPr lang="en" sz="1050" dirty="0"/>
            </a:p>
          </p:txBody>
        </p:sp>
        <p:sp>
          <p:nvSpPr>
            <p:cNvPr id="46" name="TextBox 58">
              <a:extLst>
                <a:ext uri="{FF2B5EF4-FFF2-40B4-BE49-F238E27FC236}">
                  <a16:creationId xmlns:a16="http://schemas.microsoft.com/office/drawing/2014/main" id="{D47479AA-E330-464F-B73C-8745A896E7BD}"/>
                </a:ext>
              </a:extLst>
            </p:cNvPr>
            <p:cNvSpPr/>
            <p:nvPr/>
          </p:nvSpPr>
          <p:spPr>
            <a:xfrm>
              <a:off x="800100" y="3840361"/>
              <a:ext cx="3553420" cy="200025"/>
            </a:xfrm>
            <a:prstGeom prst="rect">
              <a:avLst/>
            </a:prstGeom>
            <a:noFill/>
            <a:ln/>
          </p:spPr>
          <p:txBody>
            <a:bodyPr wrap="none" lIns="0" tIns="0" rIns="0" bIns="0" rtlCol="0" anchor="t">
              <a:normAutofit/>
            </a:bodyPr>
            <a:lstStyle/>
            <a:p>
              <a:pPr marL="0" indent="0" algn="l">
                <a:lnSpc>
                  <a:spcPct val="100000"/>
                </a:lnSpc>
                <a:buNone/>
              </a:pPr>
              <a:r>
                <a:rPr lang="en" altLang="en-US" sz="1050" b="1" dirty="0">
                  <a:solidFill>
                    <a:srgbClr val="1E293B"/>
                  </a:solidFill>
                  <a:latin typeface="JetBrains Mono" pitchFamily="34" charset="0"/>
                  <a:ea typeface="JetBrains Mono" pitchFamily="34" charset="-122"/>
                  <a:cs typeface="JetBrains Mono" pitchFamily="34" charset="-120"/>
                </a:rPr>
                <a:t>User Entity</a:t>
              </a:r>
              <a:endParaRPr lang="en" sz="1050" dirty="0"/>
            </a:p>
          </p:txBody>
        </p:sp>
        <p:sp>
          <p:nvSpPr>
            <p:cNvPr id="47" name="TextBox 60">
              <a:extLst>
                <a:ext uri="{FF2B5EF4-FFF2-40B4-BE49-F238E27FC236}">
                  <a16:creationId xmlns:a16="http://schemas.microsoft.com/office/drawing/2014/main" id="{FC443092-10B4-4BA8-B068-F443C310BD0A}"/>
                </a:ext>
              </a:extLst>
            </p:cNvPr>
            <p:cNvSpPr/>
            <p:nvPr/>
          </p:nvSpPr>
          <p:spPr>
            <a:xfrm>
              <a:off x="800100" y="4040386"/>
              <a:ext cx="3553420" cy="433388"/>
            </a:xfrm>
            <a:prstGeom prst="rect">
              <a:avLst/>
            </a:prstGeom>
            <a:noFill/>
            <a:ln/>
          </p:spPr>
          <p:txBody>
            <a:bodyPr wrap="none" lIns="0" tIns="0" rIns="0" bIns="0" rtlCol="0" anchor="t"/>
            <a:lstStyle/>
            <a:p>
              <a:pPr marL="0" indent="0" algn="l">
                <a:lnSpc>
                  <a:spcPts val="1706"/>
                </a:lnSpc>
                <a:buNone/>
              </a:pPr>
              <a:r>
                <a:rPr lang="en" altLang="en-US" sz="1050" dirty="0">
                  <a:solidFill>
                    <a:srgbClr val="64748B"/>
                  </a:solidFill>
                  <a:latin typeface="Inter" pitchFamily="34" charset="0"/>
                  <a:ea typeface="Inter" pitchFamily="34" charset="-122"/>
                  <a:cs typeface="Inter" pitchFamily="34" charset="-120"/>
                </a:rPr>
                <a:t>Stores basic profile information and wallet addresses for</a:t>
              </a:r>
              <a:endParaRPr lang="en" sz="1050" dirty="0"/>
            </a:p>
            <a:p>
              <a:pPr marL="0" indent="0" algn="l">
                <a:lnSpc>
                  <a:spcPts val="1706"/>
                </a:lnSpc>
                <a:buNone/>
              </a:pPr>
              <a:r>
                <a:rPr lang="en" altLang="en-US" sz="1050" dirty="0">
                  <a:solidFill>
                    <a:srgbClr val="64748B"/>
                  </a:solidFill>
                  <a:latin typeface="Inter" pitchFamily="34" charset="0"/>
                  <a:ea typeface="Inter" pitchFamily="34" charset="-122"/>
                  <a:cs typeface="Inter" pitchFamily="34" charset="-120"/>
                </a:rPr>
                <a:t>authentication.</a:t>
              </a:r>
              <a:endParaRPr lang="en" sz="1050" dirty="0"/>
            </a:p>
          </p:txBody>
        </p:sp>
        <p:sp>
          <p:nvSpPr>
            <p:cNvPr id="48" name="TextBox 70">
              <a:extLst>
                <a:ext uri="{FF2B5EF4-FFF2-40B4-BE49-F238E27FC236}">
                  <a16:creationId xmlns:a16="http://schemas.microsoft.com/office/drawing/2014/main" id="{ADE8D0AB-C925-4EF1-9974-860C89A754A1}"/>
                </a:ext>
              </a:extLst>
            </p:cNvPr>
            <p:cNvSpPr/>
            <p:nvPr/>
          </p:nvSpPr>
          <p:spPr>
            <a:xfrm>
              <a:off x="800100" y="4626173"/>
              <a:ext cx="3377505" cy="200025"/>
            </a:xfrm>
            <a:prstGeom prst="rect">
              <a:avLst/>
            </a:prstGeom>
            <a:noFill/>
            <a:ln/>
          </p:spPr>
          <p:txBody>
            <a:bodyPr wrap="none" lIns="0" tIns="0" rIns="0" bIns="0" rtlCol="0" anchor="t">
              <a:normAutofit/>
            </a:bodyPr>
            <a:lstStyle/>
            <a:p>
              <a:pPr marL="0" indent="0" algn="l">
                <a:lnSpc>
                  <a:spcPct val="100000"/>
                </a:lnSpc>
                <a:buNone/>
              </a:pPr>
              <a:r>
                <a:rPr lang="en" altLang="en-US" sz="1050" b="1" dirty="0">
                  <a:solidFill>
                    <a:srgbClr val="1E293B"/>
                  </a:solidFill>
                  <a:latin typeface="JetBrains Mono" pitchFamily="34" charset="0"/>
                  <a:ea typeface="JetBrains Mono" pitchFamily="34" charset="-122"/>
                  <a:cs typeface="JetBrains Mono" pitchFamily="34" charset="-120"/>
                </a:rPr>
                <a:t>Institution Entity</a:t>
              </a:r>
              <a:endParaRPr lang="en" sz="1050" dirty="0"/>
            </a:p>
          </p:txBody>
        </p:sp>
        <p:sp>
          <p:nvSpPr>
            <p:cNvPr id="49" name="TextBox 72">
              <a:extLst>
                <a:ext uri="{FF2B5EF4-FFF2-40B4-BE49-F238E27FC236}">
                  <a16:creationId xmlns:a16="http://schemas.microsoft.com/office/drawing/2014/main" id="{A2F1FDA6-1D2B-486D-A15A-97D27A796719}"/>
                </a:ext>
              </a:extLst>
            </p:cNvPr>
            <p:cNvSpPr/>
            <p:nvPr/>
          </p:nvSpPr>
          <p:spPr>
            <a:xfrm>
              <a:off x="800100" y="4826198"/>
              <a:ext cx="3377505" cy="216694"/>
            </a:xfrm>
            <a:prstGeom prst="rect">
              <a:avLst/>
            </a:prstGeom>
            <a:noFill/>
            <a:ln/>
          </p:spPr>
          <p:txBody>
            <a:bodyPr wrap="none" lIns="0" tIns="0" rIns="0" bIns="0" rtlCol="0" anchor="t">
              <a:normAutofit/>
            </a:bodyPr>
            <a:lstStyle/>
            <a:p>
              <a:pPr marL="0" indent="0" algn="l">
                <a:lnSpc>
                  <a:spcPct val="100000"/>
                </a:lnSpc>
                <a:buNone/>
              </a:pPr>
              <a:r>
                <a:rPr lang="en" altLang="en-US" sz="1050" dirty="0">
                  <a:solidFill>
                    <a:srgbClr val="64748B"/>
                  </a:solidFill>
                  <a:latin typeface="Inter" pitchFamily="34" charset="0"/>
                  <a:ea typeface="Inter" pitchFamily="34" charset="-122"/>
                  <a:cs typeface="Inter" pitchFamily="34" charset="-120"/>
                </a:rPr>
                <a:t>Contains verified details of authorized issuing bodies.</a:t>
              </a:r>
              <a:endParaRPr lang="en" sz="1050" dirty="0"/>
            </a:p>
          </p:txBody>
        </p:sp>
        <p:sp>
          <p:nvSpPr>
            <p:cNvPr id="50" name="TextBox 82">
              <a:extLst>
                <a:ext uri="{FF2B5EF4-FFF2-40B4-BE49-F238E27FC236}">
                  <a16:creationId xmlns:a16="http://schemas.microsoft.com/office/drawing/2014/main" id="{22FBC253-ED11-4FA0-8AA1-A23862AE7B6E}"/>
                </a:ext>
              </a:extLst>
            </p:cNvPr>
            <p:cNvSpPr/>
            <p:nvPr/>
          </p:nvSpPr>
          <p:spPr>
            <a:xfrm>
              <a:off x="800100" y="5195292"/>
              <a:ext cx="4140696" cy="200025"/>
            </a:xfrm>
            <a:prstGeom prst="rect">
              <a:avLst/>
            </a:prstGeom>
            <a:noFill/>
            <a:ln/>
          </p:spPr>
          <p:txBody>
            <a:bodyPr wrap="none" lIns="0" tIns="0" rIns="0" bIns="0" rtlCol="0" anchor="t">
              <a:normAutofit/>
            </a:bodyPr>
            <a:lstStyle/>
            <a:p>
              <a:pPr marL="0" indent="0" algn="l">
                <a:lnSpc>
                  <a:spcPct val="100000"/>
                </a:lnSpc>
                <a:buNone/>
              </a:pPr>
              <a:r>
                <a:rPr lang="en" altLang="en-US" sz="1050" b="1" dirty="0">
                  <a:solidFill>
                    <a:srgbClr val="1E293B"/>
                  </a:solidFill>
                  <a:latin typeface="JetBrains Mono" pitchFamily="34" charset="0"/>
                  <a:ea typeface="JetBrains Mono" pitchFamily="34" charset="-122"/>
                  <a:cs typeface="JetBrains Mono" pitchFamily="34" charset="-120"/>
                </a:rPr>
                <a:t>Certificate Entity</a:t>
              </a:r>
              <a:endParaRPr lang="en" sz="1050" dirty="0"/>
            </a:p>
          </p:txBody>
        </p:sp>
        <p:sp>
          <p:nvSpPr>
            <p:cNvPr id="51" name="TextBox 84">
              <a:extLst>
                <a:ext uri="{FF2B5EF4-FFF2-40B4-BE49-F238E27FC236}">
                  <a16:creationId xmlns:a16="http://schemas.microsoft.com/office/drawing/2014/main" id="{C3946C26-88AE-4E67-A03A-2E1084A5BC0E}"/>
                </a:ext>
              </a:extLst>
            </p:cNvPr>
            <p:cNvSpPr/>
            <p:nvPr/>
          </p:nvSpPr>
          <p:spPr>
            <a:xfrm>
              <a:off x="800100" y="5395317"/>
              <a:ext cx="4140696" cy="433388"/>
            </a:xfrm>
            <a:prstGeom prst="rect">
              <a:avLst/>
            </a:prstGeom>
            <a:noFill/>
            <a:ln/>
          </p:spPr>
          <p:txBody>
            <a:bodyPr wrap="none" lIns="0" tIns="0" rIns="0" bIns="0" rtlCol="0" anchor="t"/>
            <a:lstStyle/>
            <a:p>
              <a:pPr marL="0" indent="0" algn="l">
                <a:lnSpc>
                  <a:spcPts val="1706"/>
                </a:lnSpc>
                <a:buNone/>
              </a:pPr>
              <a:r>
                <a:rPr lang="en" altLang="en-US" sz="1050" dirty="0">
                  <a:solidFill>
                    <a:srgbClr val="64748B"/>
                  </a:solidFill>
                  <a:latin typeface="Inter" pitchFamily="34" charset="0"/>
                  <a:ea typeface="Inter" pitchFamily="34" charset="-122"/>
                  <a:cs typeface="Inter" pitchFamily="34" charset="-120"/>
                </a:rPr>
                <a:t>The central entity linking a student, an institution, and the specific</a:t>
              </a:r>
              <a:endParaRPr lang="en" sz="1050" dirty="0"/>
            </a:p>
            <a:p>
              <a:pPr marL="0" indent="0" algn="l">
                <a:lnSpc>
                  <a:spcPts val="1706"/>
                </a:lnSpc>
                <a:buNone/>
              </a:pPr>
              <a:r>
                <a:rPr lang="en" altLang="en-US" sz="1050" dirty="0">
                  <a:solidFill>
                    <a:srgbClr val="64748B"/>
                  </a:solidFill>
                  <a:latin typeface="Inter" pitchFamily="34" charset="0"/>
                  <a:ea typeface="Inter" pitchFamily="34" charset="-122"/>
                  <a:cs typeface="Inter" pitchFamily="34" charset="-120"/>
                </a:rPr>
                <a:t>document hash.</a:t>
              </a:r>
              <a:endParaRPr lang="en" sz="1050" dirty="0"/>
            </a:p>
          </p:txBody>
        </p:sp>
        <p:sp>
          <p:nvSpPr>
            <p:cNvPr id="52" name="TextBox 94">
              <a:extLst>
                <a:ext uri="{FF2B5EF4-FFF2-40B4-BE49-F238E27FC236}">
                  <a16:creationId xmlns:a16="http://schemas.microsoft.com/office/drawing/2014/main" id="{8011735E-9A2A-4952-BBE1-103C94F9C46A}"/>
                </a:ext>
              </a:extLst>
            </p:cNvPr>
            <p:cNvSpPr/>
            <p:nvPr/>
          </p:nvSpPr>
          <p:spPr>
            <a:xfrm>
              <a:off x="800100" y="5981105"/>
              <a:ext cx="4085630" cy="200025"/>
            </a:xfrm>
            <a:prstGeom prst="rect">
              <a:avLst/>
            </a:prstGeom>
            <a:noFill/>
            <a:ln/>
          </p:spPr>
          <p:txBody>
            <a:bodyPr wrap="none" lIns="0" tIns="0" rIns="0" bIns="0" rtlCol="0" anchor="t">
              <a:normAutofit/>
            </a:bodyPr>
            <a:lstStyle/>
            <a:p>
              <a:pPr marL="0" indent="0" algn="l">
                <a:lnSpc>
                  <a:spcPct val="100000"/>
                </a:lnSpc>
                <a:buNone/>
              </a:pPr>
              <a:r>
                <a:rPr lang="en" altLang="en-US" sz="1050" b="1" dirty="0">
                  <a:solidFill>
                    <a:srgbClr val="1E293B"/>
                  </a:solidFill>
                  <a:latin typeface="JetBrains Mono" pitchFamily="34" charset="0"/>
                  <a:ea typeface="JetBrains Mono" pitchFamily="34" charset="-122"/>
                  <a:cs typeface="JetBrains Mono" pitchFamily="34" charset="-120"/>
                </a:rPr>
                <a:t>Verification Log</a:t>
              </a:r>
              <a:endParaRPr lang="en" sz="1050" dirty="0"/>
            </a:p>
          </p:txBody>
        </p:sp>
        <p:sp>
          <p:nvSpPr>
            <p:cNvPr id="53" name="TextBox 96">
              <a:extLst>
                <a:ext uri="{FF2B5EF4-FFF2-40B4-BE49-F238E27FC236}">
                  <a16:creationId xmlns:a16="http://schemas.microsoft.com/office/drawing/2014/main" id="{47B9268B-046A-4DF5-9CBC-BD2391B38AB6}"/>
                </a:ext>
              </a:extLst>
            </p:cNvPr>
            <p:cNvSpPr/>
            <p:nvPr/>
          </p:nvSpPr>
          <p:spPr>
            <a:xfrm>
              <a:off x="800100" y="6181130"/>
              <a:ext cx="4085630" cy="216694"/>
            </a:xfrm>
            <a:prstGeom prst="rect">
              <a:avLst/>
            </a:prstGeom>
            <a:noFill/>
            <a:ln/>
          </p:spPr>
          <p:txBody>
            <a:bodyPr wrap="none" lIns="0" tIns="0" rIns="0" bIns="0" rtlCol="0" anchor="t">
              <a:normAutofit/>
            </a:bodyPr>
            <a:lstStyle/>
            <a:p>
              <a:pPr marL="0" indent="0" algn="l">
                <a:lnSpc>
                  <a:spcPct val="100000"/>
                </a:lnSpc>
                <a:buNone/>
              </a:pPr>
              <a:r>
                <a:rPr lang="en" altLang="en-US" sz="1050" dirty="0">
                  <a:solidFill>
                    <a:srgbClr val="64748B"/>
                  </a:solidFill>
                  <a:latin typeface="Inter" pitchFamily="34" charset="0"/>
                  <a:ea typeface="Inter" pitchFamily="34" charset="-122"/>
                  <a:cs typeface="Inter" pitchFamily="34" charset="-120"/>
                </a:rPr>
                <a:t>Tracks verification attempts to provide audit trails for institutions.</a:t>
              </a:r>
              <a:endParaRPr lang="en" sz="1050" dirty="0"/>
            </a:p>
          </p:txBody>
        </p:sp>
      </p:grpSp>
      <p:pic>
        <p:nvPicPr>
          <p:cNvPr id="54" name="Picture 53">
            <a:extLst>
              <a:ext uri="{FF2B5EF4-FFF2-40B4-BE49-F238E27FC236}">
                <a16:creationId xmlns:a16="http://schemas.microsoft.com/office/drawing/2014/main" id="{EEBA4E9A-F30F-488B-BFA2-97DA7902E1B4}"/>
              </a:ext>
            </a:extLst>
          </p:cNvPr>
          <p:cNvPicPr>
            <a:picLocks noChangeAspect="1"/>
          </p:cNvPicPr>
          <p:nvPr/>
        </p:nvPicPr>
        <p:blipFill>
          <a:blip r:embed="rId5"/>
          <a:stretch>
            <a:fillRect/>
          </a:stretch>
        </p:blipFill>
        <p:spPr>
          <a:xfrm>
            <a:off x="-5467543" y="1095682"/>
            <a:ext cx="4141476" cy="1209573"/>
          </a:xfrm>
          <a:prstGeom prst="rect">
            <a:avLst/>
          </a:prstGeom>
        </p:spPr>
      </p:pic>
      <p:sp>
        <p:nvSpPr>
          <p:cNvPr id="55" name="TextBox 34">
            <a:extLst>
              <a:ext uri="{FF2B5EF4-FFF2-40B4-BE49-F238E27FC236}">
                <a16:creationId xmlns:a16="http://schemas.microsoft.com/office/drawing/2014/main" id="{772971EC-24AD-4C56-9F08-CCE51B01574E}"/>
              </a:ext>
            </a:extLst>
          </p:cNvPr>
          <p:cNvSpPr/>
          <p:nvPr/>
        </p:nvSpPr>
        <p:spPr>
          <a:xfrm>
            <a:off x="-5174190" y="1305200"/>
            <a:ext cx="3548584" cy="232603"/>
          </a:xfrm>
          <a:prstGeom prst="rect">
            <a:avLst/>
          </a:prstGeom>
          <a:noFill/>
          <a:ln/>
        </p:spPr>
        <p:txBody>
          <a:bodyPr wrap="none" lIns="0" tIns="0" rIns="0" bIns="0" rtlCol="0" anchor="t">
            <a:normAutofit/>
          </a:bodyPr>
          <a:lstStyle/>
          <a:p>
            <a:pPr marL="0" indent="0" algn="l">
              <a:lnSpc>
                <a:spcPct val="100000"/>
              </a:lnSpc>
              <a:buNone/>
            </a:pPr>
            <a:r>
              <a:rPr lang="en" altLang="en-US" sz="900" b="1" kern="0" spc="90" dirty="0">
                <a:solidFill>
                  <a:srgbClr val="0052FF"/>
                </a:solidFill>
                <a:latin typeface="Inter" pitchFamily="34" charset="0"/>
                <a:ea typeface="Inter" pitchFamily="34" charset="-122"/>
                <a:cs typeface="Inter" pitchFamily="34" charset="-120"/>
              </a:rPr>
              <a:t>CORE MANDATE</a:t>
            </a:r>
            <a:endParaRPr lang="en" sz="900" dirty="0"/>
          </a:p>
        </p:txBody>
      </p:sp>
      <p:sp>
        <p:nvSpPr>
          <p:cNvPr id="56" name="TextBox 36">
            <a:extLst>
              <a:ext uri="{FF2B5EF4-FFF2-40B4-BE49-F238E27FC236}">
                <a16:creationId xmlns:a16="http://schemas.microsoft.com/office/drawing/2014/main" id="{01FE97F4-18BD-4FA0-9DD8-500D63090F58}"/>
              </a:ext>
            </a:extLst>
          </p:cNvPr>
          <p:cNvSpPr/>
          <p:nvPr/>
        </p:nvSpPr>
        <p:spPr>
          <a:xfrm>
            <a:off x="-5180366" y="1558336"/>
            <a:ext cx="3773023" cy="620088"/>
          </a:xfrm>
          <a:prstGeom prst="rect">
            <a:avLst/>
          </a:prstGeom>
          <a:noFill/>
          <a:ln/>
        </p:spPr>
        <p:txBody>
          <a:bodyPr wrap="none" lIns="0" tIns="0" rIns="0" bIns="0" rtlCol="0" anchor="t"/>
          <a:lstStyle/>
          <a:p>
            <a:pPr marL="0" indent="0" algn="l">
              <a:lnSpc>
                <a:spcPts val="2100"/>
              </a:lnSpc>
              <a:buNone/>
            </a:pPr>
            <a:r>
              <a:rPr lang="en" altLang="en-US" sz="1400" i="1" dirty="0">
                <a:solidFill>
                  <a:srgbClr val="1E293B"/>
                </a:solidFill>
                <a:latin typeface="Inter" pitchFamily="34" charset="0"/>
                <a:ea typeface="Inter" pitchFamily="34" charset="-122"/>
                <a:cs typeface="Inter" pitchFamily="34" charset="-120"/>
              </a:rPr>
              <a:t>"Structured data relationships ensuring integrity</a:t>
            </a:r>
          </a:p>
          <a:p>
            <a:pPr marL="0" indent="0" algn="l">
              <a:lnSpc>
                <a:spcPts val="2100"/>
              </a:lnSpc>
              <a:buNone/>
            </a:pPr>
            <a:r>
              <a:rPr lang="en" altLang="en-US" sz="1400" i="1" dirty="0">
                <a:solidFill>
                  <a:srgbClr val="1E293B"/>
                </a:solidFill>
                <a:latin typeface="Inter" pitchFamily="34" charset="0"/>
                <a:ea typeface="Inter" pitchFamily="34" charset="-122"/>
                <a:cs typeface="Inter" pitchFamily="34" charset="-120"/>
              </a:rPr>
              <a:t>between users, institutions, and credentials."</a:t>
            </a:r>
            <a:endParaRPr lang="en"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TextBox 19"/>
          <p:cNvSpPr/>
          <p:nvPr/>
        </p:nvSpPr>
        <p:spPr>
          <a:xfrm>
            <a:off x="361757" y="626004"/>
            <a:ext cx="11049000" cy="428625"/>
          </a:xfrm>
          <a:prstGeom prst="rect">
            <a:avLst/>
          </a:prstGeom>
          <a:noFill/>
          <a:ln/>
        </p:spPr>
        <p:txBody>
          <a:bodyPr wrap="none" lIns="0" tIns="0" rIns="0" bIns="0" rtlCol="0" anchor="t">
            <a:noAutofit/>
          </a:bodyPr>
          <a:lstStyle/>
          <a:p>
            <a:pPr marL="0" indent="0" algn="l">
              <a:lnSpc>
                <a:spcPct val="100000"/>
              </a:lnSpc>
              <a:buNone/>
            </a:pPr>
            <a:r>
              <a:rPr lang="en" altLang="en-US" sz="3200" dirty="0">
                <a:solidFill>
                  <a:srgbClr val="0F172A"/>
                </a:solidFill>
                <a:effectLst>
                  <a:outerShdw blurRad="38100" dist="38100" dir="2700000" algn="tl">
                    <a:srgbClr val="000000">
                      <a:alpha val="43137"/>
                    </a:srgbClr>
                  </a:outerShdw>
                </a:effectLst>
                <a:latin typeface="+mj-lt"/>
              </a:rPr>
              <a:t>Entity</a:t>
            </a:r>
            <a:r>
              <a:rPr lang="en" altLang="en-US" sz="3200" b="1" dirty="0">
                <a:solidFill>
                  <a:srgbClr val="0F172A"/>
                </a:solidFill>
                <a:effectLst>
                  <a:outerShdw blurRad="38100" dist="38100" dir="2700000" algn="tl">
                    <a:srgbClr val="000000">
                      <a:alpha val="43137"/>
                    </a:srgbClr>
                  </a:outerShdw>
                </a:effectLst>
                <a:latin typeface="+mj-lt"/>
                <a:ea typeface="Inter" pitchFamily="34" charset="-122"/>
                <a:cs typeface="Inter" pitchFamily="34" charset="-120"/>
              </a:rPr>
              <a:t> Relationship Diagram (ERD)</a:t>
            </a:r>
            <a:endParaRPr lang="en" sz="3200" dirty="0">
              <a:effectLst>
                <a:outerShdw blurRad="38100" dist="38100" dir="2700000" algn="tl">
                  <a:srgbClr val="000000">
                    <a:alpha val="43137"/>
                  </a:srgbClr>
                </a:outerShdw>
              </a:effectLst>
              <a:latin typeface="+mj-lt"/>
            </a:endParaRPr>
          </a:p>
        </p:txBody>
      </p:sp>
      <p:pic>
        <p:nvPicPr>
          <p:cNvPr id="20" name="Picture 19">
            <a:extLst>
              <a:ext uri="{FF2B5EF4-FFF2-40B4-BE49-F238E27FC236}">
                <a16:creationId xmlns:a16="http://schemas.microsoft.com/office/drawing/2014/main" id="{052EE304-D84A-40C2-B525-3263B7066D1E}"/>
              </a:ext>
            </a:extLst>
          </p:cNvPr>
          <p:cNvPicPr>
            <a:picLocks noChangeAspect="1"/>
          </p:cNvPicPr>
          <p:nvPr/>
        </p:nvPicPr>
        <p:blipFill rotWithShape="1">
          <a:blip r:embed="rId3"/>
          <a:srcRect l="2412" t="3443" r="2856" b="6412"/>
          <a:stretch/>
        </p:blipFill>
        <p:spPr>
          <a:xfrm>
            <a:off x="1604805" y="1743792"/>
            <a:ext cx="8420502" cy="4967818"/>
          </a:xfrm>
          <a:prstGeom prst="rect">
            <a:avLst/>
          </a:prstGeom>
        </p:spPr>
      </p:pic>
      <p:pic>
        <p:nvPicPr>
          <p:cNvPr id="24" name="Picture 23">
            <a:extLst>
              <a:ext uri="{FF2B5EF4-FFF2-40B4-BE49-F238E27FC236}">
                <a16:creationId xmlns:a16="http://schemas.microsoft.com/office/drawing/2014/main" id="{9B40D34B-DEB8-4B03-AC95-713D5EA15334}"/>
              </a:ext>
            </a:extLst>
          </p:cNvPr>
          <p:cNvPicPr>
            <a:picLocks noChangeAspect="1"/>
          </p:cNvPicPr>
          <p:nvPr/>
        </p:nvPicPr>
        <p:blipFill>
          <a:blip r:embed="rId4"/>
          <a:stretch>
            <a:fillRect/>
          </a:stretch>
        </p:blipFill>
        <p:spPr>
          <a:xfrm>
            <a:off x="361756" y="1137649"/>
            <a:ext cx="10902445" cy="430767"/>
          </a:xfrm>
          <a:prstGeom prst="rect">
            <a:avLst/>
          </a:prstGeom>
        </p:spPr>
      </p:pic>
      <p:sp>
        <p:nvSpPr>
          <p:cNvPr id="22" name="TextBox 24">
            <a:extLst>
              <a:ext uri="{FF2B5EF4-FFF2-40B4-BE49-F238E27FC236}">
                <a16:creationId xmlns:a16="http://schemas.microsoft.com/office/drawing/2014/main" id="{E8FA09E7-B76D-436C-AA70-1AF9F3CD1271}"/>
              </a:ext>
            </a:extLst>
          </p:cNvPr>
          <p:cNvSpPr/>
          <p:nvPr/>
        </p:nvSpPr>
        <p:spPr>
          <a:xfrm>
            <a:off x="361757" y="354814"/>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6" name="TextBox 36"/>
          <p:cNvSpPr/>
          <p:nvPr/>
        </p:nvSpPr>
        <p:spPr>
          <a:xfrm>
            <a:off x="572734" y="1210922"/>
            <a:ext cx="10560840" cy="334972"/>
          </a:xfrm>
          <a:prstGeom prst="rect">
            <a:avLst/>
          </a:prstGeom>
          <a:noFill/>
          <a:ln/>
        </p:spPr>
        <p:txBody>
          <a:bodyPr wrap="none" lIns="0" tIns="0" rIns="0" bIns="0" rtlCol="0" anchor="t"/>
          <a:lstStyle/>
          <a:p>
            <a:pPr marL="0" indent="0" algn="l">
              <a:lnSpc>
                <a:spcPts val="2100"/>
              </a:lnSpc>
              <a:buNone/>
            </a:pPr>
            <a:r>
              <a:rPr lang="en" altLang="en-US" sz="1400" i="1" dirty="0">
                <a:solidFill>
                  <a:srgbClr val="1E293B"/>
                </a:solidFill>
                <a:latin typeface="Inter" pitchFamily="34" charset="0"/>
                <a:ea typeface="Inter" pitchFamily="34" charset="-122"/>
                <a:cs typeface="Inter" pitchFamily="34" charset="-120"/>
              </a:rPr>
              <a:t>"Structured data relationships ensuring integrity between users, institutions, and credentials."</a:t>
            </a:r>
            <a:endParaRPr lang="en" sz="1400" dirty="0"/>
          </a:p>
        </p:txBody>
      </p:sp>
      <p:pic>
        <p:nvPicPr>
          <p:cNvPr id="21" name="Picture 20">
            <a:extLst>
              <a:ext uri="{FF2B5EF4-FFF2-40B4-BE49-F238E27FC236}">
                <a16:creationId xmlns:a16="http://schemas.microsoft.com/office/drawing/2014/main" id="{928ABAAF-96A1-434A-B6C3-4E038063468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129505" y="7284813"/>
            <a:ext cx="6578586" cy="5590877"/>
          </a:xfrm>
          <a:prstGeom prst="rect">
            <a:avLst/>
          </a:prstGeom>
        </p:spPr>
      </p:pic>
      <p:grpSp>
        <p:nvGrpSpPr>
          <p:cNvPr id="23" name="Group 22">
            <a:extLst>
              <a:ext uri="{FF2B5EF4-FFF2-40B4-BE49-F238E27FC236}">
                <a16:creationId xmlns:a16="http://schemas.microsoft.com/office/drawing/2014/main" id="{DFFE44C6-FED5-4D6C-ABED-68EC179FE5FD}"/>
              </a:ext>
            </a:extLst>
          </p:cNvPr>
          <p:cNvGrpSpPr/>
          <p:nvPr/>
        </p:nvGrpSpPr>
        <p:grpSpPr>
          <a:xfrm>
            <a:off x="-5603203" y="2104042"/>
            <a:ext cx="4983587" cy="3652351"/>
            <a:chOff x="552495" y="3403371"/>
            <a:chExt cx="4333234" cy="1752380"/>
          </a:xfrm>
        </p:grpSpPr>
        <p:sp>
          <p:nvSpPr>
            <p:cNvPr id="25" name="TextBox 47">
              <a:extLst>
                <a:ext uri="{FF2B5EF4-FFF2-40B4-BE49-F238E27FC236}">
                  <a16:creationId xmlns:a16="http://schemas.microsoft.com/office/drawing/2014/main" id="{E95AE04F-EB8B-445F-9A1F-7FC8BBBA4D77}"/>
                </a:ext>
              </a:extLst>
            </p:cNvPr>
            <p:cNvSpPr/>
            <p:nvPr/>
          </p:nvSpPr>
          <p:spPr>
            <a:xfrm>
              <a:off x="571500" y="3403371"/>
              <a:ext cx="4242391" cy="400050"/>
            </a:xfrm>
            <a:prstGeom prst="rect">
              <a:avLst/>
            </a:prstGeom>
            <a:noFill/>
            <a:ln/>
          </p:spPr>
          <p:txBody>
            <a:bodyPr wrap="none" lIns="0" tIns="0" rIns="0" bIns="0" rtlCol="0" anchor="t"/>
            <a:lstStyle/>
            <a:p>
              <a:pPr marL="0" indent="0" algn="l">
                <a:spcAft>
                  <a:spcPts val="600"/>
                </a:spcAft>
                <a:buNone/>
              </a:pPr>
              <a:r>
                <a:rPr lang="en-US" altLang="en-US" sz="1400" dirty="0">
                  <a:solidFill>
                    <a:schemeClr val="tx1">
                      <a:lumMod val="95000"/>
                      <a:lumOff val="5000"/>
                    </a:schemeClr>
                  </a:solidFill>
                  <a:latin typeface="Inter" pitchFamily="34" charset="0"/>
                  <a:ea typeface="Inter" pitchFamily="34" charset="-122"/>
                  <a:cs typeface="Inter" pitchFamily="34" charset="-120"/>
                </a:rPr>
                <a:t>Defines the global system boundary and data exchanges between</a:t>
              </a:r>
            </a:p>
            <a:p>
              <a:pPr marL="0" indent="0" algn="l">
                <a:spcAft>
                  <a:spcPts val="600"/>
                </a:spcAft>
                <a:buNone/>
              </a:pPr>
              <a:r>
                <a:rPr lang="en-US" altLang="en-US" sz="1400" dirty="0">
                  <a:solidFill>
                    <a:schemeClr val="tx1">
                      <a:lumMod val="95000"/>
                      <a:lumOff val="5000"/>
                    </a:schemeClr>
                  </a:solidFill>
                  <a:latin typeface="Inter" pitchFamily="34" charset="0"/>
                  <a:ea typeface="Inter" pitchFamily="34" charset="-122"/>
                  <a:cs typeface="Inter" pitchFamily="34" charset="-120"/>
                </a:rPr>
                <a:t>external actors and the central portal.</a:t>
              </a:r>
              <a:endParaRPr lang="en" sz="1400" dirty="0">
                <a:solidFill>
                  <a:schemeClr val="tx1">
                    <a:lumMod val="95000"/>
                    <a:lumOff val="5000"/>
                  </a:schemeClr>
                </a:solidFill>
              </a:endParaRPr>
            </a:p>
          </p:txBody>
        </p:sp>
        <p:sp>
          <p:nvSpPr>
            <p:cNvPr id="26" name="TextBox 58">
              <a:extLst>
                <a:ext uri="{FF2B5EF4-FFF2-40B4-BE49-F238E27FC236}">
                  <a16:creationId xmlns:a16="http://schemas.microsoft.com/office/drawing/2014/main" id="{D0CCF51F-B133-40FB-B0D6-6562881E7039}"/>
                </a:ext>
              </a:extLst>
            </p:cNvPr>
            <p:cNvSpPr/>
            <p:nvPr/>
          </p:nvSpPr>
          <p:spPr>
            <a:xfrm>
              <a:off x="624185" y="3882643"/>
              <a:ext cx="3553420" cy="163085"/>
            </a:xfrm>
            <a:prstGeom prst="rect">
              <a:avLst/>
            </a:prstGeom>
            <a:noFill/>
            <a:ln/>
          </p:spPr>
          <p:txBody>
            <a:bodyPr wrap="none" lIns="0" tIns="0" rIns="0" bIns="0" rtlCol="0" anchor="t">
              <a:normAutofit/>
            </a:bodyPr>
            <a:lstStyle/>
            <a:p>
              <a:pPr marL="0" indent="0" algn="l">
                <a:lnSpc>
                  <a:spcPct val="100000"/>
                </a:lnSpc>
                <a:buNone/>
              </a:pPr>
              <a:r>
                <a:rPr lang="en-IN" altLang="en-US" sz="1400" b="1" spc="100" dirty="0">
                  <a:solidFill>
                    <a:srgbClr val="1E293B"/>
                  </a:solidFill>
                  <a:latin typeface="JetBrains Mono" pitchFamily="34" charset="0"/>
                  <a:ea typeface="JetBrains Mono" pitchFamily="34" charset="-122"/>
                  <a:cs typeface="JetBrains Mono" pitchFamily="34" charset="-120"/>
                </a:rPr>
                <a:t>Admin</a:t>
              </a:r>
              <a:endParaRPr lang="en" sz="1400" spc="100" dirty="0"/>
            </a:p>
          </p:txBody>
        </p:sp>
        <p:sp>
          <p:nvSpPr>
            <p:cNvPr id="27" name="TextBox 60">
              <a:extLst>
                <a:ext uri="{FF2B5EF4-FFF2-40B4-BE49-F238E27FC236}">
                  <a16:creationId xmlns:a16="http://schemas.microsoft.com/office/drawing/2014/main" id="{2BF771F2-867F-4F29-B016-1C95F79A7F20}"/>
                </a:ext>
              </a:extLst>
            </p:cNvPr>
            <p:cNvSpPr/>
            <p:nvPr/>
          </p:nvSpPr>
          <p:spPr>
            <a:xfrm>
              <a:off x="708663" y="4042188"/>
              <a:ext cx="4177066" cy="343480"/>
            </a:xfrm>
            <a:prstGeom prst="rect">
              <a:avLst/>
            </a:prstGeom>
            <a:noFill/>
            <a:ln/>
          </p:spPr>
          <p:txBody>
            <a:bodyPr wrap="none" lIns="0" tIns="0" rIns="0" bIns="0" rtlCol="0" anchor="t"/>
            <a:lstStyle/>
            <a:p>
              <a:pPr marL="0" indent="0" algn="l">
                <a:lnSpc>
                  <a:spcPts val="1706"/>
                </a:lnSpc>
                <a:buNone/>
              </a:pPr>
              <a:r>
                <a:rPr lang="en-US" sz="1200" b="0" i="0" dirty="0">
                  <a:solidFill>
                    <a:srgbClr val="303030"/>
                  </a:solidFill>
                  <a:effectLst/>
                  <a:latin typeface="Google Sans Text"/>
                </a:rPr>
                <a:t>Course/batch configuration, exam scheduling, score uploads and </a:t>
              </a:r>
            </a:p>
            <a:p>
              <a:pPr marL="0" indent="0" algn="l">
                <a:lnSpc>
                  <a:spcPts val="1706"/>
                </a:lnSpc>
                <a:buNone/>
              </a:pPr>
              <a:r>
                <a:rPr lang="en-US" sz="1200" b="0" i="0" dirty="0">
                  <a:solidFill>
                    <a:srgbClr val="303030"/>
                  </a:solidFill>
                  <a:effectLst/>
                  <a:latin typeface="Google Sans Text"/>
                </a:rPr>
                <a:t>Web3 mint approvals.</a:t>
              </a:r>
              <a:endParaRPr lang="en" sz="1200" dirty="0"/>
            </a:p>
          </p:txBody>
        </p:sp>
        <p:sp>
          <p:nvSpPr>
            <p:cNvPr id="28" name="TextBox 70">
              <a:extLst>
                <a:ext uri="{FF2B5EF4-FFF2-40B4-BE49-F238E27FC236}">
                  <a16:creationId xmlns:a16="http://schemas.microsoft.com/office/drawing/2014/main" id="{8FEB9A2D-4A4F-40E1-9593-2223AADFD02C}"/>
                </a:ext>
              </a:extLst>
            </p:cNvPr>
            <p:cNvSpPr/>
            <p:nvPr/>
          </p:nvSpPr>
          <p:spPr>
            <a:xfrm>
              <a:off x="571500" y="4348798"/>
              <a:ext cx="3377505" cy="200025"/>
            </a:xfrm>
            <a:prstGeom prst="rect">
              <a:avLst/>
            </a:prstGeom>
            <a:noFill/>
            <a:ln/>
          </p:spPr>
          <p:txBody>
            <a:bodyPr wrap="none" lIns="0" tIns="0" rIns="0" bIns="0" rtlCol="0" anchor="t">
              <a:normAutofit/>
            </a:bodyPr>
            <a:lstStyle/>
            <a:p>
              <a:pPr marL="0" indent="0" algn="l">
                <a:lnSpc>
                  <a:spcPct val="100000"/>
                </a:lnSpc>
                <a:buNone/>
              </a:pPr>
              <a:r>
                <a:rPr lang="en-IN" altLang="en-US" sz="1400" b="1" spc="100" dirty="0">
                  <a:solidFill>
                    <a:srgbClr val="1E293B"/>
                  </a:solidFill>
                  <a:latin typeface="JetBrains Mono" pitchFamily="34" charset="0"/>
                  <a:ea typeface="JetBrains Mono" pitchFamily="34" charset="-122"/>
                  <a:cs typeface="JetBrains Mono" pitchFamily="34" charset="-120"/>
                </a:rPr>
                <a:t>Student / Candidate:</a:t>
              </a:r>
              <a:endParaRPr lang="en" sz="1400" spc="100" dirty="0"/>
            </a:p>
          </p:txBody>
        </p:sp>
        <p:sp>
          <p:nvSpPr>
            <p:cNvPr id="29" name="TextBox 72">
              <a:extLst>
                <a:ext uri="{FF2B5EF4-FFF2-40B4-BE49-F238E27FC236}">
                  <a16:creationId xmlns:a16="http://schemas.microsoft.com/office/drawing/2014/main" id="{F2BD41B7-8519-42C8-81F2-5ACE9C2A4609}"/>
                </a:ext>
              </a:extLst>
            </p:cNvPr>
            <p:cNvSpPr/>
            <p:nvPr/>
          </p:nvSpPr>
          <p:spPr>
            <a:xfrm>
              <a:off x="711261" y="4516087"/>
              <a:ext cx="3823165" cy="216694"/>
            </a:xfrm>
            <a:prstGeom prst="rect">
              <a:avLst/>
            </a:prstGeom>
            <a:noFill/>
            <a:ln/>
          </p:spPr>
          <p:txBody>
            <a:bodyPr wrap="none" lIns="0" tIns="0" rIns="0" bIns="0" rtlCol="0" anchor="t"/>
            <a:lstStyle/>
            <a:p>
              <a:pPr>
                <a:lnSpc>
                  <a:spcPts val="1706"/>
                </a:lnSpc>
              </a:pPr>
              <a:r>
                <a:rPr lang="en-US" altLang="en-US" sz="1200" dirty="0">
                  <a:solidFill>
                    <a:srgbClr val="303030"/>
                  </a:solidFill>
                  <a:latin typeface="Google Sans Text"/>
                </a:rPr>
                <a:t>Identity registration, dashboard queries, and digital ID card requests.</a:t>
              </a:r>
              <a:endParaRPr lang="en" sz="1200" dirty="0">
                <a:solidFill>
                  <a:srgbClr val="303030"/>
                </a:solidFill>
                <a:latin typeface="Google Sans Text"/>
              </a:endParaRPr>
            </a:p>
          </p:txBody>
        </p:sp>
        <p:sp>
          <p:nvSpPr>
            <p:cNvPr id="30" name="TextBox 82">
              <a:extLst>
                <a:ext uri="{FF2B5EF4-FFF2-40B4-BE49-F238E27FC236}">
                  <a16:creationId xmlns:a16="http://schemas.microsoft.com/office/drawing/2014/main" id="{12536D23-E80B-4762-9A01-ED1C8DDA368D}"/>
                </a:ext>
              </a:extLst>
            </p:cNvPr>
            <p:cNvSpPr/>
            <p:nvPr/>
          </p:nvSpPr>
          <p:spPr>
            <a:xfrm>
              <a:off x="552495" y="4732781"/>
              <a:ext cx="4140696" cy="200025"/>
            </a:xfrm>
            <a:prstGeom prst="rect">
              <a:avLst/>
            </a:prstGeom>
            <a:noFill/>
            <a:ln/>
          </p:spPr>
          <p:txBody>
            <a:bodyPr wrap="none" lIns="0" tIns="0" rIns="0" bIns="0" rtlCol="0" anchor="t">
              <a:normAutofit/>
            </a:bodyPr>
            <a:lstStyle/>
            <a:p>
              <a:r>
                <a:rPr lang="en-IN" altLang="en-US" sz="1400" b="1" spc="100" dirty="0">
                  <a:solidFill>
                    <a:srgbClr val="1E293B"/>
                  </a:solidFill>
                  <a:latin typeface="JetBrains Mono" pitchFamily="34" charset="0"/>
                  <a:ea typeface="JetBrains Mono" pitchFamily="34" charset="-122"/>
                </a:rPr>
                <a:t>Third-Party Verifier:</a:t>
              </a:r>
              <a:endParaRPr lang="en" sz="1400" b="1" spc="100" dirty="0">
                <a:solidFill>
                  <a:srgbClr val="1E293B"/>
                </a:solidFill>
                <a:latin typeface="JetBrains Mono" pitchFamily="34" charset="0"/>
                <a:ea typeface="JetBrains Mono" pitchFamily="34" charset="-122"/>
              </a:endParaRPr>
            </a:p>
          </p:txBody>
        </p:sp>
        <p:sp>
          <p:nvSpPr>
            <p:cNvPr id="31" name="TextBox 84">
              <a:extLst>
                <a:ext uri="{FF2B5EF4-FFF2-40B4-BE49-F238E27FC236}">
                  <a16:creationId xmlns:a16="http://schemas.microsoft.com/office/drawing/2014/main" id="{34EAC3F1-11DB-48CF-9764-CD6D8E3C719A}"/>
                </a:ext>
              </a:extLst>
            </p:cNvPr>
            <p:cNvSpPr/>
            <p:nvPr/>
          </p:nvSpPr>
          <p:spPr>
            <a:xfrm>
              <a:off x="719905" y="4916739"/>
              <a:ext cx="4140696" cy="239012"/>
            </a:xfrm>
            <a:prstGeom prst="rect">
              <a:avLst/>
            </a:prstGeom>
            <a:noFill/>
            <a:ln/>
          </p:spPr>
          <p:txBody>
            <a:bodyPr wrap="none" lIns="0" tIns="0" rIns="0" bIns="0" rtlCol="0" anchor="t"/>
            <a:lstStyle/>
            <a:p>
              <a:pPr>
                <a:lnSpc>
                  <a:spcPts val="1706"/>
                </a:lnSpc>
              </a:pPr>
              <a:r>
                <a:rPr lang="en-US" altLang="en-US" sz="1200" dirty="0">
                  <a:solidFill>
                    <a:srgbClr val="303030"/>
                  </a:solidFill>
                  <a:latin typeface="Google Sans Text"/>
                </a:rPr>
                <a:t>Real-time record authentication using unique IDs or QR codes.</a:t>
              </a:r>
              <a:endParaRPr lang="en" sz="1200" dirty="0">
                <a:solidFill>
                  <a:srgbClr val="303030"/>
                </a:solidFill>
                <a:latin typeface="Google Sans Text"/>
              </a:endParaRPr>
            </a:p>
          </p:txBody>
        </p:sp>
      </p:grpSp>
      <p:sp>
        <p:nvSpPr>
          <p:cNvPr id="40" name="Oval 39">
            <a:extLst>
              <a:ext uri="{FF2B5EF4-FFF2-40B4-BE49-F238E27FC236}">
                <a16:creationId xmlns:a16="http://schemas.microsoft.com/office/drawing/2014/main" id="{1DB646CF-DA63-4CA5-8E42-2376B66C6075}"/>
              </a:ext>
            </a:extLst>
          </p:cNvPr>
          <p:cNvSpPr/>
          <p:nvPr/>
        </p:nvSpPr>
        <p:spPr>
          <a:xfrm>
            <a:off x="-1188664" y="2669679"/>
            <a:ext cx="471009" cy="498124"/>
          </a:xfrm>
          <a:prstGeom prst="ellipse">
            <a:avLst/>
          </a:prstGeom>
          <a:solidFill>
            <a:schemeClr val="accent6">
              <a:lumMod val="7500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41" name="TextBox 58">
            <a:extLst>
              <a:ext uri="{FF2B5EF4-FFF2-40B4-BE49-F238E27FC236}">
                <a16:creationId xmlns:a16="http://schemas.microsoft.com/office/drawing/2014/main" id="{34615D28-A791-4F44-8A44-2AB99A61D691}"/>
              </a:ext>
            </a:extLst>
          </p:cNvPr>
          <p:cNvSpPr/>
          <p:nvPr/>
        </p:nvSpPr>
        <p:spPr>
          <a:xfrm>
            <a:off x="-1214830" y="2775184"/>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01</a:t>
            </a:r>
            <a:endParaRPr lang="en" sz="1350" dirty="0">
              <a:solidFill>
                <a:schemeClr val="bg1">
                  <a:lumMod val="95000"/>
                </a:schemeClr>
              </a:solidFill>
            </a:endParaRPr>
          </a:p>
        </p:txBody>
      </p:sp>
      <p:sp>
        <p:nvSpPr>
          <p:cNvPr id="42" name="Oval 41">
            <a:extLst>
              <a:ext uri="{FF2B5EF4-FFF2-40B4-BE49-F238E27FC236}">
                <a16:creationId xmlns:a16="http://schemas.microsoft.com/office/drawing/2014/main" id="{131A6C59-1241-47AC-B112-53DF78E0AC7D}"/>
              </a:ext>
            </a:extLst>
          </p:cNvPr>
          <p:cNvSpPr/>
          <p:nvPr/>
        </p:nvSpPr>
        <p:spPr>
          <a:xfrm>
            <a:off x="2776220" y="7447605"/>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43" name="TextBox 72">
            <a:extLst>
              <a:ext uri="{FF2B5EF4-FFF2-40B4-BE49-F238E27FC236}">
                <a16:creationId xmlns:a16="http://schemas.microsoft.com/office/drawing/2014/main" id="{BFA1C590-5644-41FC-AD60-6688B6511DB4}"/>
              </a:ext>
            </a:extLst>
          </p:cNvPr>
          <p:cNvSpPr/>
          <p:nvPr/>
        </p:nvSpPr>
        <p:spPr>
          <a:xfrm>
            <a:off x="2776220" y="7553759"/>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02</a:t>
            </a:r>
            <a:endParaRPr lang="en" sz="1350" b="1" spc="50" dirty="0">
              <a:ln w="0"/>
              <a:solidFill>
                <a:schemeClr val="bg2"/>
              </a:solidFill>
              <a:effectLst>
                <a:innerShdw blurRad="63500" dist="50800" dir="13500000">
                  <a:srgbClr val="000000">
                    <a:alpha val="50000"/>
                  </a:srgbClr>
                </a:innerShdw>
              </a:effectLst>
            </a:endParaRPr>
          </a:p>
        </p:txBody>
      </p:sp>
      <p:sp>
        <p:nvSpPr>
          <p:cNvPr id="44" name="Oval 43">
            <a:extLst>
              <a:ext uri="{FF2B5EF4-FFF2-40B4-BE49-F238E27FC236}">
                <a16:creationId xmlns:a16="http://schemas.microsoft.com/office/drawing/2014/main" id="{1363E2D7-5A15-41DC-8E18-8950981200F1}"/>
              </a:ext>
            </a:extLst>
          </p:cNvPr>
          <p:cNvSpPr/>
          <p:nvPr/>
        </p:nvSpPr>
        <p:spPr>
          <a:xfrm>
            <a:off x="5126002" y="-751233"/>
            <a:ext cx="471009" cy="498124"/>
          </a:xfrm>
          <a:prstGeom prst="ellipse">
            <a:avLst/>
          </a:prstGeom>
          <a:solidFill>
            <a:srgbClr val="C00000"/>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45" name="TextBox 86">
            <a:extLst>
              <a:ext uri="{FF2B5EF4-FFF2-40B4-BE49-F238E27FC236}">
                <a16:creationId xmlns:a16="http://schemas.microsoft.com/office/drawing/2014/main" id="{313F7189-CA7E-43AB-AF57-006F16AE6B5E}"/>
              </a:ext>
            </a:extLst>
          </p:cNvPr>
          <p:cNvSpPr/>
          <p:nvPr/>
        </p:nvSpPr>
        <p:spPr>
          <a:xfrm>
            <a:off x="5099835" y="-694157"/>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03</a:t>
            </a:r>
            <a:endParaRPr lang="en" sz="1350" b="1" spc="50" dirty="0">
              <a:ln w="0"/>
              <a:solidFill>
                <a:schemeClr val="bg2"/>
              </a:solidFill>
              <a:effectLst>
                <a:innerShdw blurRad="63500" dist="50800" dir="13500000">
                  <a:srgbClr val="000000">
                    <a:alpha val="50000"/>
                  </a:srgbClr>
                </a:innerShdw>
              </a:effectLst>
            </a:endParaRPr>
          </a:p>
        </p:txBody>
      </p:sp>
      <p:sp>
        <p:nvSpPr>
          <p:cNvPr id="46" name="Oval 45">
            <a:extLst>
              <a:ext uri="{FF2B5EF4-FFF2-40B4-BE49-F238E27FC236}">
                <a16:creationId xmlns:a16="http://schemas.microsoft.com/office/drawing/2014/main" id="{2D7B746F-5780-49FC-A0CE-094490305B2A}"/>
              </a:ext>
            </a:extLst>
          </p:cNvPr>
          <p:cNvSpPr/>
          <p:nvPr/>
        </p:nvSpPr>
        <p:spPr>
          <a:xfrm>
            <a:off x="7394012" y="7089017"/>
            <a:ext cx="471009" cy="498124"/>
          </a:xfrm>
          <a:prstGeom prst="ellipse">
            <a:avLst/>
          </a:prstGeom>
          <a:solidFill>
            <a:srgbClr val="0033CC"/>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47" name="TextBox 100">
            <a:extLst>
              <a:ext uri="{FF2B5EF4-FFF2-40B4-BE49-F238E27FC236}">
                <a16:creationId xmlns:a16="http://schemas.microsoft.com/office/drawing/2014/main" id="{E16CD8FE-3DA2-451F-BCA3-CAD9C5420F38}"/>
              </a:ext>
            </a:extLst>
          </p:cNvPr>
          <p:cNvSpPr/>
          <p:nvPr/>
        </p:nvSpPr>
        <p:spPr>
          <a:xfrm>
            <a:off x="7423451" y="7195171"/>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04</a:t>
            </a:r>
            <a:endParaRPr lang="en" sz="1350" b="1" spc="50" dirty="0">
              <a:ln w="0"/>
              <a:solidFill>
                <a:schemeClr val="bg2"/>
              </a:solidFill>
              <a:effectLst>
                <a:innerShdw blurRad="63500" dist="50800" dir="13500000">
                  <a:srgbClr val="000000">
                    <a:alpha val="50000"/>
                  </a:srgbClr>
                </a:innerShdw>
              </a:effectLst>
            </a:endParaRPr>
          </a:p>
        </p:txBody>
      </p:sp>
      <p:sp>
        <p:nvSpPr>
          <p:cNvPr id="48" name="Oval 47">
            <a:extLst>
              <a:ext uri="{FF2B5EF4-FFF2-40B4-BE49-F238E27FC236}">
                <a16:creationId xmlns:a16="http://schemas.microsoft.com/office/drawing/2014/main" id="{C5C47DF7-F190-4F97-A3EF-F393D4655732}"/>
              </a:ext>
            </a:extLst>
          </p:cNvPr>
          <p:cNvSpPr/>
          <p:nvPr/>
        </p:nvSpPr>
        <p:spPr>
          <a:xfrm>
            <a:off x="12550474" y="2703624"/>
            <a:ext cx="471009" cy="498124"/>
          </a:xfrm>
          <a:prstGeom prst="ellipse">
            <a:avLst/>
          </a:prstGeom>
          <a:solidFill>
            <a:srgbClr val="00CCFF"/>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49" name="TextBox 114">
            <a:extLst>
              <a:ext uri="{FF2B5EF4-FFF2-40B4-BE49-F238E27FC236}">
                <a16:creationId xmlns:a16="http://schemas.microsoft.com/office/drawing/2014/main" id="{9C496271-4480-43B9-A073-C94D726E894F}"/>
              </a:ext>
            </a:extLst>
          </p:cNvPr>
          <p:cNvSpPr/>
          <p:nvPr/>
        </p:nvSpPr>
        <p:spPr>
          <a:xfrm>
            <a:off x="12579912" y="2775184"/>
            <a:ext cx="471009" cy="498124"/>
          </a:xfrm>
          <a:prstGeom prst="ellipse">
            <a:avLst/>
          </a:prstGeom>
          <a:noFill/>
          <a:ln/>
        </p:spPr>
        <p:txBody>
          <a:bodyPr wrap="none" lIns="0" tIns="0" rIns="0" bIns="0" rtlCol="0" anchor="t">
            <a:normAutofit/>
          </a:bodyPr>
          <a:lstStyle/>
          <a:p>
            <a:pPr marL="0" indent="0" algn="ctr">
              <a:lnSpc>
                <a:spcPct val="100000"/>
              </a:lnSpc>
              <a:buNone/>
            </a:pPr>
            <a:r>
              <a:rPr lang="en" altLang="en-US" sz="1350" dirty="0">
                <a:ln w="0"/>
                <a:effectLst>
                  <a:outerShdw blurRad="38100" dist="19050" dir="2700000" algn="tl" rotWithShape="0">
                    <a:schemeClr val="dk1">
                      <a:alpha val="40000"/>
                    </a:schemeClr>
                  </a:outerShdw>
                </a:effectLst>
                <a:latin typeface="DejaVu Sans Mono" pitchFamily="34" charset="0"/>
                <a:ea typeface="DejaVu Sans Mono" pitchFamily="34" charset="-122"/>
                <a:cs typeface="DejaVu Sans Mono" pitchFamily="34" charset="-120"/>
              </a:rPr>
              <a:t>05</a:t>
            </a:r>
            <a:endParaRPr lang="en" sz="1350" dirty="0">
              <a:ln w="0"/>
              <a:effectLst>
                <a:outerShdw blurRad="38100" dist="19050" dir="2700000" algn="tl" rotWithShape="0">
                  <a:schemeClr val="dk1">
                    <a:alpha val="40000"/>
                  </a:schemeClr>
                </a:outerShdw>
              </a:effectLst>
            </a:endParaRPr>
          </a:p>
        </p:txBody>
      </p:sp>
      <p:grpSp>
        <p:nvGrpSpPr>
          <p:cNvPr id="70" name="Group 69">
            <a:extLst>
              <a:ext uri="{FF2B5EF4-FFF2-40B4-BE49-F238E27FC236}">
                <a16:creationId xmlns:a16="http://schemas.microsoft.com/office/drawing/2014/main" id="{83491E8B-014D-4B77-AEC7-E5FF2E8477D7}"/>
              </a:ext>
            </a:extLst>
          </p:cNvPr>
          <p:cNvGrpSpPr/>
          <p:nvPr/>
        </p:nvGrpSpPr>
        <p:grpSpPr>
          <a:xfrm>
            <a:off x="-2301470" y="3437402"/>
            <a:ext cx="2017415" cy="1667465"/>
            <a:chOff x="441730" y="3437402"/>
            <a:chExt cx="2017415" cy="1667465"/>
          </a:xfrm>
        </p:grpSpPr>
        <p:pic>
          <p:nvPicPr>
            <p:cNvPr id="71" name="Picture 70">
              <a:extLst>
                <a:ext uri="{FF2B5EF4-FFF2-40B4-BE49-F238E27FC236}">
                  <a16:creationId xmlns:a16="http://schemas.microsoft.com/office/drawing/2014/main" id="{27030B8E-EF76-4744-86C6-E484A377B3B6}"/>
                </a:ext>
              </a:extLst>
            </p:cNvPr>
            <p:cNvPicPr>
              <a:picLocks noChangeAspect="1"/>
            </p:cNvPicPr>
            <p:nvPr/>
          </p:nvPicPr>
          <p:blipFill>
            <a:blip r:embed="rId6"/>
            <a:stretch>
              <a:fillRect/>
            </a:stretch>
          </p:blipFill>
          <p:spPr>
            <a:xfrm>
              <a:off x="441730" y="3437402"/>
              <a:ext cx="2017415" cy="1667465"/>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72" name="TextBox 62">
              <a:extLst>
                <a:ext uri="{FF2B5EF4-FFF2-40B4-BE49-F238E27FC236}">
                  <a16:creationId xmlns:a16="http://schemas.microsoft.com/office/drawing/2014/main" id="{517CF643-5948-4394-8637-9861527493C9}"/>
                </a:ext>
              </a:extLst>
            </p:cNvPr>
            <p:cNvSpPr/>
            <p:nvPr/>
          </p:nvSpPr>
          <p:spPr>
            <a:xfrm>
              <a:off x="658672" y="3657279"/>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Registration</a:t>
              </a:r>
              <a:endParaRPr lang="en" sz="1350" dirty="0"/>
            </a:p>
          </p:txBody>
        </p:sp>
        <p:sp>
          <p:nvSpPr>
            <p:cNvPr id="73" name="TextBox 64">
              <a:extLst>
                <a:ext uri="{FF2B5EF4-FFF2-40B4-BE49-F238E27FC236}">
                  <a16:creationId xmlns:a16="http://schemas.microsoft.com/office/drawing/2014/main" id="{A5D77B48-3443-4584-958C-1B3EF27FF7EC}"/>
                </a:ext>
              </a:extLst>
            </p:cNvPr>
            <p:cNvSpPr/>
            <p:nvPr/>
          </p:nvSpPr>
          <p:spPr>
            <a:xfrm>
              <a:off x="658672" y="4001685"/>
              <a:ext cx="1675977" cy="653788"/>
            </a:xfrm>
            <a:prstGeom prst="rect">
              <a:avLst/>
            </a:prstGeom>
            <a:noFill/>
            <a:ln/>
          </p:spPr>
          <p:txBody>
            <a:bodyPr wrap="none" lIns="0" tIns="0" rIns="0" bIns="0" rtlCol="0" anchor="t"/>
            <a:lstStyle/>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Institutions undergo a one-</a:t>
              </a:r>
              <a:endParaRPr lang="en" sz="1050" dirty="0"/>
            </a:p>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time verification to be</a:t>
              </a:r>
              <a:endParaRPr lang="en" sz="1050" dirty="0"/>
            </a:p>
            <a:p>
              <a:pPr marL="0" indent="0">
                <a:lnSpc>
                  <a:spcPts val="1575"/>
                </a:lnSpc>
                <a:buNone/>
              </a:pPr>
              <a:r>
                <a:rPr lang="en" altLang="en-US" sz="1050" dirty="0">
                  <a:solidFill>
                    <a:srgbClr val="64748B"/>
                  </a:solidFill>
                  <a:latin typeface="Arial" pitchFamily="34" charset="0"/>
                  <a:ea typeface="Arial" pitchFamily="34" charset="-122"/>
                  <a:cs typeface="Arial" pitchFamily="34" charset="-120"/>
                </a:rPr>
                <a:t>whitelisted on the platform.</a:t>
              </a:r>
              <a:endParaRPr lang="en" sz="1050" dirty="0"/>
            </a:p>
          </p:txBody>
        </p:sp>
      </p:grpSp>
      <p:grpSp>
        <p:nvGrpSpPr>
          <p:cNvPr id="74" name="Group 73">
            <a:extLst>
              <a:ext uri="{FF2B5EF4-FFF2-40B4-BE49-F238E27FC236}">
                <a16:creationId xmlns:a16="http://schemas.microsoft.com/office/drawing/2014/main" id="{B93977B4-D7F1-4A41-8FCF-F3E78A296AB8}"/>
              </a:ext>
            </a:extLst>
          </p:cNvPr>
          <p:cNvGrpSpPr/>
          <p:nvPr/>
        </p:nvGrpSpPr>
        <p:grpSpPr>
          <a:xfrm>
            <a:off x="2726129" y="-3051192"/>
            <a:ext cx="2017415" cy="1982036"/>
            <a:chOff x="2726129" y="3715478"/>
            <a:chExt cx="2017415" cy="1982036"/>
          </a:xfrm>
        </p:grpSpPr>
        <p:pic>
          <p:nvPicPr>
            <p:cNvPr id="75" name="Picture 74">
              <a:extLst>
                <a:ext uri="{FF2B5EF4-FFF2-40B4-BE49-F238E27FC236}">
                  <a16:creationId xmlns:a16="http://schemas.microsoft.com/office/drawing/2014/main" id="{AC7FE42D-C2D2-491C-9948-0664FE746D56}"/>
                </a:ext>
              </a:extLst>
            </p:cNvPr>
            <p:cNvPicPr>
              <a:picLocks noChangeAspect="1"/>
            </p:cNvPicPr>
            <p:nvPr/>
          </p:nvPicPr>
          <p:blipFill>
            <a:blip r:embed="rId6"/>
            <a:stretch>
              <a:fillRect/>
            </a:stretch>
          </p:blipFill>
          <p:spPr>
            <a:xfrm>
              <a:off x="2726129" y="3715478"/>
              <a:ext cx="2017415" cy="1982036"/>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76" name="TextBox 76">
              <a:extLst>
                <a:ext uri="{FF2B5EF4-FFF2-40B4-BE49-F238E27FC236}">
                  <a16:creationId xmlns:a16="http://schemas.microsoft.com/office/drawing/2014/main" id="{7B171793-DEFC-47E5-96F7-D30D2CB9307A}"/>
                </a:ext>
              </a:extLst>
            </p:cNvPr>
            <p:cNvSpPr/>
            <p:nvPr/>
          </p:nvSpPr>
          <p:spPr>
            <a:xfrm>
              <a:off x="2982287" y="3989361"/>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Issuance</a:t>
              </a:r>
              <a:endParaRPr lang="en" sz="1350" dirty="0"/>
            </a:p>
          </p:txBody>
        </p:sp>
        <p:sp>
          <p:nvSpPr>
            <p:cNvPr id="77" name="TextBox 78">
              <a:extLst>
                <a:ext uri="{FF2B5EF4-FFF2-40B4-BE49-F238E27FC236}">
                  <a16:creationId xmlns:a16="http://schemas.microsoft.com/office/drawing/2014/main" id="{23C6489C-3C3C-452F-98D9-B14F5DCED9B6}"/>
                </a:ext>
              </a:extLst>
            </p:cNvPr>
            <p:cNvSpPr/>
            <p:nvPr/>
          </p:nvSpPr>
          <p:spPr>
            <a:xfrm>
              <a:off x="2982288" y="4333767"/>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institution uploads</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student records;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system generates hashes</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and mints tokens.</a:t>
              </a:r>
              <a:endParaRPr lang="en" sz="1050" dirty="0"/>
            </a:p>
          </p:txBody>
        </p:sp>
      </p:grpSp>
      <p:grpSp>
        <p:nvGrpSpPr>
          <p:cNvPr id="78" name="Group 77">
            <a:extLst>
              <a:ext uri="{FF2B5EF4-FFF2-40B4-BE49-F238E27FC236}">
                <a16:creationId xmlns:a16="http://schemas.microsoft.com/office/drawing/2014/main" id="{FA203C50-7E91-4D35-A878-C7602FAC1A37}"/>
              </a:ext>
            </a:extLst>
          </p:cNvPr>
          <p:cNvGrpSpPr/>
          <p:nvPr/>
        </p:nvGrpSpPr>
        <p:grpSpPr>
          <a:xfrm>
            <a:off x="5060620" y="7443346"/>
            <a:ext cx="2017415" cy="1919561"/>
            <a:chOff x="5060620" y="3437401"/>
            <a:chExt cx="2017415" cy="1919561"/>
          </a:xfrm>
        </p:grpSpPr>
        <p:pic>
          <p:nvPicPr>
            <p:cNvPr id="79" name="Picture 78">
              <a:extLst>
                <a:ext uri="{FF2B5EF4-FFF2-40B4-BE49-F238E27FC236}">
                  <a16:creationId xmlns:a16="http://schemas.microsoft.com/office/drawing/2014/main" id="{BAE29B00-4E19-46AE-A7F6-7942FF68C168}"/>
                </a:ext>
              </a:extLst>
            </p:cNvPr>
            <p:cNvPicPr>
              <a:picLocks noChangeAspect="1"/>
            </p:cNvPicPr>
            <p:nvPr/>
          </p:nvPicPr>
          <p:blipFill>
            <a:blip r:embed="rId6"/>
            <a:stretch>
              <a:fillRect/>
            </a:stretch>
          </p:blipFill>
          <p:spPr>
            <a:xfrm>
              <a:off x="5060620" y="3437401"/>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80" name="TextBox 90">
              <a:extLst>
                <a:ext uri="{FF2B5EF4-FFF2-40B4-BE49-F238E27FC236}">
                  <a16:creationId xmlns:a16="http://schemas.microsoft.com/office/drawing/2014/main" id="{F2DC8D9C-874C-49B0-967C-6A74A7573771}"/>
                </a:ext>
              </a:extLst>
            </p:cNvPr>
            <p:cNvSpPr/>
            <p:nvPr/>
          </p:nvSpPr>
          <p:spPr>
            <a:xfrm>
              <a:off x="5305902" y="3657279"/>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Notification</a:t>
              </a:r>
              <a:endParaRPr lang="en" sz="1350" dirty="0"/>
            </a:p>
          </p:txBody>
        </p:sp>
        <p:sp>
          <p:nvSpPr>
            <p:cNvPr id="81" name="TextBox 92">
              <a:extLst>
                <a:ext uri="{FF2B5EF4-FFF2-40B4-BE49-F238E27FC236}">
                  <a16:creationId xmlns:a16="http://schemas.microsoft.com/office/drawing/2014/main" id="{90C9AAED-1894-4809-96A6-DE194FF12E4E}"/>
                </a:ext>
              </a:extLst>
            </p:cNvPr>
            <p:cNvSpPr/>
            <p:nvPr/>
          </p:nvSpPr>
          <p:spPr>
            <a:xfrm>
              <a:off x="5305902" y="4001684"/>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Students receive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notification that their digital</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credential is ready in their</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wallet.</a:t>
              </a:r>
              <a:endParaRPr lang="en" sz="1050" dirty="0"/>
            </a:p>
          </p:txBody>
        </p:sp>
      </p:grpSp>
      <p:grpSp>
        <p:nvGrpSpPr>
          <p:cNvPr id="82" name="Group 81">
            <a:extLst>
              <a:ext uri="{FF2B5EF4-FFF2-40B4-BE49-F238E27FC236}">
                <a16:creationId xmlns:a16="http://schemas.microsoft.com/office/drawing/2014/main" id="{DA13B997-2204-4588-9416-11773D434447}"/>
              </a:ext>
            </a:extLst>
          </p:cNvPr>
          <p:cNvGrpSpPr/>
          <p:nvPr/>
        </p:nvGrpSpPr>
        <p:grpSpPr>
          <a:xfrm>
            <a:off x="7394013" y="-3251464"/>
            <a:ext cx="2017415" cy="1919561"/>
            <a:chOff x="7394013" y="3787970"/>
            <a:chExt cx="2017415" cy="1919561"/>
          </a:xfrm>
        </p:grpSpPr>
        <p:pic>
          <p:nvPicPr>
            <p:cNvPr id="83" name="Picture 82">
              <a:extLst>
                <a:ext uri="{FF2B5EF4-FFF2-40B4-BE49-F238E27FC236}">
                  <a16:creationId xmlns:a16="http://schemas.microsoft.com/office/drawing/2014/main" id="{9A43FE73-D997-4E79-B017-A3BC11807C4A}"/>
                </a:ext>
              </a:extLst>
            </p:cNvPr>
            <p:cNvPicPr>
              <a:picLocks noChangeAspect="1"/>
            </p:cNvPicPr>
            <p:nvPr/>
          </p:nvPicPr>
          <p:blipFill>
            <a:blip r:embed="rId6"/>
            <a:stretch>
              <a:fillRect/>
            </a:stretch>
          </p:blipFill>
          <p:spPr>
            <a:xfrm>
              <a:off x="7394013" y="3787970"/>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84" name="TextBox 104">
              <a:extLst>
                <a:ext uri="{FF2B5EF4-FFF2-40B4-BE49-F238E27FC236}">
                  <a16:creationId xmlns:a16="http://schemas.microsoft.com/office/drawing/2014/main" id="{25F572CA-0E3A-4B8B-9D5D-E4C4639999E9}"/>
                </a:ext>
              </a:extLst>
            </p:cNvPr>
            <p:cNvSpPr/>
            <p:nvPr/>
          </p:nvSpPr>
          <p:spPr>
            <a:xfrm>
              <a:off x="7629518" y="3989360"/>
              <a:ext cx="1675977"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Sharing</a:t>
              </a:r>
              <a:endParaRPr lang="en" sz="1350" dirty="0"/>
            </a:p>
          </p:txBody>
        </p:sp>
        <p:sp>
          <p:nvSpPr>
            <p:cNvPr id="85" name="TextBox 106">
              <a:extLst>
                <a:ext uri="{FF2B5EF4-FFF2-40B4-BE49-F238E27FC236}">
                  <a16:creationId xmlns:a16="http://schemas.microsoft.com/office/drawing/2014/main" id="{BC62746E-FA0D-4F73-BA43-18EA4A8C28FF}"/>
                </a:ext>
              </a:extLst>
            </p:cNvPr>
            <p:cNvSpPr/>
            <p:nvPr/>
          </p:nvSpPr>
          <p:spPr>
            <a:xfrm>
              <a:off x="7629517" y="4333766"/>
              <a:ext cx="1675977"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student provides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public key or link to a</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potential employer for</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verification.</a:t>
              </a:r>
              <a:endParaRPr lang="en" sz="1050" dirty="0"/>
            </a:p>
          </p:txBody>
        </p:sp>
      </p:grpSp>
      <p:grpSp>
        <p:nvGrpSpPr>
          <p:cNvPr id="86" name="Group 85">
            <a:extLst>
              <a:ext uri="{FF2B5EF4-FFF2-40B4-BE49-F238E27FC236}">
                <a16:creationId xmlns:a16="http://schemas.microsoft.com/office/drawing/2014/main" id="{EE1DC9BC-1774-43CF-84E2-C6057A7485A7}"/>
              </a:ext>
            </a:extLst>
          </p:cNvPr>
          <p:cNvGrpSpPr/>
          <p:nvPr/>
        </p:nvGrpSpPr>
        <p:grpSpPr>
          <a:xfrm>
            <a:off x="13578429" y="3454480"/>
            <a:ext cx="2017415" cy="1919561"/>
            <a:chOff x="9717627" y="3454480"/>
            <a:chExt cx="2017415" cy="1919561"/>
          </a:xfrm>
        </p:grpSpPr>
        <p:pic>
          <p:nvPicPr>
            <p:cNvPr id="87" name="Picture 86">
              <a:extLst>
                <a:ext uri="{FF2B5EF4-FFF2-40B4-BE49-F238E27FC236}">
                  <a16:creationId xmlns:a16="http://schemas.microsoft.com/office/drawing/2014/main" id="{09B6BBA3-C6B4-4CA2-BDB9-C7E8EA720AA9}"/>
                </a:ext>
              </a:extLst>
            </p:cNvPr>
            <p:cNvPicPr>
              <a:picLocks noChangeAspect="1"/>
            </p:cNvPicPr>
            <p:nvPr/>
          </p:nvPicPr>
          <p:blipFill>
            <a:blip r:embed="rId6"/>
            <a:stretch>
              <a:fillRect/>
            </a:stretch>
          </p:blipFill>
          <p:spPr>
            <a:xfrm>
              <a:off x="9717627" y="3454480"/>
              <a:ext cx="2017415" cy="1919561"/>
            </a:xfrm>
            <a:prstGeom prst="roundRect">
              <a:avLst>
                <a:gd name="adj" fmla="val 8594"/>
              </a:avLst>
            </a:prstGeom>
            <a:solidFill>
              <a:srgbClr val="FFFFFF">
                <a:shade val="85000"/>
              </a:srgbClr>
            </a:solidFill>
            <a:ln>
              <a:noFill/>
            </a:ln>
            <a:effectLst>
              <a:outerShdw blurRad="50800" dist="38100" dir="8100000" algn="tr" rotWithShape="0">
                <a:prstClr val="black">
                  <a:alpha val="40000"/>
                </a:prstClr>
              </a:outerShdw>
              <a:reflection blurRad="12700" stA="83000" endPos="38000" dist="76200" dir="5400000" sy="-100000" algn="bl" rotWithShape="0"/>
            </a:effectLst>
            <a:scene3d>
              <a:camera prst="orthographicFront"/>
              <a:lightRig rig="threePt" dir="t"/>
            </a:scene3d>
            <a:sp3d>
              <a:bevelB prst="angle"/>
            </a:sp3d>
          </p:spPr>
        </p:pic>
        <p:sp>
          <p:nvSpPr>
            <p:cNvPr id="88" name="TextBox 118">
              <a:extLst>
                <a:ext uri="{FF2B5EF4-FFF2-40B4-BE49-F238E27FC236}">
                  <a16:creationId xmlns:a16="http://schemas.microsoft.com/office/drawing/2014/main" id="{9A35C091-98E4-42D7-AC79-EC7F3C13C75D}"/>
                </a:ext>
              </a:extLst>
            </p:cNvPr>
            <p:cNvSpPr/>
            <p:nvPr/>
          </p:nvSpPr>
          <p:spPr>
            <a:xfrm>
              <a:off x="9953131" y="3657278"/>
              <a:ext cx="1676130" cy="26138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F172A"/>
                  </a:solidFill>
                  <a:latin typeface="Arial" pitchFamily="34" charset="0"/>
                  <a:ea typeface="Arial" pitchFamily="34" charset="-122"/>
                  <a:cs typeface="Arial" pitchFamily="34" charset="-120"/>
                </a:rPr>
                <a:t>Verification</a:t>
              </a:r>
              <a:endParaRPr lang="en" sz="1350" dirty="0"/>
            </a:p>
          </p:txBody>
        </p:sp>
        <p:sp>
          <p:nvSpPr>
            <p:cNvPr id="89" name="TextBox 120">
              <a:extLst>
                <a:ext uri="{FF2B5EF4-FFF2-40B4-BE49-F238E27FC236}">
                  <a16:creationId xmlns:a16="http://schemas.microsoft.com/office/drawing/2014/main" id="{272A2943-320D-4871-A207-F21F80E40607}"/>
                </a:ext>
              </a:extLst>
            </p:cNvPr>
            <p:cNvSpPr/>
            <p:nvPr/>
          </p:nvSpPr>
          <p:spPr>
            <a:xfrm>
              <a:off x="9953129" y="4001683"/>
              <a:ext cx="1676130" cy="871717"/>
            </a:xfrm>
            <a:prstGeom prst="rect">
              <a:avLst/>
            </a:prstGeom>
            <a:noFill/>
            <a:ln/>
          </p:spPr>
          <p:txBody>
            <a:bodyPr wrap="none" lIns="0" tIns="0" rIns="0" bIns="0" rtlCol="0" anchor="t"/>
            <a:lstStyle/>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The employer clicks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link, the portal queries the</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blockchain, and 'Verified'</a:t>
              </a:r>
              <a:endParaRPr lang="en" sz="1050" dirty="0"/>
            </a:p>
            <a:p>
              <a:pPr marL="0" indent="0" algn="l">
                <a:lnSpc>
                  <a:spcPts val="1575"/>
                </a:lnSpc>
                <a:buNone/>
              </a:pPr>
              <a:r>
                <a:rPr lang="en" altLang="en-US" sz="1050" dirty="0">
                  <a:solidFill>
                    <a:srgbClr val="64748B"/>
                  </a:solidFill>
                  <a:latin typeface="Arial" pitchFamily="34" charset="0"/>
                  <a:ea typeface="Arial" pitchFamily="34" charset="-122"/>
                  <a:cs typeface="Arial" pitchFamily="34" charset="-120"/>
                </a:rPr>
                <a:t>status is displayed.</a:t>
              </a:r>
              <a:endParaRPr lang="en" sz="1050" dirty="0"/>
            </a:p>
          </p:txBody>
        </p:sp>
      </p:grpSp>
      <p:sp>
        <p:nvSpPr>
          <p:cNvPr id="90" name="Rectangle 33">
            <a:extLst>
              <a:ext uri="{FF2B5EF4-FFF2-40B4-BE49-F238E27FC236}">
                <a16:creationId xmlns:a16="http://schemas.microsoft.com/office/drawing/2014/main" id="{EAABF58E-5349-47B0-BFAE-8D048F6CC853}"/>
              </a:ext>
            </a:extLst>
          </p:cNvPr>
          <p:cNvSpPr/>
          <p:nvPr/>
        </p:nvSpPr>
        <p:spPr>
          <a:xfrm>
            <a:off x="-408551" y="6957992"/>
            <a:ext cx="570642" cy="131025"/>
          </a:xfrm>
          <a:custGeom>
            <a:avLst/>
            <a:gdLst>
              <a:gd name="connsiteX0" fmla="*/ 0 w 12192000"/>
              <a:gd name="connsiteY0" fmla="*/ 0 h 2219581"/>
              <a:gd name="connsiteX1" fmla="*/ 12192000 w 12192000"/>
              <a:gd name="connsiteY1" fmla="*/ 0 h 2219581"/>
              <a:gd name="connsiteX2" fmla="*/ 12192000 w 12192000"/>
              <a:gd name="connsiteY2" fmla="*/ 2219581 h 2219581"/>
              <a:gd name="connsiteX3" fmla="*/ 0 w 12192000"/>
              <a:gd name="connsiteY3" fmla="*/ 2219581 h 2219581"/>
              <a:gd name="connsiteX4" fmla="*/ 0 w 12192000"/>
              <a:gd name="connsiteY4" fmla="*/ 0 h 2219581"/>
              <a:gd name="connsiteX0" fmla="*/ 0 w 12192000"/>
              <a:gd name="connsiteY0" fmla="*/ 209484 h 2429065"/>
              <a:gd name="connsiteX1" fmla="*/ 12192000 w 12192000"/>
              <a:gd name="connsiteY1" fmla="*/ 209484 h 2429065"/>
              <a:gd name="connsiteX2" fmla="*/ 12192000 w 12192000"/>
              <a:gd name="connsiteY2" fmla="*/ 2429065 h 2429065"/>
              <a:gd name="connsiteX3" fmla="*/ 0 w 12192000"/>
              <a:gd name="connsiteY3" fmla="*/ 2429065 h 2429065"/>
              <a:gd name="connsiteX4" fmla="*/ 0 w 12192000"/>
              <a:gd name="connsiteY4" fmla="*/ 209484 h 2429065"/>
              <a:gd name="connsiteX0" fmla="*/ 0 w 12192000"/>
              <a:gd name="connsiteY0" fmla="*/ 138131 h 2357712"/>
              <a:gd name="connsiteX1" fmla="*/ 12031745 w 12192000"/>
              <a:gd name="connsiteY1" fmla="*/ 552910 h 2357712"/>
              <a:gd name="connsiteX2" fmla="*/ 12192000 w 12192000"/>
              <a:gd name="connsiteY2" fmla="*/ 2357712 h 2357712"/>
              <a:gd name="connsiteX3" fmla="*/ 0 w 12192000"/>
              <a:gd name="connsiteY3" fmla="*/ 2357712 h 2357712"/>
              <a:gd name="connsiteX4" fmla="*/ 0 w 12192000"/>
              <a:gd name="connsiteY4" fmla="*/ 138131 h 2357712"/>
              <a:gd name="connsiteX0" fmla="*/ 0 w 12192000"/>
              <a:gd name="connsiteY0" fmla="*/ 95756 h 2315337"/>
              <a:gd name="connsiteX1" fmla="*/ 12031745 w 12192000"/>
              <a:gd name="connsiteY1" fmla="*/ 510535 h 2315337"/>
              <a:gd name="connsiteX2" fmla="*/ 12192000 w 12192000"/>
              <a:gd name="connsiteY2" fmla="*/ 2315337 h 2315337"/>
              <a:gd name="connsiteX3" fmla="*/ 0 w 12192000"/>
              <a:gd name="connsiteY3" fmla="*/ 2315337 h 2315337"/>
              <a:gd name="connsiteX4" fmla="*/ 0 w 12192000"/>
              <a:gd name="connsiteY4" fmla="*/ 95756 h 2315337"/>
              <a:gd name="connsiteX0" fmla="*/ 0 w 12192000"/>
              <a:gd name="connsiteY0" fmla="*/ 87347 h 2306928"/>
              <a:gd name="connsiteX1" fmla="*/ 6542277 w 12192000"/>
              <a:gd name="connsiteY1" fmla="*/ 452499 h 2306928"/>
              <a:gd name="connsiteX2" fmla="*/ 12031745 w 12192000"/>
              <a:gd name="connsiteY2" fmla="*/ 502126 h 2306928"/>
              <a:gd name="connsiteX3" fmla="*/ 12192000 w 12192000"/>
              <a:gd name="connsiteY3" fmla="*/ 2306928 h 2306928"/>
              <a:gd name="connsiteX4" fmla="*/ 0 w 12192000"/>
              <a:gd name="connsiteY4" fmla="*/ 2306928 h 2306928"/>
              <a:gd name="connsiteX5" fmla="*/ 0 w 12192000"/>
              <a:gd name="connsiteY5" fmla="*/ 87347 h 2306928"/>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64559 h 2284140"/>
              <a:gd name="connsiteX1" fmla="*/ 6523423 w 12192000"/>
              <a:gd name="connsiteY1" fmla="*/ 721942 h 2284140"/>
              <a:gd name="connsiteX2" fmla="*/ 12031745 w 12192000"/>
              <a:gd name="connsiteY2" fmla="*/ 479338 h 2284140"/>
              <a:gd name="connsiteX3" fmla="*/ 12192000 w 12192000"/>
              <a:gd name="connsiteY3" fmla="*/ 2284140 h 2284140"/>
              <a:gd name="connsiteX4" fmla="*/ 0 w 12192000"/>
              <a:gd name="connsiteY4" fmla="*/ 2284140 h 2284140"/>
              <a:gd name="connsiteX5" fmla="*/ 0 w 12192000"/>
              <a:gd name="connsiteY5" fmla="*/ 64559 h 2284140"/>
              <a:gd name="connsiteX0" fmla="*/ 0 w 12192000"/>
              <a:gd name="connsiteY0" fmla="*/ 52289 h 2271870"/>
              <a:gd name="connsiteX1" fmla="*/ 6523423 w 12192000"/>
              <a:gd name="connsiteY1" fmla="*/ 709672 h 2271870"/>
              <a:gd name="connsiteX2" fmla="*/ 12031745 w 12192000"/>
              <a:gd name="connsiteY2" fmla="*/ 467068 h 2271870"/>
              <a:gd name="connsiteX3" fmla="*/ 12192000 w 12192000"/>
              <a:gd name="connsiteY3" fmla="*/ 2271870 h 2271870"/>
              <a:gd name="connsiteX4" fmla="*/ 0 w 12192000"/>
              <a:gd name="connsiteY4" fmla="*/ 2271870 h 2271870"/>
              <a:gd name="connsiteX5" fmla="*/ 0 w 12192000"/>
              <a:gd name="connsiteY5" fmla="*/ 52289 h 2271870"/>
              <a:gd name="connsiteX0" fmla="*/ 0 w 12192001"/>
              <a:gd name="connsiteY0" fmla="*/ 52289 h 2271870"/>
              <a:gd name="connsiteX1" fmla="*/ 6523423 w 12192001"/>
              <a:gd name="connsiteY1" fmla="*/ 709672 h 2271870"/>
              <a:gd name="connsiteX2" fmla="*/ 12192001 w 12192001"/>
              <a:gd name="connsiteY2" fmla="*/ 467068 h 2271870"/>
              <a:gd name="connsiteX3" fmla="*/ 12192000 w 12192001"/>
              <a:gd name="connsiteY3" fmla="*/ 2271870 h 2271870"/>
              <a:gd name="connsiteX4" fmla="*/ 0 w 12192001"/>
              <a:gd name="connsiteY4" fmla="*/ 2271870 h 2271870"/>
              <a:gd name="connsiteX5" fmla="*/ 0 w 12192001"/>
              <a:gd name="connsiteY5" fmla="*/ 52289 h 2271870"/>
              <a:gd name="connsiteX0" fmla="*/ 0 w 12192001"/>
              <a:gd name="connsiteY0" fmla="*/ 54095 h 2273676"/>
              <a:gd name="connsiteX1" fmla="*/ 6523423 w 12192001"/>
              <a:gd name="connsiteY1" fmla="*/ 711478 h 2273676"/>
              <a:gd name="connsiteX2" fmla="*/ 12192001 w 12192001"/>
              <a:gd name="connsiteY2" fmla="*/ 468874 h 2273676"/>
              <a:gd name="connsiteX3" fmla="*/ 12192000 w 12192001"/>
              <a:gd name="connsiteY3" fmla="*/ 2273676 h 2273676"/>
              <a:gd name="connsiteX4" fmla="*/ 0 w 12192001"/>
              <a:gd name="connsiteY4" fmla="*/ 2273676 h 2273676"/>
              <a:gd name="connsiteX5" fmla="*/ 0 w 12192001"/>
              <a:gd name="connsiteY5" fmla="*/ 54095 h 227367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0 w 12192001"/>
              <a:gd name="connsiteY0" fmla="*/ 213835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0 w 12192001"/>
              <a:gd name="connsiteY5" fmla="*/ 213835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562626 h 2433416"/>
              <a:gd name="connsiteX1" fmla="*/ 6523423 w 12192001"/>
              <a:gd name="connsiteY1" fmla="*/ 871218 h 2433416"/>
              <a:gd name="connsiteX2" fmla="*/ 12192001 w 12192001"/>
              <a:gd name="connsiteY2" fmla="*/ 628614 h 2433416"/>
              <a:gd name="connsiteX3" fmla="*/ 12192000 w 12192001"/>
              <a:gd name="connsiteY3" fmla="*/ 2433416 h 2433416"/>
              <a:gd name="connsiteX4" fmla="*/ 0 w 12192001"/>
              <a:gd name="connsiteY4" fmla="*/ 2433416 h 2433416"/>
              <a:gd name="connsiteX5" fmla="*/ 9427 w 12192001"/>
              <a:gd name="connsiteY5" fmla="*/ 562626 h 2433416"/>
              <a:gd name="connsiteX0" fmla="*/ 9427 w 12192001"/>
              <a:gd name="connsiteY0" fmla="*/ 670572 h 2541362"/>
              <a:gd name="connsiteX1" fmla="*/ 6523423 w 12192001"/>
              <a:gd name="connsiteY1" fmla="*/ 979164 h 2541362"/>
              <a:gd name="connsiteX2" fmla="*/ 12192001 w 12192001"/>
              <a:gd name="connsiteY2" fmla="*/ 736560 h 2541362"/>
              <a:gd name="connsiteX3" fmla="*/ 12192000 w 12192001"/>
              <a:gd name="connsiteY3" fmla="*/ 2541362 h 2541362"/>
              <a:gd name="connsiteX4" fmla="*/ 0 w 12192001"/>
              <a:gd name="connsiteY4" fmla="*/ 2541362 h 2541362"/>
              <a:gd name="connsiteX5" fmla="*/ 9427 w 12192001"/>
              <a:gd name="connsiteY5" fmla="*/ 670572 h 2541362"/>
              <a:gd name="connsiteX0" fmla="*/ 9427 w 12192001"/>
              <a:gd name="connsiteY0" fmla="*/ 890764 h 2761554"/>
              <a:gd name="connsiteX1" fmla="*/ 6523423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90764 h 2761554"/>
              <a:gd name="connsiteX1" fmla="*/ 6561130 w 12192001"/>
              <a:gd name="connsiteY1" fmla="*/ 1199356 h 2761554"/>
              <a:gd name="connsiteX2" fmla="*/ 12192001 w 12192001"/>
              <a:gd name="connsiteY2" fmla="*/ 579680 h 2761554"/>
              <a:gd name="connsiteX3" fmla="*/ 12192000 w 12192001"/>
              <a:gd name="connsiteY3" fmla="*/ 2761554 h 2761554"/>
              <a:gd name="connsiteX4" fmla="*/ 0 w 12192001"/>
              <a:gd name="connsiteY4" fmla="*/ 2761554 h 2761554"/>
              <a:gd name="connsiteX5" fmla="*/ 9427 w 12192001"/>
              <a:gd name="connsiteY5" fmla="*/ 890764 h 2761554"/>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7189 h 2747979"/>
              <a:gd name="connsiteX1" fmla="*/ 6561130 w 12192001"/>
              <a:gd name="connsiteY1" fmla="*/ 1185781 h 2747979"/>
              <a:gd name="connsiteX2" fmla="*/ 12192001 w 12192001"/>
              <a:gd name="connsiteY2" fmla="*/ 566105 h 2747979"/>
              <a:gd name="connsiteX3" fmla="*/ 12192000 w 12192001"/>
              <a:gd name="connsiteY3" fmla="*/ 2747979 h 2747979"/>
              <a:gd name="connsiteX4" fmla="*/ 0 w 12192001"/>
              <a:gd name="connsiteY4" fmla="*/ 2747979 h 2747979"/>
              <a:gd name="connsiteX5" fmla="*/ 9427 w 12192001"/>
              <a:gd name="connsiteY5" fmla="*/ 877189 h 2747979"/>
              <a:gd name="connsiteX0" fmla="*/ 9427 w 12192001"/>
              <a:gd name="connsiteY0" fmla="*/ 879880 h 2750670"/>
              <a:gd name="connsiteX1" fmla="*/ 6561130 w 12192001"/>
              <a:gd name="connsiteY1" fmla="*/ 1188472 h 2750670"/>
              <a:gd name="connsiteX2" fmla="*/ 12192001 w 12192001"/>
              <a:gd name="connsiteY2" fmla="*/ 568796 h 2750670"/>
              <a:gd name="connsiteX3" fmla="*/ 12192000 w 12192001"/>
              <a:gd name="connsiteY3" fmla="*/ 2750670 h 2750670"/>
              <a:gd name="connsiteX4" fmla="*/ 0 w 12192001"/>
              <a:gd name="connsiteY4" fmla="*/ 2750670 h 2750670"/>
              <a:gd name="connsiteX5" fmla="*/ 9427 w 12192001"/>
              <a:gd name="connsiteY5" fmla="*/ 879880 h 2750670"/>
              <a:gd name="connsiteX0" fmla="*/ 9427 w 12192001"/>
              <a:gd name="connsiteY0" fmla="*/ 876602 h 2747392"/>
              <a:gd name="connsiteX1" fmla="*/ 6136924 w 12192001"/>
              <a:gd name="connsiteY1" fmla="*/ 1194621 h 2747392"/>
              <a:gd name="connsiteX2" fmla="*/ 12192001 w 12192001"/>
              <a:gd name="connsiteY2" fmla="*/ 565518 h 2747392"/>
              <a:gd name="connsiteX3" fmla="*/ 12192000 w 12192001"/>
              <a:gd name="connsiteY3" fmla="*/ 2747392 h 2747392"/>
              <a:gd name="connsiteX4" fmla="*/ 0 w 12192001"/>
              <a:gd name="connsiteY4" fmla="*/ 2747392 h 2747392"/>
              <a:gd name="connsiteX5" fmla="*/ 9427 w 12192001"/>
              <a:gd name="connsiteY5" fmla="*/ 876602 h 2747392"/>
              <a:gd name="connsiteX0" fmla="*/ 9427 w 12192001"/>
              <a:gd name="connsiteY0" fmla="*/ 889875 h 2760665"/>
              <a:gd name="connsiteX1" fmla="*/ 6344313 w 12192001"/>
              <a:gd name="connsiteY1" fmla="*/ 1170187 h 2760665"/>
              <a:gd name="connsiteX2" fmla="*/ 12192001 w 12192001"/>
              <a:gd name="connsiteY2" fmla="*/ 578791 h 2760665"/>
              <a:gd name="connsiteX3" fmla="*/ 12192000 w 12192001"/>
              <a:gd name="connsiteY3" fmla="*/ 2760665 h 2760665"/>
              <a:gd name="connsiteX4" fmla="*/ 0 w 12192001"/>
              <a:gd name="connsiteY4" fmla="*/ 2760665 h 2760665"/>
              <a:gd name="connsiteX5" fmla="*/ 9427 w 12192001"/>
              <a:gd name="connsiteY5" fmla="*/ 889875 h 2760665"/>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76271 h 2747061"/>
              <a:gd name="connsiteX1" fmla="*/ 6344313 w 12192001"/>
              <a:gd name="connsiteY1" fmla="*/ 1156583 h 2747061"/>
              <a:gd name="connsiteX2" fmla="*/ 12192001 w 12192001"/>
              <a:gd name="connsiteY2" fmla="*/ 565187 h 2747061"/>
              <a:gd name="connsiteX3" fmla="*/ 12192000 w 12192001"/>
              <a:gd name="connsiteY3" fmla="*/ 2747061 h 2747061"/>
              <a:gd name="connsiteX4" fmla="*/ 0 w 12192001"/>
              <a:gd name="connsiteY4" fmla="*/ 2747061 h 2747061"/>
              <a:gd name="connsiteX5" fmla="*/ 9427 w 12192001"/>
              <a:gd name="connsiteY5" fmla="*/ 876271 h 2747061"/>
              <a:gd name="connsiteX0" fmla="*/ 9427 w 12192001"/>
              <a:gd name="connsiteY0" fmla="*/ 866543 h 2737333"/>
              <a:gd name="connsiteX1" fmla="*/ 6372593 w 12192001"/>
              <a:gd name="connsiteY1" fmla="*/ 1175135 h 2737333"/>
              <a:gd name="connsiteX2" fmla="*/ 12192001 w 12192001"/>
              <a:gd name="connsiteY2" fmla="*/ 555459 h 2737333"/>
              <a:gd name="connsiteX3" fmla="*/ 12192000 w 12192001"/>
              <a:gd name="connsiteY3" fmla="*/ 2737333 h 2737333"/>
              <a:gd name="connsiteX4" fmla="*/ 0 w 12192001"/>
              <a:gd name="connsiteY4" fmla="*/ 2737333 h 2737333"/>
              <a:gd name="connsiteX5" fmla="*/ 9427 w 12192001"/>
              <a:gd name="connsiteY5" fmla="*/ 866543 h 2737333"/>
              <a:gd name="connsiteX0" fmla="*/ 9427 w 12192001"/>
              <a:gd name="connsiteY0" fmla="*/ 943643 h 2814433"/>
              <a:gd name="connsiteX1" fmla="*/ 6042655 w 12192001"/>
              <a:gd name="connsiteY1" fmla="*/ 1044845 h 2814433"/>
              <a:gd name="connsiteX2" fmla="*/ 12192001 w 12192001"/>
              <a:gd name="connsiteY2" fmla="*/ 632559 h 2814433"/>
              <a:gd name="connsiteX3" fmla="*/ 12192000 w 12192001"/>
              <a:gd name="connsiteY3" fmla="*/ 2814433 h 2814433"/>
              <a:gd name="connsiteX4" fmla="*/ 0 w 12192001"/>
              <a:gd name="connsiteY4" fmla="*/ 2814433 h 2814433"/>
              <a:gd name="connsiteX5" fmla="*/ 9427 w 12192001"/>
              <a:gd name="connsiteY5" fmla="*/ 943643 h 2814433"/>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 name="connsiteX0" fmla="*/ 9427 w 12192001"/>
              <a:gd name="connsiteY0" fmla="*/ 928612 h 2799402"/>
              <a:gd name="connsiteX1" fmla="*/ 6042655 w 12192001"/>
              <a:gd name="connsiteY1" fmla="*/ 1029814 h 2799402"/>
              <a:gd name="connsiteX2" fmla="*/ 12192001 w 12192001"/>
              <a:gd name="connsiteY2" fmla="*/ 617528 h 2799402"/>
              <a:gd name="connsiteX3" fmla="*/ 12192000 w 12192001"/>
              <a:gd name="connsiteY3" fmla="*/ 2799402 h 2799402"/>
              <a:gd name="connsiteX4" fmla="*/ 0 w 12192001"/>
              <a:gd name="connsiteY4" fmla="*/ 2799402 h 2799402"/>
              <a:gd name="connsiteX5" fmla="*/ 9427 w 12192001"/>
              <a:gd name="connsiteY5" fmla="*/ 928612 h 279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1" h="2799402">
                <a:moveTo>
                  <a:pt x="9427" y="928612"/>
                </a:moveTo>
                <a:cubicBezTo>
                  <a:pt x="2560962" y="129346"/>
                  <a:pt x="3943094" y="1752536"/>
                  <a:pt x="6042655" y="1029814"/>
                </a:cubicBezTo>
                <a:cubicBezTo>
                  <a:pt x="8123360" y="-154821"/>
                  <a:pt x="11127833" y="-351419"/>
                  <a:pt x="12192001" y="617528"/>
                </a:cubicBezTo>
                <a:cubicBezTo>
                  <a:pt x="12192001" y="1219129"/>
                  <a:pt x="12192000" y="2197801"/>
                  <a:pt x="12192000" y="2799402"/>
                </a:cubicBezTo>
                <a:lnTo>
                  <a:pt x="0" y="2799402"/>
                </a:lnTo>
                <a:cubicBezTo>
                  <a:pt x="3142" y="2175805"/>
                  <a:pt x="6285" y="1552209"/>
                  <a:pt x="9427" y="928612"/>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TextBox 20"/>
          <p:cNvSpPr/>
          <p:nvPr/>
        </p:nvSpPr>
        <p:spPr>
          <a:xfrm>
            <a:off x="549947" y="730820"/>
            <a:ext cx="6455271" cy="428625"/>
          </a:xfrm>
          <a:prstGeom prst="rect">
            <a:avLst/>
          </a:prstGeom>
          <a:noFill/>
          <a:ln/>
        </p:spPr>
        <p:txBody>
          <a:bodyPr wrap="none" lIns="0" tIns="0" rIns="0" bIns="0" rtlCol="0" anchor="t">
            <a:noAutofit/>
          </a:bodyPr>
          <a:lstStyle/>
          <a:p>
            <a:pPr marL="0" indent="0" algn="l">
              <a:lnSpc>
                <a:spcPct val="100000"/>
              </a:lnSpc>
              <a:buNone/>
            </a:pPr>
            <a:r>
              <a:rPr lang="en" sz="3600" dirty="0">
                <a:solidFill>
                  <a:srgbClr val="0F172A"/>
                </a:solidFill>
                <a:effectLst>
                  <a:outerShdw blurRad="38100" dist="38100" dir="2700000" algn="tl">
                    <a:srgbClr val="000000">
                      <a:alpha val="43137"/>
                    </a:srgbClr>
                  </a:outerShdw>
                </a:effectLst>
                <a:latin typeface="+mj-lt"/>
                <a:ea typeface="Inter" pitchFamily="34" charset="-122"/>
              </a:rPr>
              <a:t>MongoDB Database Structure</a:t>
            </a:r>
            <a:endParaRPr lang="en" sz="3600" dirty="0">
              <a:effectLst>
                <a:outerShdw blurRad="38100" dist="38100" dir="2700000" algn="tl">
                  <a:srgbClr val="000000">
                    <a:alpha val="43137"/>
                  </a:srgbClr>
                </a:outerShdw>
              </a:effectLst>
              <a:latin typeface="+mj-lt"/>
            </a:endParaRPr>
          </a:p>
        </p:txBody>
      </p:sp>
      <p:sp>
        <p:nvSpPr>
          <p:cNvPr id="19" name="TextBox 24">
            <a:extLst>
              <a:ext uri="{FF2B5EF4-FFF2-40B4-BE49-F238E27FC236}">
                <a16:creationId xmlns:a16="http://schemas.microsoft.com/office/drawing/2014/main" id="{2FC41968-D714-4B06-B8AD-AEC619CA8BDC}"/>
              </a:ext>
            </a:extLst>
          </p:cNvPr>
          <p:cNvSpPr/>
          <p:nvPr/>
        </p:nvSpPr>
        <p:spPr>
          <a:xfrm>
            <a:off x="571500" y="34584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6" name="Picture 5">
            <a:extLst>
              <a:ext uri="{FF2B5EF4-FFF2-40B4-BE49-F238E27FC236}">
                <a16:creationId xmlns:a16="http://schemas.microsoft.com/office/drawing/2014/main" id="{9795F3B5-DF32-418B-A447-037A12D9DE74}"/>
              </a:ext>
            </a:extLst>
          </p:cNvPr>
          <p:cNvPicPr>
            <a:picLocks noChangeAspect="1"/>
          </p:cNvPicPr>
          <p:nvPr/>
        </p:nvPicPr>
        <p:blipFill rotWithShape="1">
          <a:blip r:embed="rId3"/>
          <a:srcRect r="4511" b="35000"/>
          <a:stretch/>
        </p:blipFill>
        <p:spPr>
          <a:xfrm>
            <a:off x="393986" y="1993805"/>
            <a:ext cx="11262106" cy="4312220"/>
          </a:xfrm>
          <a:prstGeom prst="rect">
            <a:avLst/>
          </a:prstGeom>
        </p:spPr>
      </p:pic>
      <p:pic>
        <p:nvPicPr>
          <p:cNvPr id="20" name="Picture 19">
            <a:extLst>
              <a:ext uri="{FF2B5EF4-FFF2-40B4-BE49-F238E27FC236}">
                <a16:creationId xmlns:a16="http://schemas.microsoft.com/office/drawing/2014/main" id="{D85CBBC3-2BE1-4A36-A9D5-ADDDCAA07A05}"/>
              </a:ext>
            </a:extLst>
          </p:cNvPr>
          <p:cNvPicPr>
            <a:picLocks noChangeAspect="1"/>
          </p:cNvPicPr>
          <p:nvPr/>
        </p:nvPicPr>
        <p:blipFill>
          <a:blip r:embed="rId4">
            <a:clrChange>
              <a:clrFrom>
                <a:srgbClr val="FFFFFF"/>
              </a:clrFrom>
              <a:clrTo>
                <a:srgbClr val="FFFFFF">
                  <a:alpha val="0"/>
                </a:srgbClr>
              </a:clrTo>
            </a:clrChange>
          </a:blip>
          <a:srcRect/>
          <a:stretch/>
        </p:blipFill>
        <p:spPr>
          <a:xfrm>
            <a:off x="13157688" y="1000517"/>
            <a:ext cx="5316701" cy="5633565"/>
          </a:xfrm>
          <a:prstGeom prst="rect">
            <a:avLst/>
          </a:prstGeom>
        </p:spPr>
      </p:pic>
      <p:sp>
        <p:nvSpPr>
          <p:cNvPr id="22" name="TextBox 35">
            <a:extLst>
              <a:ext uri="{FF2B5EF4-FFF2-40B4-BE49-F238E27FC236}">
                <a16:creationId xmlns:a16="http://schemas.microsoft.com/office/drawing/2014/main" id="{5CC58635-451E-414C-B448-7C2017F30124}"/>
              </a:ext>
            </a:extLst>
          </p:cNvPr>
          <p:cNvSpPr/>
          <p:nvPr/>
        </p:nvSpPr>
        <p:spPr>
          <a:xfrm>
            <a:off x="-5848344" y="1332130"/>
            <a:ext cx="5084582" cy="506887"/>
          </a:xfrm>
          <a:prstGeom prst="rect">
            <a:avLst/>
          </a:prstGeom>
          <a:noFill/>
          <a:ln/>
        </p:spPr>
        <p:txBody>
          <a:bodyPr wrap="none" lIns="0" tIns="0" rIns="0" bIns="0" rtlCol="0" anchor="t">
            <a:noAutofit/>
          </a:bodyPr>
          <a:lstStyle/>
          <a:p>
            <a:pPr marL="0" indent="0" algn="l">
              <a:lnSpc>
                <a:spcPct val="150000"/>
              </a:lnSpc>
              <a:buNone/>
            </a:pPr>
            <a:r>
              <a:rPr lang="en-IN" altLang="en-US" b="1" kern="0" spc="180" dirty="0">
                <a:solidFill>
                  <a:srgbClr val="0033CC"/>
                </a:solidFill>
                <a:latin typeface="JetBrains Mono" pitchFamily="34" charset="0"/>
                <a:ea typeface="JetBrains Mono" pitchFamily="34" charset="-122"/>
                <a:cs typeface="JetBrains Mono" pitchFamily="34" charset="-120"/>
              </a:rPr>
              <a:t>Level 2 DFD (Document Generation Process)</a:t>
            </a:r>
            <a:endParaRPr lang="en" b="1" dirty="0">
              <a:solidFill>
                <a:srgbClr val="0033CC"/>
              </a:solidFill>
            </a:endParaRPr>
          </a:p>
        </p:txBody>
      </p:sp>
      <p:grpSp>
        <p:nvGrpSpPr>
          <p:cNvPr id="23" name="Group 22">
            <a:extLst>
              <a:ext uri="{FF2B5EF4-FFF2-40B4-BE49-F238E27FC236}">
                <a16:creationId xmlns:a16="http://schemas.microsoft.com/office/drawing/2014/main" id="{56A50815-E8D4-4062-A51B-4B5D0BF3F985}"/>
              </a:ext>
            </a:extLst>
          </p:cNvPr>
          <p:cNvGrpSpPr/>
          <p:nvPr/>
        </p:nvGrpSpPr>
        <p:grpSpPr>
          <a:xfrm>
            <a:off x="-5829300" y="3133644"/>
            <a:ext cx="4721690" cy="2943910"/>
            <a:chOff x="549947" y="2768733"/>
            <a:chExt cx="4721690" cy="2562349"/>
          </a:xfrm>
        </p:grpSpPr>
        <p:sp>
          <p:nvSpPr>
            <p:cNvPr id="24" name="TextBox 58">
              <a:extLst>
                <a:ext uri="{FF2B5EF4-FFF2-40B4-BE49-F238E27FC236}">
                  <a16:creationId xmlns:a16="http://schemas.microsoft.com/office/drawing/2014/main" id="{688F8062-8CA9-43A3-A561-97D22976B55B}"/>
                </a:ext>
              </a:extLst>
            </p:cNvPr>
            <p:cNvSpPr/>
            <p:nvPr/>
          </p:nvSpPr>
          <p:spPr>
            <a:xfrm>
              <a:off x="549947" y="2768733"/>
              <a:ext cx="4086735" cy="357095"/>
            </a:xfrm>
            <a:prstGeom prst="rect">
              <a:avLst/>
            </a:prstGeom>
            <a:noFill/>
            <a:ln/>
          </p:spPr>
          <p:txBody>
            <a:bodyPr wrap="none" lIns="0" tIns="0" rIns="0" bIns="0" rtlCol="0" anchor="t">
              <a:normAutofit/>
            </a:bodyPr>
            <a:lstStyle/>
            <a:p>
              <a:pPr marL="0" indent="0" algn="l">
                <a:lnSpc>
                  <a:spcPct val="100000"/>
                </a:lnSpc>
                <a:buNone/>
              </a:pPr>
              <a:r>
                <a:rPr lang="en-IN" altLang="en-US" sz="1400" b="1" spc="100" dirty="0">
                  <a:solidFill>
                    <a:srgbClr val="1E293B"/>
                  </a:solidFill>
                  <a:latin typeface="JetBrains Mono" pitchFamily="34" charset="0"/>
                  <a:ea typeface="JetBrains Mono" pitchFamily="34" charset="-122"/>
                  <a:cs typeface="JetBrains Mono" pitchFamily="34" charset="-120"/>
                </a:rPr>
                <a:t>1.0 Fetch Student &amp; Document Data</a:t>
              </a:r>
              <a:endParaRPr lang="en" sz="1400" spc="100" dirty="0"/>
            </a:p>
          </p:txBody>
        </p:sp>
        <p:sp>
          <p:nvSpPr>
            <p:cNvPr id="31" name="TextBox 60">
              <a:extLst>
                <a:ext uri="{FF2B5EF4-FFF2-40B4-BE49-F238E27FC236}">
                  <a16:creationId xmlns:a16="http://schemas.microsoft.com/office/drawing/2014/main" id="{9F804F79-D633-471F-BF75-1176BB6DF8D0}"/>
                </a:ext>
              </a:extLst>
            </p:cNvPr>
            <p:cNvSpPr/>
            <p:nvPr/>
          </p:nvSpPr>
          <p:spPr>
            <a:xfrm>
              <a:off x="916935" y="3086348"/>
              <a:ext cx="4086735" cy="345622"/>
            </a:xfrm>
            <a:prstGeom prst="rect">
              <a:avLst/>
            </a:prstGeom>
            <a:noFill/>
            <a:ln/>
          </p:spPr>
          <p:txBody>
            <a:bodyPr wrap="none" lIns="0" tIns="0" rIns="0" bIns="0" rtlCol="0" anchor="t"/>
            <a:lstStyle/>
            <a:p>
              <a:pPr marL="0" indent="0" algn="l">
                <a:lnSpc>
                  <a:spcPts val="1706"/>
                </a:lnSpc>
                <a:buNone/>
              </a:pPr>
              <a:r>
                <a:rPr lang="en-US" sz="1200" b="0" i="0" dirty="0">
                  <a:solidFill>
                    <a:srgbClr val="303030"/>
                  </a:solidFill>
                  <a:effectLst/>
                  <a:latin typeface="Google Sans Text"/>
                </a:rPr>
                <a:t>Pulls profile and grade data from MongoDB.</a:t>
              </a:r>
              <a:endParaRPr lang="en" sz="1200" dirty="0"/>
            </a:p>
          </p:txBody>
        </p:sp>
        <p:sp>
          <p:nvSpPr>
            <p:cNvPr id="32" name="TextBox 70">
              <a:extLst>
                <a:ext uri="{FF2B5EF4-FFF2-40B4-BE49-F238E27FC236}">
                  <a16:creationId xmlns:a16="http://schemas.microsoft.com/office/drawing/2014/main" id="{56D54655-06B4-4EF1-9D85-164EBE61D561}"/>
                </a:ext>
              </a:extLst>
            </p:cNvPr>
            <p:cNvSpPr/>
            <p:nvPr/>
          </p:nvSpPr>
          <p:spPr>
            <a:xfrm>
              <a:off x="579227" y="3363780"/>
              <a:ext cx="3884418" cy="437980"/>
            </a:xfrm>
            <a:prstGeom prst="rect">
              <a:avLst/>
            </a:prstGeom>
            <a:noFill/>
            <a:ln/>
          </p:spPr>
          <p:txBody>
            <a:bodyPr wrap="none" lIns="0" tIns="0" rIns="0" bIns="0" rtlCol="0" anchor="t">
              <a:normAutofit/>
            </a:bodyPr>
            <a:lstStyle/>
            <a:p>
              <a:pPr marL="0" indent="0" algn="l">
                <a:lnSpc>
                  <a:spcPct val="100000"/>
                </a:lnSpc>
                <a:buNone/>
              </a:pPr>
              <a:r>
                <a:rPr lang="en-IN" altLang="en-US" sz="1400" b="1" spc="100" dirty="0">
                  <a:solidFill>
                    <a:srgbClr val="1E293B"/>
                  </a:solidFill>
                  <a:latin typeface="JetBrains Mono" pitchFamily="34" charset="0"/>
                  <a:ea typeface="JetBrains Mono" pitchFamily="34" charset="-122"/>
                  <a:cs typeface="JetBrains Mono" pitchFamily="34" charset="-120"/>
                </a:rPr>
                <a:t>2.0 </a:t>
              </a:r>
              <a:r>
                <a:rPr lang="en-IN" sz="1400" b="1" i="0" dirty="0">
                  <a:solidFill>
                    <a:srgbClr val="303030"/>
                  </a:solidFill>
                  <a:effectLst/>
                  <a:latin typeface="Google Sans Text"/>
                </a:rPr>
                <a:t>Generate Cryptographic Hash:</a:t>
              </a:r>
              <a:endParaRPr lang="en" sz="1400" spc="100" dirty="0"/>
            </a:p>
          </p:txBody>
        </p:sp>
        <p:sp>
          <p:nvSpPr>
            <p:cNvPr id="33" name="TextBox 72">
              <a:extLst>
                <a:ext uri="{FF2B5EF4-FFF2-40B4-BE49-F238E27FC236}">
                  <a16:creationId xmlns:a16="http://schemas.microsoft.com/office/drawing/2014/main" id="{775AA191-4B39-415B-BA13-70641F7BB77B}"/>
                </a:ext>
              </a:extLst>
            </p:cNvPr>
            <p:cNvSpPr/>
            <p:nvPr/>
          </p:nvSpPr>
          <p:spPr>
            <a:xfrm>
              <a:off x="916935" y="3702021"/>
              <a:ext cx="3884419" cy="345622"/>
            </a:xfrm>
            <a:prstGeom prst="rect">
              <a:avLst/>
            </a:prstGeom>
            <a:noFill/>
            <a:ln/>
          </p:spPr>
          <p:txBody>
            <a:bodyPr wrap="none" lIns="0" tIns="0" rIns="0" bIns="0" rtlCol="0" anchor="t"/>
            <a:lstStyle/>
            <a:p>
              <a:pPr>
                <a:lnSpc>
                  <a:spcPts val="1706"/>
                </a:lnSpc>
              </a:pPr>
              <a:r>
                <a:rPr lang="en-US" altLang="en-US" sz="1200" dirty="0">
                  <a:solidFill>
                    <a:srgbClr val="303030"/>
                  </a:solidFill>
                  <a:latin typeface="Google Sans Text"/>
                </a:rPr>
                <a:t>Computes a non-reversible SHA hash.</a:t>
              </a:r>
              <a:endParaRPr lang="en" sz="1200" dirty="0">
                <a:solidFill>
                  <a:srgbClr val="303030"/>
                </a:solidFill>
                <a:latin typeface="Google Sans Text"/>
              </a:endParaRPr>
            </a:p>
          </p:txBody>
        </p:sp>
        <p:sp>
          <p:nvSpPr>
            <p:cNvPr id="34" name="TextBox 82">
              <a:extLst>
                <a:ext uri="{FF2B5EF4-FFF2-40B4-BE49-F238E27FC236}">
                  <a16:creationId xmlns:a16="http://schemas.microsoft.com/office/drawing/2014/main" id="{4A9A57FB-874B-41ED-A4B6-3698EFF9BBCB}"/>
                </a:ext>
              </a:extLst>
            </p:cNvPr>
            <p:cNvSpPr/>
            <p:nvPr/>
          </p:nvSpPr>
          <p:spPr>
            <a:xfrm>
              <a:off x="579227" y="3994466"/>
              <a:ext cx="4376255" cy="290520"/>
            </a:xfrm>
            <a:prstGeom prst="rect">
              <a:avLst/>
            </a:prstGeom>
            <a:noFill/>
            <a:ln/>
          </p:spPr>
          <p:txBody>
            <a:bodyPr wrap="none" lIns="0" tIns="0" rIns="0" bIns="0" rtlCol="0" anchor="t">
              <a:normAutofit/>
            </a:bodyPr>
            <a:lstStyle/>
            <a:p>
              <a:r>
                <a:rPr lang="en-IN" altLang="en-US" sz="1400" b="1" spc="100" dirty="0">
                  <a:solidFill>
                    <a:srgbClr val="1E293B"/>
                  </a:solidFill>
                  <a:latin typeface="JetBrains Mono" pitchFamily="34" charset="0"/>
                  <a:ea typeface="JetBrains Mono" pitchFamily="34" charset="-122"/>
                </a:rPr>
                <a:t>3.0  Interact with Smart Contract</a:t>
              </a:r>
              <a:endParaRPr lang="en" sz="1400" b="1" spc="100" dirty="0">
                <a:solidFill>
                  <a:srgbClr val="1E293B"/>
                </a:solidFill>
                <a:latin typeface="JetBrains Mono" pitchFamily="34" charset="0"/>
                <a:ea typeface="JetBrains Mono" pitchFamily="34" charset="-122"/>
              </a:endParaRPr>
            </a:p>
          </p:txBody>
        </p:sp>
        <p:sp>
          <p:nvSpPr>
            <p:cNvPr id="35" name="TextBox 84">
              <a:extLst>
                <a:ext uri="{FF2B5EF4-FFF2-40B4-BE49-F238E27FC236}">
                  <a16:creationId xmlns:a16="http://schemas.microsoft.com/office/drawing/2014/main" id="{AEDFA54E-6C14-4870-B5EC-96085C8FF0A2}"/>
                </a:ext>
              </a:extLst>
            </p:cNvPr>
            <p:cNvSpPr/>
            <p:nvPr/>
          </p:nvSpPr>
          <p:spPr>
            <a:xfrm>
              <a:off x="916935" y="4393746"/>
              <a:ext cx="4086735" cy="324850"/>
            </a:xfrm>
            <a:prstGeom prst="rect">
              <a:avLst/>
            </a:prstGeom>
            <a:noFill/>
            <a:ln/>
          </p:spPr>
          <p:txBody>
            <a:bodyPr wrap="none" lIns="0" tIns="0" rIns="0" bIns="0" rtlCol="0" anchor="t"/>
            <a:lstStyle/>
            <a:p>
              <a:pPr>
                <a:lnSpc>
                  <a:spcPts val="1706"/>
                </a:lnSpc>
              </a:pPr>
              <a:r>
                <a:rPr lang="en-US" altLang="en-US" sz="1200" dirty="0">
                  <a:solidFill>
                    <a:srgbClr val="303030"/>
                  </a:solidFill>
                  <a:latin typeface="Google Sans Text"/>
                </a:rPr>
                <a:t>Executes Ethereum transactions via Solidity smart contracts.</a:t>
              </a:r>
              <a:endParaRPr lang="en" sz="1200" b="1" dirty="0">
                <a:solidFill>
                  <a:srgbClr val="303030"/>
                </a:solidFill>
                <a:latin typeface="Google Sans Text"/>
              </a:endParaRPr>
            </a:p>
          </p:txBody>
        </p:sp>
        <p:sp>
          <p:nvSpPr>
            <p:cNvPr id="36" name="TextBox 35">
              <a:extLst>
                <a:ext uri="{FF2B5EF4-FFF2-40B4-BE49-F238E27FC236}">
                  <a16:creationId xmlns:a16="http://schemas.microsoft.com/office/drawing/2014/main" id="{D9F01544-34DE-4B09-B7AF-304778D2DB90}"/>
                </a:ext>
              </a:extLst>
            </p:cNvPr>
            <p:cNvSpPr txBox="1"/>
            <p:nvPr/>
          </p:nvSpPr>
          <p:spPr>
            <a:xfrm>
              <a:off x="916935" y="5034591"/>
              <a:ext cx="4354702" cy="296491"/>
            </a:xfrm>
            <a:prstGeom prst="rect">
              <a:avLst/>
            </a:prstGeom>
            <a:noFill/>
            <a:ln/>
          </p:spPr>
          <p:txBody>
            <a:bodyPr wrap="none" lIns="0" tIns="0" rIns="0" bIns="0" rtlCol="0" anchor="t"/>
            <a:lstStyle>
              <a:lvl1pPr>
                <a:lnSpc>
                  <a:spcPts val="1706"/>
                </a:lnSpc>
                <a:defRPr sz="1200">
                  <a:solidFill>
                    <a:srgbClr val="303030"/>
                  </a:solidFill>
                  <a:latin typeface="Google Sans Text"/>
                </a:defRPr>
              </a:lvl1pPr>
            </a:lstStyle>
            <a:p>
              <a:r>
                <a:rPr lang="en-US" dirty="0"/>
                <a:t>Records the transaction hash and block timestamp back in MongoDB.</a:t>
              </a:r>
              <a:endParaRPr lang="en-IN" dirty="0"/>
            </a:p>
          </p:txBody>
        </p:sp>
        <p:sp>
          <p:nvSpPr>
            <p:cNvPr id="37" name="TextBox 82">
              <a:extLst>
                <a:ext uri="{FF2B5EF4-FFF2-40B4-BE49-F238E27FC236}">
                  <a16:creationId xmlns:a16="http://schemas.microsoft.com/office/drawing/2014/main" id="{69205B01-697E-47F7-87F8-FD7E9A7207E3}"/>
                </a:ext>
              </a:extLst>
            </p:cNvPr>
            <p:cNvSpPr/>
            <p:nvPr/>
          </p:nvSpPr>
          <p:spPr>
            <a:xfrm>
              <a:off x="549947" y="4718899"/>
              <a:ext cx="3909605" cy="290520"/>
            </a:xfrm>
            <a:prstGeom prst="rect">
              <a:avLst/>
            </a:prstGeom>
            <a:noFill/>
            <a:ln/>
          </p:spPr>
          <p:txBody>
            <a:bodyPr wrap="none" lIns="0" tIns="0" rIns="0" bIns="0" rtlCol="0" anchor="t">
              <a:normAutofit/>
            </a:bodyPr>
            <a:lstStyle/>
            <a:p>
              <a:r>
                <a:rPr lang="en-IN" altLang="en-US" sz="1400" b="1" spc="100" dirty="0">
                  <a:solidFill>
                    <a:srgbClr val="1E293B"/>
                  </a:solidFill>
                  <a:latin typeface="JetBrains Mono" pitchFamily="34" charset="0"/>
                  <a:ea typeface="JetBrains Mono" pitchFamily="34" charset="-122"/>
                </a:rPr>
                <a:t>4.0 Store Receipt in Database</a:t>
              </a:r>
              <a:endParaRPr lang="en" sz="1400" b="1" spc="100" dirty="0">
                <a:solidFill>
                  <a:srgbClr val="1E293B"/>
                </a:solidFill>
                <a:latin typeface="JetBrains Mono" pitchFamily="34" charset="0"/>
                <a:ea typeface="JetBrains Mono" pitchFamily="34" charset="-122"/>
              </a:endParaRPr>
            </a:p>
          </p:txBody>
        </p:sp>
      </p:grpSp>
      <p:sp>
        <p:nvSpPr>
          <p:cNvPr id="38" name="TextBox 37">
            <a:extLst>
              <a:ext uri="{FF2B5EF4-FFF2-40B4-BE49-F238E27FC236}">
                <a16:creationId xmlns:a16="http://schemas.microsoft.com/office/drawing/2014/main" id="{68EAF61D-2985-4ACE-B002-E57B52800F1E}"/>
              </a:ext>
            </a:extLst>
          </p:cNvPr>
          <p:cNvSpPr txBox="1"/>
          <p:nvPr/>
        </p:nvSpPr>
        <p:spPr>
          <a:xfrm>
            <a:off x="-5901389" y="1993805"/>
            <a:ext cx="4024562" cy="705258"/>
          </a:xfrm>
          <a:prstGeom prst="rect">
            <a:avLst/>
          </a:prstGeom>
          <a:noFill/>
        </p:spPr>
        <p:txBody>
          <a:bodyPr wrap="square">
            <a:spAutoFit/>
          </a:bodyPr>
          <a:lstStyle/>
          <a:p>
            <a:pPr marL="0" indent="0" algn="l">
              <a:lnSpc>
                <a:spcPct val="150000"/>
              </a:lnSpc>
              <a:spcAft>
                <a:spcPts val="600"/>
              </a:spcAft>
              <a:buNone/>
            </a:pPr>
            <a:r>
              <a:rPr lang="en-US" altLang="en-US" sz="1400" dirty="0">
                <a:solidFill>
                  <a:schemeClr val="tx1">
                    <a:lumMod val="95000"/>
                    <a:lumOff val="5000"/>
                  </a:schemeClr>
                </a:solidFill>
                <a:latin typeface="Inter" pitchFamily="34" charset="0"/>
                <a:ea typeface="Inter" pitchFamily="34" charset="-122"/>
                <a:cs typeface="Inter" pitchFamily="34" charset="-120"/>
              </a:rPr>
              <a:t>Zoomed-in view of the 4-step pipeline executed during credential issuance</a:t>
            </a:r>
            <a:endParaRPr lang="en" sz="1400" dirty="0">
              <a:solidFill>
                <a:schemeClr val="tx1">
                  <a:lumMod val="95000"/>
                  <a:lumOff val="5000"/>
                </a:schemeClr>
              </a:solidFill>
            </a:endParaRPr>
          </a:p>
        </p:txBody>
      </p:sp>
      <p:sp>
        <p:nvSpPr>
          <p:cNvPr id="39" name="TextBox 20">
            <a:extLst>
              <a:ext uri="{FF2B5EF4-FFF2-40B4-BE49-F238E27FC236}">
                <a16:creationId xmlns:a16="http://schemas.microsoft.com/office/drawing/2014/main" id="{7A0E0FFF-D933-4875-B05F-F1D4FB215155}"/>
              </a:ext>
            </a:extLst>
          </p:cNvPr>
          <p:cNvSpPr/>
          <p:nvPr/>
        </p:nvSpPr>
        <p:spPr>
          <a:xfrm>
            <a:off x="702347" y="-888430"/>
            <a:ext cx="6455271" cy="428625"/>
          </a:xfrm>
          <a:prstGeom prst="rect">
            <a:avLst/>
          </a:prstGeom>
          <a:noFill/>
          <a:ln/>
        </p:spPr>
        <p:txBody>
          <a:bodyPr wrap="none" lIns="0" tIns="0" rIns="0" bIns="0" rtlCol="0" anchor="t">
            <a:normAutofit/>
          </a:bodyPr>
          <a:lstStyle/>
          <a:p>
            <a:pPr marL="0" indent="0" algn="l">
              <a:lnSpc>
                <a:spcPct val="100000"/>
              </a:lnSpc>
              <a:buNone/>
            </a:pPr>
            <a:r>
              <a:rPr lang="en" altLang="en-US" sz="2700" b="1" dirty="0">
                <a:solidFill>
                  <a:srgbClr val="0F172A"/>
                </a:solidFill>
                <a:latin typeface="Inter" pitchFamily="34" charset="0"/>
                <a:ea typeface="Inter" pitchFamily="34" charset="-122"/>
                <a:cs typeface="Inter" pitchFamily="34" charset="-120"/>
              </a:rPr>
              <a:t>Main Processes DFD: Operational Flow</a:t>
            </a:r>
            <a:endParaRPr lang="en" sz="2700" dirty="0"/>
          </a:p>
        </p:txBody>
      </p:sp>
    </p:spTree>
    <p:extLst>
      <p:ext uri="{BB962C8B-B14F-4D97-AF65-F5344CB8AC3E}">
        <p14:creationId xmlns:p14="http://schemas.microsoft.com/office/powerpoint/2010/main" val="2759040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_type_image"/>
          <p:cNvPicPr>
            <a:picLocks noChangeAspect="1"/>
          </p:cNvPicPr>
          <p:nvPr/>
        </p:nvPicPr>
        <p:blipFill>
          <a:blip r:embed="rId2"/>
          <a:stretch>
            <a:fillRect/>
          </a:stretch>
        </p:blipFill>
        <p:spPr>
          <a:xfrm>
            <a:off x="0" y="0"/>
            <a:ext cx="12192000" cy="6858000"/>
          </a:xfrm>
          <a:prstGeom prst="rect">
            <a:avLst/>
          </a:prstGeom>
        </p:spPr>
      </p:pic>
      <p:sp>
        <p:nvSpPr>
          <p:cNvPr id="3" name="TextBox 38"/>
          <p:cNvSpPr/>
          <p:nvPr/>
        </p:nvSpPr>
        <p:spPr>
          <a:xfrm>
            <a:off x="876300" y="1485900"/>
            <a:ext cx="7010400" cy="639961"/>
          </a:xfrm>
          <a:prstGeom prst="rect">
            <a:avLst/>
          </a:prstGeom>
          <a:noFill/>
          <a:ln/>
        </p:spPr>
        <p:txBody>
          <a:bodyPr wrap="none" lIns="0" tIns="0" rIns="0" bIns="0" rtlCol="0" anchor="t"/>
          <a:lstStyle/>
          <a:p>
            <a:pPr marL="0" indent="0" algn="l">
              <a:lnSpc>
                <a:spcPts val="2520"/>
              </a:lnSpc>
              <a:buNone/>
            </a:pPr>
            <a:r>
              <a:rPr lang="en" altLang="en-US" sz="1800" dirty="0">
                <a:solidFill>
                  <a:schemeClr val="tx1">
                    <a:lumMod val="85000"/>
                    <a:lumOff val="15000"/>
                  </a:schemeClr>
                </a:solidFill>
                <a:latin typeface="Arial" pitchFamily="34" charset="0"/>
                <a:ea typeface="Arial" pitchFamily="34" charset="-122"/>
                <a:cs typeface="Arial" pitchFamily="34" charset="-120"/>
              </a:rPr>
              <a:t>"A secure pipeline for transforming raw academic data into</a:t>
            </a:r>
            <a:endParaRPr lang="en" sz="1800" dirty="0">
              <a:solidFill>
                <a:schemeClr val="tx1">
                  <a:lumMod val="85000"/>
                  <a:lumOff val="15000"/>
                </a:schemeClr>
              </a:solidFill>
            </a:endParaRPr>
          </a:p>
          <a:p>
            <a:pPr marL="0" indent="0" algn="l">
              <a:lnSpc>
                <a:spcPts val="2520"/>
              </a:lnSpc>
              <a:buNone/>
            </a:pPr>
            <a:r>
              <a:rPr lang="en" altLang="en-US" sz="1800" dirty="0">
                <a:solidFill>
                  <a:schemeClr val="tx1">
                    <a:lumMod val="85000"/>
                    <a:lumOff val="15000"/>
                  </a:schemeClr>
                </a:solidFill>
                <a:latin typeface="Arial" pitchFamily="34" charset="0"/>
                <a:ea typeface="Arial" pitchFamily="34" charset="-122"/>
                <a:cs typeface="Arial" pitchFamily="34" charset="-120"/>
              </a:rPr>
              <a:t>immutable blockchain assets."</a:t>
            </a:r>
            <a:endParaRPr lang="en" sz="1800" dirty="0">
              <a:solidFill>
                <a:schemeClr val="tx1">
                  <a:lumMod val="85000"/>
                  <a:lumOff val="15000"/>
                </a:schemeClr>
              </a:solidFill>
            </a:endParaRPr>
          </a:p>
        </p:txBody>
      </p:sp>
      <p:sp>
        <p:nvSpPr>
          <p:cNvPr id="4" name="TextBox 59"/>
          <p:cNvSpPr/>
          <p:nvPr/>
        </p:nvSpPr>
        <p:spPr>
          <a:xfrm>
            <a:off x="571500" y="3210818"/>
            <a:ext cx="457200" cy="457200"/>
          </a:xfrm>
          <a:prstGeom prst="roundRect">
            <a:avLst>
              <a:gd name="adj" fmla="val 16667"/>
            </a:avLst>
          </a:prstGeom>
          <a:noFill/>
          <a:ln/>
        </p:spPr>
        <p:txBody>
          <a:bodyPr wrap="none" lIns="0" tIns="0" rIns="0" bIns="0" rtlCol="0" anchor="t">
            <a:normAutofit/>
          </a:bodyPr>
          <a:lstStyle/>
          <a:p>
            <a:pPr marL="0" indent="0" algn="ctr">
              <a:lnSpc>
                <a:spcPct val="100000"/>
              </a:lnSpc>
              <a:buNone/>
            </a:pPr>
            <a:r>
              <a:rPr lang="en" altLang="en-US" sz="1500" dirty="0">
                <a:solidFill>
                  <a:srgbClr val="FFFFFF"/>
                </a:solidFill>
                <a:latin typeface="DejaVu Sans Mono" pitchFamily="34" charset="0"/>
                <a:ea typeface="DejaVu Sans Mono" pitchFamily="34" charset="-122"/>
                <a:cs typeface="DejaVu Sans Mono" pitchFamily="34" charset="-120"/>
              </a:rPr>
              <a:t>01</a:t>
            </a:r>
            <a:endParaRPr lang="en" sz="1500" dirty="0"/>
          </a:p>
        </p:txBody>
      </p:sp>
      <p:sp>
        <p:nvSpPr>
          <p:cNvPr id="5" name="TextBox 63"/>
          <p:cNvSpPr/>
          <p:nvPr/>
        </p:nvSpPr>
        <p:spPr>
          <a:xfrm>
            <a:off x="809625" y="4058543"/>
            <a:ext cx="2114550" cy="25717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052FF"/>
                </a:solidFill>
                <a:latin typeface="Arial" pitchFamily="34" charset="0"/>
                <a:ea typeface="Arial" pitchFamily="34" charset="-122"/>
                <a:cs typeface="Arial" pitchFamily="34" charset="-120"/>
              </a:rPr>
              <a:t>Data Capture</a:t>
            </a:r>
            <a:endParaRPr lang="en" sz="1350" dirty="0"/>
          </a:p>
        </p:txBody>
      </p:sp>
      <p:sp>
        <p:nvSpPr>
          <p:cNvPr id="6" name="TextBox 65"/>
          <p:cNvSpPr/>
          <p:nvPr/>
        </p:nvSpPr>
        <p:spPr>
          <a:xfrm>
            <a:off x="809625" y="4391918"/>
            <a:ext cx="2114550" cy="400050"/>
          </a:xfrm>
          <a:prstGeom prst="rect">
            <a:avLst/>
          </a:prstGeom>
          <a:noFill/>
          <a:ln/>
        </p:spPr>
        <p:txBody>
          <a:bodyPr wrap="none" lIns="0" tIns="0" rIns="0" bIns="0" rtlCol="0" anchor="t"/>
          <a:lstStyle/>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Extracting student performance</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data from institutional databases.</a:t>
            </a:r>
            <a:endParaRPr lang="en" sz="1050" dirty="0"/>
          </a:p>
        </p:txBody>
      </p:sp>
      <p:sp>
        <p:nvSpPr>
          <p:cNvPr id="7" name="TextBox 73"/>
          <p:cNvSpPr/>
          <p:nvPr/>
        </p:nvSpPr>
        <p:spPr>
          <a:xfrm>
            <a:off x="3390900" y="3210818"/>
            <a:ext cx="457200" cy="457200"/>
          </a:xfrm>
          <a:prstGeom prst="roundRect">
            <a:avLst>
              <a:gd name="adj" fmla="val 16667"/>
            </a:avLst>
          </a:prstGeom>
          <a:noFill/>
          <a:ln/>
        </p:spPr>
        <p:txBody>
          <a:bodyPr wrap="none" lIns="0" tIns="0" rIns="0" bIns="0" rtlCol="0" anchor="t">
            <a:normAutofit/>
          </a:bodyPr>
          <a:lstStyle/>
          <a:p>
            <a:pPr marL="0" indent="0" algn="ctr">
              <a:lnSpc>
                <a:spcPct val="100000"/>
              </a:lnSpc>
              <a:buNone/>
            </a:pPr>
            <a:r>
              <a:rPr lang="en" altLang="en-US" sz="1500" dirty="0">
                <a:solidFill>
                  <a:srgbClr val="FFFFFF"/>
                </a:solidFill>
                <a:latin typeface="DejaVu Sans Mono" pitchFamily="34" charset="0"/>
                <a:ea typeface="DejaVu Sans Mono" pitchFamily="34" charset="-122"/>
                <a:cs typeface="DejaVu Sans Mono" pitchFamily="34" charset="-120"/>
              </a:rPr>
              <a:t>02</a:t>
            </a:r>
            <a:endParaRPr lang="en" sz="1500" dirty="0"/>
          </a:p>
        </p:txBody>
      </p:sp>
      <p:sp>
        <p:nvSpPr>
          <p:cNvPr id="8" name="TextBox 77"/>
          <p:cNvSpPr/>
          <p:nvPr/>
        </p:nvSpPr>
        <p:spPr>
          <a:xfrm>
            <a:off x="3629025" y="4058543"/>
            <a:ext cx="2114550" cy="25717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052FF"/>
                </a:solidFill>
                <a:latin typeface="Arial" pitchFamily="34" charset="0"/>
                <a:ea typeface="Arial" pitchFamily="34" charset="-122"/>
                <a:cs typeface="Arial" pitchFamily="34" charset="-120"/>
              </a:rPr>
              <a:t>Hashing</a:t>
            </a:r>
            <a:endParaRPr lang="en" sz="1350" dirty="0"/>
          </a:p>
        </p:txBody>
      </p:sp>
      <p:sp>
        <p:nvSpPr>
          <p:cNvPr id="9" name="TextBox 79"/>
          <p:cNvSpPr/>
          <p:nvPr/>
        </p:nvSpPr>
        <p:spPr>
          <a:xfrm>
            <a:off x="3629025" y="4391918"/>
            <a:ext cx="2114550" cy="600075"/>
          </a:xfrm>
          <a:prstGeom prst="rect">
            <a:avLst/>
          </a:prstGeom>
          <a:noFill/>
          <a:ln/>
        </p:spPr>
        <p:txBody>
          <a:bodyPr wrap="none" lIns="0" tIns="0" rIns="0" bIns="0" rtlCol="0" anchor="t"/>
          <a:lstStyle/>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Applying SHA-256 algorithms to</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create a unique digital fingerprint of</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the document.</a:t>
            </a:r>
            <a:endParaRPr lang="en" sz="1050" dirty="0"/>
          </a:p>
        </p:txBody>
      </p:sp>
      <p:sp>
        <p:nvSpPr>
          <p:cNvPr id="10" name="TextBox 87"/>
          <p:cNvSpPr/>
          <p:nvPr/>
        </p:nvSpPr>
        <p:spPr>
          <a:xfrm>
            <a:off x="6210300" y="3210818"/>
            <a:ext cx="457200" cy="457200"/>
          </a:xfrm>
          <a:prstGeom prst="roundRect">
            <a:avLst>
              <a:gd name="adj" fmla="val 16667"/>
            </a:avLst>
          </a:prstGeom>
          <a:noFill/>
          <a:ln/>
        </p:spPr>
        <p:txBody>
          <a:bodyPr wrap="none" lIns="0" tIns="0" rIns="0" bIns="0" rtlCol="0" anchor="t">
            <a:normAutofit/>
          </a:bodyPr>
          <a:lstStyle/>
          <a:p>
            <a:pPr marL="0" indent="0" algn="ctr">
              <a:lnSpc>
                <a:spcPct val="100000"/>
              </a:lnSpc>
              <a:buNone/>
            </a:pPr>
            <a:r>
              <a:rPr lang="en" altLang="en-US" sz="1500" dirty="0">
                <a:solidFill>
                  <a:srgbClr val="FFFFFF"/>
                </a:solidFill>
                <a:latin typeface="DejaVu Sans Mono" pitchFamily="34" charset="0"/>
                <a:ea typeface="DejaVu Sans Mono" pitchFamily="34" charset="-122"/>
                <a:cs typeface="DejaVu Sans Mono" pitchFamily="34" charset="-120"/>
              </a:rPr>
              <a:t>03</a:t>
            </a:r>
            <a:endParaRPr lang="en" sz="1500" dirty="0"/>
          </a:p>
        </p:txBody>
      </p:sp>
      <p:sp>
        <p:nvSpPr>
          <p:cNvPr id="11" name="TextBox 91"/>
          <p:cNvSpPr/>
          <p:nvPr/>
        </p:nvSpPr>
        <p:spPr>
          <a:xfrm>
            <a:off x="6448425" y="4058543"/>
            <a:ext cx="2114550" cy="25717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052FF"/>
                </a:solidFill>
                <a:latin typeface="Arial" pitchFamily="34" charset="0"/>
                <a:ea typeface="Arial" pitchFamily="34" charset="-122"/>
                <a:cs typeface="Arial" pitchFamily="34" charset="-120"/>
              </a:rPr>
              <a:t>IPFS Upload</a:t>
            </a:r>
            <a:endParaRPr lang="en" sz="1350" dirty="0"/>
          </a:p>
        </p:txBody>
      </p:sp>
      <p:sp>
        <p:nvSpPr>
          <p:cNvPr id="12" name="TextBox 93"/>
          <p:cNvSpPr/>
          <p:nvPr/>
        </p:nvSpPr>
        <p:spPr>
          <a:xfrm>
            <a:off x="6448425" y="4391918"/>
            <a:ext cx="2114550" cy="600075"/>
          </a:xfrm>
          <a:prstGeom prst="rect">
            <a:avLst/>
          </a:prstGeom>
          <a:noFill/>
          <a:ln/>
        </p:spPr>
        <p:txBody>
          <a:bodyPr wrap="none" lIns="0" tIns="0" rIns="0" bIns="0" rtlCol="0" anchor="t"/>
          <a:lstStyle/>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Storing the actual document file</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and receiving a Content Identifier</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(CID).</a:t>
            </a:r>
            <a:endParaRPr lang="en" sz="1050" dirty="0"/>
          </a:p>
        </p:txBody>
      </p:sp>
      <p:sp>
        <p:nvSpPr>
          <p:cNvPr id="13" name="TextBox 101"/>
          <p:cNvSpPr/>
          <p:nvPr/>
        </p:nvSpPr>
        <p:spPr>
          <a:xfrm>
            <a:off x="9029700" y="3210818"/>
            <a:ext cx="457200" cy="457200"/>
          </a:xfrm>
          <a:prstGeom prst="roundRect">
            <a:avLst>
              <a:gd name="adj" fmla="val 16667"/>
            </a:avLst>
          </a:prstGeom>
          <a:noFill/>
          <a:ln/>
        </p:spPr>
        <p:txBody>
          <a:bodyPr wrap="none" lIns="0" tIns="0" rIns="0" bIns="0" rtlCol="0" anchor="t">
            <a:normAutofit/>
          </a:bodyPr>
          <a:lstStyle/>
          <a:p>
            <a:pPr marL="0" indent="0" algn="ctr">
              <a:lnSpc>
                <a:spcPct val="100000"/>
              </a:lnSpc>
              <a:buNone/>
            </a:pPr>
            <a:r>
              <a:rPr lang="en" altLang="en-US" sz="1500" dirty="0">
                <a:solidFill>
                  <a:srgbClr val="FFFFFF"/>
                </a:solidFill>
                <a:latin typeface="DejaVu Sans Mono" pitchFamily="34" charset="0"/>
                <a:ea typeface="DejaVu Sans Mono" pitchFamily="34" charset="-122"/>
                <a:cs typeface="DejaVu Sans Mono" pitchFamily="34" charset="-120"/>
              </a:rPr>
              <a:t>04</a:t>
            </a:r>
            <a:endParaRPr lang="en" sz="1500" dirty="0"/>
          </a:p>
        </p:txBody>
      </p:sp>
      <p:sp>
        <p:nvSpPr>
          <p:cNvPr id="14" name="TextBox 105"/>
          <p:cNvSpPr/>
          <p:nvPr/>
        </p:nvSpPr>
        <p:spPr>
          <a:xfrm>
            <a:off x="9277350" y="4068068"/>
            <a:ext cx="2095500" cy="257175"/>
          </a:xfrm>
          <a:prstGeom prst="rect">
            <a:avLst/>
          </a:prstGeom>
          <a:noFill/>
          <a:ln/>
        </p:spPr>
        <p:txBody>
          <a:bodyPr wrap="none" lIns="0" tIns="0" rIns="0" bIns="0" rtlCol="0" anchor="t">
            <a:normAutofit/>
          </a:bodyPr>
          <a:lstStyle/>
          <a:p>
            <a:pPr marL="0" indent="0" algn="l">
              <a:lnSpc>
                <a:spcPct val="100000"/>
              </a:lnSpc>
              <a:buNone/>
            </a:pPr>
            <a:r>
              <a:rPr lang="en" altLang="en-US" sz="1350" b="1" dirty="0">
                <a:solidFill>
                  <a:srgbClr val="00D1FF"/>
                </a:solidFill>
                <a:latin typeface="Arial" pitchFamily="34" charset="0"/>
                <a:ea typeface="Arial" pitchFamily="34" charset="-122"/>
                <a:cs typeface="Arial" pitchFamily="34" charset="-120"/>
              </a:rPr>
              <a:t>Minting</a:t>
            </a:r>
            <a:endParaRPr lang="en" sz="1350" dirty="0"/>
          </a:p>
        </p:txBody>
      </p:sp>
      <p:sp>
        <p:nvSpPr>
          <p:cNvPr id="15" name="TextBox 107"/>
          <p:cNvSpPr/>
          <p:nvPr/>
        </p:nvSpPr>
        <p:spPr>
          <a:xfrm>
            <a:off x="9277350" y="4401443"/>
            <a:ext cx="2095500" cy="600075"/>
          </a:xfrm>
          <a:prstGeom prst="rect">
            <a:avLst/>
          </a:prstGeom>
          <a:noFill/>
          <a:ln/>
        </p:spPr>
        <p:txBody>
          <a:bodyPr wrap="none" lIns="0" tIns="0" rIns="0" bIns="0" rtlCol="0" anchor="t"/>
          <a:lstStyle/>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Executing a smart contract</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transaction to record the CID and</a:t>
            </a:r>
            <a:endParaRPr lang="en" sz="1050" dirty="0"/>
          </a:p>
          <a:p>
            <a:pPr marL="0" indent="0" algn="l">
              <a:lnSpc>
                <a:spcPts val="1575"/>
              </a:lnSpc>
              <a:buNone/>
            </a:pPr>
            <a:r>
              <a:rPr lang="en" altLang="en-US" sz="1050" dirty="0">
                <a:solidFill>
                  <a:srgbClr val="0F172A"/>
                </a:solidFill>
                <a:latin typeface="Arial" pitchFamily="34" charset="0"/>
                <a:ea typeface="Arial" pitchFamily="34" charset="-122"/>
                <a:cs typeface="Arial" pitchFamily="34" charset="-120"/>
              </a:rPr>
              <a:t>student ID on the blockchain.</a:t>
            </a:r>
            <a:endParaRPr lang="en" sz="1050" dirty="0"/>
          </a:p>
        </p:txBody>
      </p:sp>
      <p:sp>
        <p:nvSpPr>
          <p:cNvPr id="16" name="TextBox 123"/>
          <p:cNvSpPr/>
          <p:nvPr/>
        </p:nvSpPr>
        <p:spPr>
          <a:xfrm>
            <a:off x="647700" y="6115050"/>
            <a:ext cx="1101030" cy="171450"/>
          </a:xfrm>
          <a:prstGeom prst="rect">
            <a:avLst/>
          </a:prstGeom>
          <a:noFill/>
          <a:ln/>
        </p:spPr>
        <p:txBody>
          <a:bodyPr wrap="none" lIns="0" tIns="0" rIns="0" bIns="0" rtlCol="0" anchor="t">
            <a:normAutofit/>
          </a:bodyPr>
          <a:lstStyle/>
          <a:p>
            <a:pPr marL="0" indent="0" algn="l">
              <a:lnSpc>
                <a:spcPct val="100000"/>
              </a:lnSpc>
              <a:buNone/>
            </a:pPr>
            <a:r>
              <a:rPr lang="en" altLang="en-US" sz="900" dirty="0">
                <a:solidFill>
                  <a:srgbClr val="0F172A"/>
                </a:solidFill>
                <a:latin typeface="DejaVu Sans Mono" pitchFamily="34" charset="0"/>
                <a:ea typeface="DejaVu Sans Mono" pitchFamily="34" charset="-122"/>
                <a:cs typeface="DejaVu Sans Mono" pitchFamily="34" charset="-120"/>
              </a:rPr>
              <a:t>IMMUTABLE LEDGER</a:t>
            </a:r>
            <a:endParaRPr lang="en" sz="900" dirty="0"/>
          </a:p>
        </p:txBody>
      </p:sp>
      <p:sp>
        <p:nvSpPr>
          <p:cNvPr id="17" name="TextBox 130"/>
          <p:cNvSpPr/>
          <p:nvPr/>
        </p:nvSpPr>
        <p:spPr>
          <a:xfrm>
            <a:off x="2272605" y="6115050"/>
            <a:ext cx="1445121" cy="171450"/>
          </a:xfrm>
          <a:prstGeom prst="rect">
            <a:avLst/>
          </a:prstGeom>
          <a:noFill/>
          <a:ln/>
        </p:spPr>
        <p:txBody>
          <a:bodyPr wrap="none" lIns="0" tIns="0" rIns="0" bIns="0" rtlCol="0" anchor="t">
            <a:normAutofit/>
          </a:bodyPr>
          <a:lstStyle/>
          <a:p>
            <a:pPr marL="0" indent="0" algn="l">
              <a:lnSpc>
                <a:spcPct val="100000"/>
              </a:lnSpc>
              <a:buNone/>
            </a:pPr>
            <a:r>
              <a:rPr lang="en" altLang="en-US" sz="900" dirty="0">
                <a:solidFill>
                  <a:srgbClr val="0F172A"/>
                </a:solidFill>
                <a:latin typeface="DejaVu Sans Mono" pitchFamily="34" charset="0"/>
                <a:ea typeface="DejaVu Sans Mono" pitchFamily="34" charset="-122"/>
                <a:cs typeface="DejaVu Sans Mono" pitchFamily="34" charset="-120"/>
              </a:rPr>
              <a:t>DECENTRALIZED STORAGE</a:t>
            </a:r>
            <a:endParaRPr lang="en" sz="900" dirty="0"/>
          </a:p>
        </p:txBody>
      </p:sp>
      <p:sp>
        <p:nvSpPr>
          <p:cNvPr id="18" name="TextBox 134"/>
          <p:cNvSpPr/>
          <p:nvPr/>
        </p:nvSpPr>
        <p:spPr>
          <a:xfrm>
            <a:off x="9263211" y="6115050"/>
            <a:ext cx="2357289" cy="171450"/>
          </a:xfrm>
          <a:prstGeom prst="rect">
            <a:avLst/>
          </a:prstGeom>
          <a:noFill/>
          <a:ln/>
        </p:spPr>
        <p:txBody>
          <a:bodyPr wrap="none" lIns="0" tIns="0" rIns="0" bIns="0" rtlCol="0" anchor="t">
            <a:normAutofit/>
          </a:bodyPr>
          <a:lstStyle/>
          <a:p>
            <a:pPr marL="0" indent="0" algn="l">
              <a:lnSpc>
                <a:spcPct val="100000"/>
              </a:lnSpc>
              <a:buNone/>
            </a:pPr>
            <a:r>
              <a:rPr lang="en" altLang="en-US" sz="900" i="1" dirty="0">
                <a:solidFill>
                  <a:srgbClr val="0F172A"/>
                </a:solidFill>
                <a:latin typeface="Arial" pitchFamily="34" charset="0"/>
                <a:ea typeface="Arial" pitchFamily="34" charset="-122"/>
                <a:cs typeface="Arial" pitchFamily="34" charset="-120"/>
              </a:rPr>
              <a:t>Technical Schematic: Generation Pipeline v1.0</a:t>
            </a:r>
            <a:endParaRPr lang="en" sz="900" dirty="0"/>
          </a:p>
        </p:txBody>
      </p:sp>
      <p:sp>
        <p:nvSpPr>
          <p:cNvPr id="20" name="TextBox 23"/>
          <p:cNvSpPr/>
          <p:nvPr/>
        </p:nvSpPr>
        <p:spPr>
          <a:xfrm>
            <a:off x="571500" y="619125"/>
            <a:ext cx="11049000" cy="428625"/>
          </a:xfrm>
          <a:prstGeom prst="rect">
            <a:avLst/>
          </a:prstGeom>
          <a:noFill/>
          <a:ln/>
        </p:spPr>
        <p:txBody>
          <a:bodyPr wrap="none" lIns="0" tIns="0" rIns="0" bIns="0" rtlCol="0" anchor="t">
            <a:noAutofit/>
          </a:bodyPr>
          <a:lstStyle/>
          <a:p>
            <a:pPr marL="0" indent="0" algn="l">
              <a:lnSpc>
                <a:spcPct val="100000"/>
              </a:lnSpc>
              <a:buNone/>
            </a:pPr>
            <a:r>
              <a:rPr lang="en" altLang="en-US" sz="36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The Minting Process</a:t>
            </a:r>
            <a:endParaRPr lang="en" sz="3600" dirty="0">
              <a:effectLst>
                <a:outerShdw blurRad="38100" dist="38100" dir="2700000" algn="tl">
                  <a:srgbClr val="000000">
                    <a:alpha val="43137"/>
                  </a:srgbClr>
                </a:outerShdw>
              </a:effectLst>
              <a:latin typeface="+mj-lt"/>
            </a:endParaRPr>
          </a:p>
        </p:txBody>
      </p:sp>
      <p:sp>
        <p:nvSpPr>
          <p:cNvPr id="21" name="TextBox 24">
            <a:extLst>
              <a:ext uri="{FF2B5EF4-FFF2-40B4-BE49-F238E27FC236}">
                <a16:creationId xmlns:a16="http://schemas.microsoft.com/office/drawing/2014/main" id="{0ADDCA28-EBC2-40DF-92A2-CAB931F67284}"/>
              </a:ext>
            </a:extLst>
          </p:cNvPr>
          <p:cNvSpPr/>
          <p:nvPr/>
        </p:nvSpPr>
        <p:spPr>
          <a:xfrm>
            <a:off x="571500" y="34584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22" name="Picture 21">
            <a:extLst>
              <a:ext uri="{FF2B5EF4-FFF2-40B4-BE49-F238E27FC236}">
                <a16:creationId xmlns:a16="http://schemas.microsoft.com/office/drawing/2014/main" id="{33AB2300-1C0B-4F17-ADC5-470D2A1C6A44}"/>
              </a:ext>
            </a:extLst>
          </p:cNvPr>
          <p:cNvPicPr>
            <a:picLocks noChangeAspect="1"/>
          </p:cNvPicPr>
          <p:nvPr/>
        </p:nvPicPr>
        <p:blipFill rotWithShape="1">
          <a:blip r:embed="rId3"/>
          <a:srcRect r="4511" b="35000"/>
          <a:stretch/>
        </p:blipFill>
        <p:spPr>
          <a:xfrm>
            <a:off x="377825" y="-5369495"/>
            <a:ext cx="11262106" cy="43122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ounded Rectangle 1"/>
          <p:cNvSpPr/>
          <p:nvPr/>
        </p:nvSpPr>
        <p:spPr>
          <a:xfrm>
            <a:off x="609600" y="2505075"/>
            <a:ext cx="5372100" cy="1304925"/>
          </a:xfrm>
          <a:prstGeom prst="roundRect">
            <a:avLst>
              <a:gd name="adj" fmla="val 102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10300" y="2505075"/>
            <a:ext cx="5372100" cy="1304925"/>
          </a:xfrm>
          <a:prstGeom prst="roundRect">
            <a:avLst>
              <a:gd name="adj" fmla="val 102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4038600"/>
            <a:ext cx="5372100" cy="1304925"/>
          </a:xfrm>
          <a:prstGeom prst="roundRect">
            <a:avLst>
              <a:gd name="adj" fmla="val 102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10300" y="4038600"/>
            <a:ext cx="5372100" cy="1304925"/>
          </a:xfrm>
          <a:prstGeom prst="roundRect">
            <a:avLst>
              <a:gd name="adj" fmla="val 102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876300" y="2809875"/>
            <a:ext cx="238125" cy="266700"/>
          </a:xfrm>
          <a:prstGeom prst="rect">
            <a:avLst/>
          </a:prstGeom>
        </p:spPr>
      </p:pic>
      <p:pic>
        <p:nvPicPr>
          <p:cNvPr id="7" name="Picture 6" descr="image.png"/>
          <p:cNvPicPr>
            <a:picLocks noChangeAspect="1"/>
          </p:cNvPicPr>
          <p:nvPr/>
        </p:nvPicPr>
        <p:blipFill>
          <a:blip r:embed="rId4"/>
          <a:stretch>
            <a:fillRect/>
          </a:stretch>
        </p:blipFill>
        <p:spPr>
          <a:xfrm>
            <a:off x="6477000" y="2809875"/>
            <a:ext cx="200025" cy="266700"/>
          </a:xfrm>
          <a:prstGeom prst="rect">
            <a:avLst/>
          </a:prstGeom>
        </p:spPr>
      </p:pic>
      <p:pic>
        <p:nvPicPr>
          <p:cNvPr id="8" name="Picture 7" descr="image.png"/>
          <p:cNvPicPr>
            <a:picLocks noChangeAspect="1"/>
          </p:cNvPicPr>
          <p:nvPr/>
        </p:nvPicPr>
        <p:blipFill>
          <a:blip r:embed="rId5"/>
          <a:stretch>
            <a:fillRect/>
          </a:stretch>
        </p:blipFill>
        <p:spPr>
          <a:xfrm>
            <a:off x="876300" y="4343400"/>
            <a:ext cx="333375" cy="266700"/>
          </a:xfrm>
          <a:prstGeom prst="rect">
            <a:avLst/>
          </a:prstGeom>
        </p:spPr>
      </p:pic>
      <p:pic>
        <p:nvPicPr>
          <p:cNvPr id="9" name="Picture 8" descr="image.png"/>
          <p:cNvPicPr>
            <a:picLocks noChangeAspect="1"/>
          </p:cNvPicPr>
          <p:nvPr/>
        </p:nvPicPr>
        <p:blipFill>
          <a:blip r:embed="rId6"/>
          <a:stretch>
            <a:fillRect/>
          </a:stretch>
        </p:blipFill>
        <p:spPr>
          <a:xfrm>
            <a:off x="6477000" y="4343400"/>
            <a:ext cx="266700" cy="266700"/>
          </a:xfrm>
          <a:prstGeom prst="rect">
            <a:avLst/>
          </a:prstGeom>
        </p:spPr>
      </p:pic>
      <p:sp>
        <p:nvSpPr>
          <p:cNvPr id="11" name="TextBox 10"/>
          <p:cNvSpPr txBox="1"/>
          <p:nvPr/>
        </p:nvSpPr>
        <p:spPr>
          <a:xfrm>
            <a:off x="609600" y="704850"/>
            <a:ext cx="8148769" cy="553998"/>
          </a:xfrm>
          <a:prstGeom prst="rect">
            <a:avLst/>
          </a:prstGeom>
          <a:noFill/>
        </p:spPr>
        <p:txBody>
          <a:bodyPr wrap="none" lIns="0" tIns="0" rIns="0" bIns="0" anchor="t">
            <a:spAutoFit/>
          </a:bodyPr>
          <a:lstStyle/>
          <a:p>
            <a:pPr algn="l"/>
            <a:r>
              <a:rPr sz="3600" i="0" u="none" dirty="0">
                <a:solidFill>
                  <a:srgbClr val="0F172A"/>
                </a:solidFill>
                <a:effectLst>
                  <a:outerShdw blurRad="38100" dist="38100" dir="2700000" algn="tl">
                    <a:srgbClr val="000000">
                      <a:alpha val="43137"/>
                    </a:srgbClr>
                  </a:outerShdw>
                </a:effectLst>
                <a:latin typeface="+mj-lt"/>
              </a:rPr>
              <a:t>Project Flow Process: Minting to Verification</a:t>
            </a:r>
          </a:p>
        </p:txBody>
      </p:sp>
      <p:sp>
        <p:nvSpPr>
          <p:cNvPr id="12" name="TextBox 11"/>
          <p:cNvSpPr txBox="1"/>
          <p:nvPr/>
        </p:nvSpPr>
        <p:spPr>
          <a:xfrm>
            <a:off x="1304925" y="2771775"/>
            <a:ext cx="5788223" cy="257175"/>
          </a:xfrm>
          <a:prstGeom prst="rect">
            <a:avLst/>
          </a:prstGeom>
          <a:noFill/>
        </p:spPr>
        <p:txBody>
          <a:bodyPr wrap="none" lIns="0" tIns="0" rIns="0" bIns="0" anchor="t">
            <a:spAutoFit/>
          </a:bodyPr>
          <a:lstStyle/>
          <a:p>
            <a:pPr algn="l"/>
            <a:r>
              <a:rPr sz="1575" b="1" i="0" u="none">
                <a:solidFill>
                  <a:srgbClr val="0F172A"/>
                </a:solidFill>
                <a:latin typeface="Space Grotesk"/>
              </a:rPr>
              <a:t>05. Evaluation &amp; Result Minting</a:t>
            </a:r>
          </a:p>
        </p:txBody>
      </p:sp>
      <p:sp>
        <p:nvSpPr>
          <p:cNvPr id="13" name="TextBox 12"/>
          <p:cNvSpPr txBox="1"/>
          <p:nvPr/>
        </p:nvSpPr>
        <p:spPr>
          <a:xfrm>
            <a:off x="1304925" y="3086100"/>
            <a:ext cx="4505325" cy="457200"/>
          </a:xfrm>
          <a:prstGeom prst="rect">
            <a:avLst/>
          </a:prstGeom>
          <a:noFill/>
        </p:spPr>
        <p:txBody>
          <a:bodyPr wrap="square" lIns="0" tIns="0" rIns="0" bIns="0" anchor="t">
            <a:spAutoFit/>
          </a:bodyPr>
          <a:lstStyle/>
          <a:p>
            <a:pPr algn="l"/>
            <a:r>
              <a:rPr sz="1350" b="0" i="0" u="none">
                <a:solidFill>
                  <a:srgbClr val="334155"/>
                </a:solidFill>
                <a:latin typeface="DM Sans"/>
              </a:rPr>
              <a:t>Uploads marks (2 or 5 subjects); anchors semester results on-chain.</a:t>
            </a:r>
          </a:p>
        </p:txBody>
      </p:sp>
      <p:sp>
        <p:nvSpPr>
          <p:cNvPr id="14" name="TextBox 13"/>
          <p:cNvSpPr txBox="1"/>
          <p:nvPr/>
        </p:nvSpPr>
        <p:spPr>
          <a:xfrm>
            <a:off x="6867525" y="2771775"/>
            <a:ext cx="5324475" cy="257175"/>
          </a:xfrm>
          <a:prstGeom prst="rect">
            <a:avLst/>
          </a:prstGeom>
          <a:noFill/>
        </p:spPr>
        <p:txBody>
          <a:bodyPr wrap="none" lIns="0" tIns="0" rIns="0" bIns="0" anchor="t">
            <a:spAutoFit/>
          </a:bodyPr>
          <a:lstStyle/>
          <a:p>
            <a:pPr algn="l"/>
            <a:r>
              <a:rPr sz="1575" b="1" i="0" u="none">
                <a:solidFill>
                  <a:srgbClr val="0F172A"/>
                </a:solidFill>
                <a:latin typeface="Space Grotesk"/>
              </a:rPr>
              <a:t>06. Final Certificate Generation</a:t>
            </a:r>
          </a:p>
        </p:txBody>
      </p:sp>
      <p:sp>
        <p:nvSpPr>
          <p:cNvPr id="15" name="TextBox 14"/>
          <p:cNvSpPr txBox="1"/>
          <p:nvPr/>
        </p:nvSpPr>
        <p:spPr>
          <a:xfrm>
            <a:off x="6867525" y="3086100"/>
            <a:ext cx="4543425" cy="457200"/>
          </a:xfrm>
          <a:prstGeom prst="rect">
            <a:avLst/>
          </a:prstGeom>
          <a:noFill/>
        </p:spPr>
        <p:txBody>
          <a:bodyPr wrap="square" lIns="0" tIns="0" rIns="0" bIns="0" anchor="t">
            <a:spAutoFit/>
          </a:bodyPr>
          <a:lstStyle/>
          <a:p>
            <a:pPr algn="l"/>
            <a:r>
              <a:rPr sz="1350" b="0" i="0" u="none">
                <a:solidFill>
                  <a:srgbClr val="334155"/>
                </a:solidFill>
                <a:latin typeface="DM Sans"/>
              </a:rPr>
              <a:t>Verifies all required semesters before generating consolidated certificate.</a:t>
            </a:r>
          </a:p>
        </p:txBody>
      </p:sp>
      <p:sp>
        <p:nvSpPr>
          <p:cNvPr id="16" name="TextBox 15"/>
          <p:cNvSpPr txBox="1"/>
          <p:nvPr/>
        </p:nvSpPr>
        <p:spPr>
          <a:xfrm>
            <a:off x="1400175" y="4305300"/>
            <a:ext cx="5663207" cy="257175"/>
          </a:xfrm>
          <a:prstGeom prst="rect">
            <a:avLst/>
          </a:prstGeom>
          <a:noFill/>
        </p:spPr>
        <p:txBody>
          <a:bodyPr wrap="none" lIns="0" tIns="0" rIns="0" bIns="0" anchor="t">
            <a:spAutoFit/>
          </a:bodyPr>
          <a:lstStyle/>
          <a:p>
            <a:pPr algn="l"/>
            <a:r>
              <a:rPr sz="1575" b="1" i="0" u="none">
                <a:solidFill>
                  <a:srgbClr val="0F172A"/>
                </a:solidFill>
                <a:latin typeface="Space Grotesk"/>
              </a:rPr>
              <a:t>07. Certificate Blockchain Anchoring</a:t>
            </a:r>
          </a:p>
        </p:txBody>
      </p:sp>
      <p:sp>
        <p:nvSpPr>
          <p:cNvPr id="17" name="TextBox 16"/>
          <p:cNvSpPr txBox="1"/>
          <p:nvPr/>
        </p:nvSpPr>
        <p:spPr>
          <a:xfrm>
            <a:off x="1400175" y="4619625"/>
            <a:ext cx="4410075" cy="457200"/>
          </a:xfrm>
          <a:prstGeom prst="rect">
            <a:avLst/>
          </a:prstGeom>
          <a:noFill/>
        </p:spPr>
        <p:txBody>
          <a:bodyPr wrap="square" lIns="0" tIns="0" rIns="0" bIns="0" anchor="t">
            <a:spAutoFit/>
          </a:bodyPr>
          <a:lstStyle/>
          <a:p>
            <a:pPr algn="l"/>
            <a:r>
              <a:rPr sz="1350" b="0" i="0" u="none">
                <a:solidFill>
                  <a:srgbClr val="334155"/>
                </a:solidFill>
                <a:latin typeface="DM Sans"/>
              </a:rPr>
              <a:t>Computes cryptographic hash; stores transaction on Ethereum ledger.</a:t>
            </a:r>
          </a:p>
        </p:txBody>
      </p:sp>
      <p:sp>
        <p:nvSpPr>
          <p:cNvPr id="18" name="TextBox 17"/>
          <p:cNvSpPr txBox="1"/>
          <p:nvPr/>
        </p:nvSpPr>
        <p:spPr>
          <a:xfrm>
            <a:off x="6934200" y="4305300"/>
            <a:ext cx="5257800" cy="257175"/>
          </a:xfrm>
          <a:prstGeom prst="rect">
            <a:avLst/>
          </a:prstGeom>
          <a:noFill/>
        </p:spPr>
        <p:txBody>
          <a:bodyPr wrap="none" lIns="0" tIns="0" rIns="0" bIns="0" anchor="t">
            <a:spAutoFit/>
          </a:bodyPr>
          <a:lstStyle/>
          <a:p>
            <a:pPr algn="l"/>
            <a:r>
              <a:rPr sz="1575" b="1" i="0" u="none">
                <a:solidFill>
                  <a:srgbClr val="0F172A"/>
                </a:solidFill>
                <a:latin typeface="Space Grotesk"/>
              </a:rPr>
              <a:t>08. Real-Time Public Verification</a:t>
            </a:r>
          </a:p>
        </p:txBody>
      </p:sp>
      <p:sp>
        <p:nvSpPr>
          <p:cNvPr id="19" name="TextBox 18"/>
          <p:cNvSpPr txBox="1"/>
          <p:nvPr/>
        </p:nvSpPr>
        <p:spPr>
          <a:xfrm>
            <a:off x="6934200" y="4619625"/>
            <a:ext cx="5257800" cy="228600"/>
          </a:xfrm>
          <a:prstGeom prst="rect">
            <a:avLst/>
          </a:prstGeom>
          <a:noFill/>
        </p:spPr>
        <p:txBody>
          <a:bodyPr wrap="none" lIns="0" tIns="0" rIns="0" bIns="0" anchor="t">
            <a:spAutoFit/>
          </a:bodyPr>
          <a:lstStyle/>
          <a:p>
            <a:pPr algn="l"/>
            <a:r>
              <a:rPr sz="1350" b="0" i="0" u="none">
                <a:solidFill>
                  <a:srgbClr val="334155"/>
                </a:solidFill>
                <a:latin typeface="DM Sans"/>
              </a:rPr>
              <a:t>Employers validate Certificate, ID, or Result via QR scan.</a:t>
            </a:r>
          </a:p>
        </p:txBody>
      </p:sp>
      <p:sp>
        <p:nvSpPr>
          <p:cNvPr id="20" name="TextBox 24">
            <a:extLst>
              <a:ext uri="{FF2B5EF4-FFF2-40B4-BE49-F238E27FC236}">
                <a16:creationId xmlns:a16="http://schemas.microsoft.com/office/drawing/2014/main" id="{9CC14D43-0909-4BA5-80C5-8B0AAD43DFC9}"/>
              </a:ext>
            </a:extLst>
          </p:cNvPr>
          <p:cNvSpPr/>
          <p:nvPr/>
        </p:nvSpPr>
        <p:spPr>
          <a:xfrm>
            <a:off x="571500" y="34584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609600" y="704850"/>
            <a:ext cx="7847276" cy="553998"/>
          </a:xfrm>
          <a:prstGeom prst="rect">
            <a:avLst/>
          </a:prstGeom>
          <a:noFill/>
        </p:spPr>
        <p:txBody>
          <a:bodyPr wrap="none" lIns="0" tIns="0" rIns="0" bIns="0" anchor="t">
            <a:spAutoFit/>
          </a:bodyPr>
          <a:lstStyle/>
          <a:p>
            <a:pPr algn="l"/>
            <a:r>
              <a:rPr sz="3600" i="0" u="none" dirty="0">
                <a:solidFill>
                  <a:srgbClr val="0F172A"/>
                </a:solidFill>
                <a:effectLst>
                  <a:outerShdw blurRad="38100" dist="38100" dir="2700000" algn="tl">
                    <a:srgbClr val="000000">
                      <a:alpha val="43137"/>
                    </a:srgbClr>
                  </a:outerShdw>
                </a:effectLst>
                <a:latin typeface="+mj-lt"/>
              </a:rPr>
              <a:t>Cryptographic Hash Anchoring &amp; Minting</a:t>
            </a:r>
          </a:p>
        </p:txBody>
      </p:sp>
      <p:sp>
        <p:nvSpPr>
          <p:cNvPr id="5" name="TextBox 24">
            <a:extLst>
              <a:ext uri="{FF2B5EF4-FFF2-40B4-BE49-F238E27FC236}">
                <a16:creationId xmlns:a16="http://schemas.microsoft.com/office/drawing/2014/main" id="{200F6055-5021-46B9-8ACB-23D1818BD800}"/>
              </a:ext>
            </a:extLst>
          </p:cNvPr>
          <p:cNvSpPr/>
          <p:nvPr/>
        </p:nvSpPr>
        <p:spPr>
          <a:xfrm>
            <a:off x="571500" y="34584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ounded Rectangle 1"/>
          <p:cNvSpPr/>
          <p:nvPr/>
        </p:nvSpPr>
        <p:spPr>
          <a:xfrm>
            <a:off x="609600" y="1371600"/>
            <a:ext cx="10972800" cy="571500"/>
          </a:xfrm>
          <a:prstGeom prst="roundRect">
            <a:avLst>
              <a:gd name="adj" fmla="val 16666"/>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995612"/>
            <a:ext cx="3479750" cy="2581275"/>
          </a:xfrm>
          <a:prstGeom prst="roundRect">
            <a:avLst>
              <a:gd name="adj" fmla="val 5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56050" y="3224212"/>
            <a:ext cx="3479750" cy="2124075"/>
          </a:xfrm>
          <a:prstGeom prst="roundRect">
            <a:avLst>
              <a:gd name="adj" fmla="val 62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02500" y="3224212"/>
            <a:ext cx="3479750" cy="2124075"/>
          </a:xfrm>
          <a:prstGeom prst="roundRect">
            <a:avLst>
              <a:gd name="adj" fmla="val 62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704850"/>
            <a:ext cx="7400680" cy="553998"/>
          </a:xfrm>
          <a:prstGeom prst="rect">
            <a:avLst/>
          </a:prstGeom>
          <a:noFill/>
        </p:spPr>
        <p:txBody>
          <a:bodyPr wrap="none" lIns="0" tIns="0" rIns="0" bIns="0" anchor="t">
            <a:spAutoFit/>
          </a:bodyPr>
          <a:lstStyle/>
          <a:p>
            <a:pPr algn="l"/>
            <a:r>
              <a:rPr sz="3600" i="0" u="none" dirty="0">
                <a:solidFill>
                  <a:srgbClr val="0F172A"/>
                </a:solidFill>
                <a:effectLst>
                  <a:outerShdw blurRad="38100" dist="38100" dir="2700000" algn="tl">
                    <a:srgbClr val="000000">
                      <a:alpha val="43137"/>
                    </a:srgbClr>
                  </a:outerShdw>
                </a:effectLst>
                <a:latin typeface="+mj-lt"/>
              </a:rPr>
              <a:t>Prerequisites &amp; Package Dependencies</a:t>
            </a:r>
          </a:p>
        </p:txBody>
      </p:sp>
      <p:sp>
        <p:nvSpPr>
          <p:cNvPr id="8" name="TextBox 7"/>
          <p:cNvSpPr txBox="1"/>
          <p:nvPr/>
        </p:nvSpPr>
        <p:spPr>
          <a:xfrm>
            <a:off x="838200" y="1543050"/>
            <a:ext cx="11353800" cy="228600"/>
          </a:xfrm>
          <a:prstGeom prst="rect">
            <a:avLst/>
          </a:prstGeom>
          <a:noFill/>
        </p:spPr>
        <p:txBody>
          <a:bodyPr wrap="none" lIns="0" tIns="0" rIns="0" bIns="0" anchor="t">
            <a:spAutoFit/>
          </a:bodyPr>
          <a:lstStyle/>
          <a:p>
            <a:pPr algn="l"/>
            <a:r>
              <a:rPr sz="1350" b="1" i="0" u="none">
                <a:solidFill>
                  <a:srgbClr val="1E3A8A"/>
                </a:solidFill>
                <a:latin typeface="DM Sans"/>
              </a:rPr>
              <a:t>Prerequisites: Node.js (v16.x or higher recommended), npm (Node Package Manager), MongoDB Database &amp; MetaMask.</a:t>
            </a:r>
          </a:p>
        </p:txBody>
      </p:sp>
      <p:sp>
        <p:nvSpPr>
          <p:cNvPr id="9" name="TextBox 8"/>
          <p:cNvSpPr txBox="1"/>
          <p:nvPr/>
        </p:nvSpPr>
        <p:spPr>
          <a:xfrm>
            <a:off x="876300" y="3262312"/>
            <a:ext cx="3867084" cy="257175"/>
          </a:xfrm>
          <a:prstGeom prst="rect">
            <a:avLst/>
          </a:prstGeom>
          <a:noFill/>
        </p:spPr>
        <p:txBody>
          <a:bodyPr wrap="none" lIns="0" tIns="0" rIns="0" bIns="0" anchor="t">
            <a:spAutoFit/>
          </a:bodyPr>
          <a:lstStyle/>
          <a:p>
            <a:pPr algn="l"/>
            <a:r>
              <a:rPr sz="1575" b="1" i="0" u="none">
                <a:solidFill>
                  <a:srgbClr val="0052FF"/>
                </a:solidFill>
                <a:latin typeface="Space Grotesk"/>
              </a:rPr>
              <a:t>Step 1: Backend (`/backend`)</a:t>
            </a:r>
          </a:p>
        </p:txBody>
      </p:sp>
      <p:sp>
        <p:nvSpPr>
          <p:cNvPr id="10" name="TextBox 9"/>
          <p:cNvSpPr txBox="1"/>
          <p:nvPr/>
        </p:nvSpPr>
        <p:spPr>
          <a:xfrm>
            <a:off x="4622750" y="3490912"/>
            <a:ext cx="2504019" cy="242374"/>
          </a:xfrm>
          <a:prstGeom prst="rect">
            <a:avLst/>
          </a:prstGeom>
          <a:noFill/>
        </p:spPr>
        <p:txBody>
          <a:bodyPr wrap="none" lIns="0" tIns="0" rIns="0" bIns="0" anchor="t">
            <a:spAutoFit/>
          </a:bodyPr>
          <a:lstStyle/>
          <a:p>
            <a:pPr algn="l"/>
            <a:r>
              <a:rPr sz="1575" b="1" i="0" u="none" dirty="0">
                <a:solidFill>
                  <a:srgbClr val="0070C0"/>
                </a:solidFill>
                <a:latin typeface="Space Grotesk"/>
              </a:rPr>
              <a:t>Step 2: Frontend (`/frontend`)</a:t>
            </a:r>
          </a:p>
        </p:txBody>
      </p:sp>
      <p:sp>
        <p:nvSpPr>
          <p:cNvPr id="11" name="TextBox 10"/>
          <p:cNvSpPr txBox="1"/>
          <p:nvPr/>
        </p:nvSpPr>
        <p:spPr>
          <a:xfrm>
            <a:off x="8369200" y="3490912"/>
            <a:ext cx="3822799" cy="257175"/>
          </a:xfrm>
          <a:prstGeom prst="rect">
            <a:avLst/>
          </a:prstGeom>
          <a:noFill/>
        </p:spPr>
        <p:txBody>
          <a:bodyPr wrap="none" lIns="0" tIns="0" rIns="0" bIns="0" anchor="t">
            <a:spAutoFit/>
          </a:bodyPr>
          <a:lstStyle/>
          <a:p>
            <a:pPr algn="l"/>
            <a:r>
              <a:rPr sz="1575" b="1" i="0" u="none">
                <a:solidFill>
                  <a:srgbClr val="6366F1"/>
                </a:solidFill>
                <a:latin typeface="Space Grotesk"/>
              </a:rPr>
              <a:t>Step 3: Web3 (`/ethereum`)</a:t>
            </a:r>
          </a:p>
        </p:txBody>
      </p:sp>
      <p:sp>
        <p:nvSpPr>
          <p:cNvPr id="12" name="TextBox 11"/>
          <p:cNvSpPr txBox="1"/>
          <p:nvPr/>
        </p:nvSpPr>
        <p:spPr>
          <a:xfrm>
            <a:off x="876300" y="36528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express:</a:t>
            </a:r>
            <a:r>
              <a:rPr sz="1350" b="0" i="0" u="none">
                <a:solidFill>
                  <a:srgbClr val="334155"/>
                </a:solidFill>
                <a:latin typeface="DM Sans"/>
              </a:rPr>
              <a:t> REST API framework</a:t>
            </a:r>
          </a:p>
        </p:txBody>
      </p:sp>
      <p:sp>
        <p:nvSpPr>
          <p:cNvPr id="13" name="TextBox 12"/>
          <p:cNvSpPr txBox="1"/>
          <p:nvPr/>
        </p:nvSpPr>
        <p:spPr>
          <a:xfrm>
            <a:off x="876300" y="3976687"/>
            <a:ext cx="3041600" cy="457200"/>
          </a:xfrm>
          <a:prstGeom prst="rect">
            <a:avLst/>
          </a:prstGeom>
          <a:noFill/>
        </p:spPr>
        <p:txBody>
          <a:bodyPr wrap="square" lIns="0" tIns="0" rIns="0" bIns="0" anchor="t">
            <a:spAutoFit/>
          </a:bodyPr>
          <a:lstStyle/>
          <a:p>
            <a:pPr algn="l"/>
            <a:r>
              <a:rPr sz="1350" b="1" i="0" u="none">
                <a:solidFill>
                  <a:srgbClr val="334155"/>
                </a:solidFill>
                <a:latin typeface="DM Sans"/>
              </a:rPr>
              <a:t>mongoose:</a:t>
            </a:r>
            <a:r>
              <a:rPr sz="1350" b="0" i="0" u="none">
                <a:solidFill>
                  <a:srgbClr val="334155"/>
                </a:solidFill>
                <a:latin typeface="DM Sans"/>
              </a:rPr>
              <a:t> MongoDB object modeling</a:t>
            </a:r>
          </a:p>
        </p:txBody>
      </p:sp>
      <p:sp>
        <p:nvSpPr>
          <p:cNvPr id="14" name="TextBox 13"/>
          <p:cNvSpPr txBox="1"/>
          <p:nvPr/>
        </p:nvSpPr>
        <p:spPr>
          <a:xfrm>
            <a:off x="876300" y="45291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ethers:</a:t>
            </a:r>
            <a:r>
              <a:rPr sz="1350" b="0" i="0" u="none">
                <a:solidFill>
                  <a:srgbClr val="334155"/>
                </a:solidFill>
                <a:latin typeface="DM Sans"/>
              </a:rPr>
              <a:t> Ethereum interaction</a:t>
            </a:r>
          </a:p>
        </p:txBody>
      </p:sp>
      <p:sp>
        <p:nvSpPr>
          <p:cNvPr id="15" name="TextBox 14"/>
          <p:cNvSpPr txBox="1"/>
          <p:nvPr/>
        </p:nvSpPr>
        <p:spPr>
          <a:xfrm>
            <a:off x="876300" y="4852987"/>
            <a:ext cx="3041600" cy="457200"/>
          </a:xfrm>
          <a:prstGeom prst="rect">
            <a:avLst/>
          </a:prstGeom>
          <a:noFill/>
        </p:spPr>
        <p:txBody>
          <a:bodyPr wrap="square" lIns="0" tIns="0" rIns="0" bIns="0" anchor="t">
            <a:spAutoFit/>
          </a:bodyPr>
          <a:lstStyle/>
          <a:p>
            <a:pPr algn="l"/>
            <a:r>
              <a:rPr sz="1350" b="1" i="0" u="none">
                <a:solidFill>
                  <a:srgbClr val="334155"/>
                </a:solidFill>
                <a:latin typeface="DM Sans"/>
              </a:rPr>
              <a:t>cors &amp; multer:</a:t>
            </a:r>
            <a:r>
              <a:rPr sz="1350" b="0" i="0" u="none">
                <a:solidFill>
                  <a:srgbClr val="334155"/>
                </a:solidFill>
                <a:latin typeface="DM Sans"/>
              </a:rPr>
              <a:t> CORS and file uploads</a:t>
            </a:r>
          </a:p>
        </p:txBody>
      </p:sp>
      <p:sp>
        <p:nvSpPr>
          <p:cNvPr id="16" name="TextBox 15"/>
          <p:cNvSpPr txBox="1"/>
          <p:nvPr/>
        </p:nvSpPr>
        <p:spPr>
          <a:xfrm>
            <a:off x="4622750" y="38814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react &amp; vite:</a:t>
            </a:r>
            <a:r>
              <a:rPr sz="1350" b="0" i="0" u="none">
                <a:solidFill>
                  <a:srgbClr val="334155"/>
                </a:solidFill>
                <a:latin typeface="DM Sans"/>
              </a:rPr>
              <a:t> Core UI and bundler</a:t>
            </a:r>
          </a:p>
        </p:txBody>
      </p:sp>
      <p:sp>
        <p:nvSpPr>
          <p:cNvPr id="17" name="TextBox 16"/>
          <p:cNvSpPr txBox="1"/>
          <p:nvPr/>
        </p:nvSpPr>
        <p:spPr>
          <a:xfrm>
            <a:off x="4622750" y="420528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react-router-dom:</a:t>
            </a:r>
            <a:r>
              <a:rPr sz="1350" b="0" i="0" u="none">
                <a:solidFill>
                  <a:srgbClr val="334155"/>
                </a:solidFill>
                <a:latin typeface="DM Sans"/>
              </a:rPr>
              <a:t> Client routing</a:t>
            </a:r>
          </a:p>
        </p:txBody>
      </p:sp>
      <p:sp>
        <p:nvSpPr>
          <p:cNvPr id="18" name="TextBox 17"/>
          <p:cNvSpPr txBox="1"/>
          <p:nvPr/>
        </p:nvSpPr>
        <p:spPr>
          <a:xfrm>
            <a:off x="4622750" y="45291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qrcode.react:</a:t>
            </a:r>
            <a:r>
              <a:rPr sz="1350" b="0" i="0" u="none">
                <a:solidFill>
                  <a:srgbClr val="334155"/>
                </a:solidFill>
                <a:latin typeface="DM Sans"/>
              </a:rPr>
              <a:t> QR code rendering</a:t>
            </a:r>
          </a:p>
        </p:txBody>
      </p:sp>
      <p:sp>
        <p:nvSpPr>
          <p:cNvPr id="19" name="TextBox 18"/>
          <p:cNvSpPr txBox="1"/>
          <p:nvPr/>
        </p:nvSpPr>
        <p:spPr>
          <a:xfrm>
            <a:off x="4622750" y="485298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jspdf &amp; bootstrap:</a:t>
            </a:r>
            <a:r>
              <a:rPr sz="1350" b="0" i="0" u="none">
                <a:solidFill>
                  <a:srgbClr val="334155"/>
                </a:solidFill>
                <a:latin typeface="DM Sans"/>
              </a:rPr>
              <a:t> PDF export &amp; UI</a:t>
            </a:r>
          </a:p>
        </p:txBody>
      </p:sp>
      <p:sp>
        <p:nvSpPr>
          <p:cNvPr id="20" name="TextBox 19"/>
          <p:cNvSpPr txBox="1"/>
          <p:nvPr/>
        </p:nvSpPr>
        <p:spPr>
          <a:xfrm>
            <a:off x="8369200" y="38814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hardhat:</a:t>
            </a:r>
            <a:r>
              <a:rPr sz="1350" b="0" i="0" u="none">
                <a:solidFill>
                  <a:srgbClr val="334155"/>
                </a:solidFill>
                <a:latin typeface="DM Sans"/>
              </a:rPr>
              <a:t> Local Ethereum node</a:t>
            </a:r>
          </a:p>
        </p:txBody>
      </p:sp>
      <p:sp>
        <p:nvSpPr>
          <p:cNvPr id="21" name="TextBox 20"/>
          <p:cNvSpPr txBox="1"/>
          <p:nvPr/>
        </p:nvSpPr>
        <p:spPr>
          <a:xfrm>
            <a:off x="8369200" y="420528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hardhat-toolbox:</a:t>
            </a:r>
            <a:r>
              <a:rPr sz="1350" b="0" i="0" u="none">
                <a:solidFill>
                  <a:srgbClr val="334155"/>
                </a:solidFill>
                <a:latin typeface="DM Sans"/>
              </a:rPr>
              <a:t> Testing plugins</a:t>
            </a:r>
          </a:p>
        </p:txBody>
      </p:sp>
      <p:sp>
        <p:nvSpPr>
          <p:cNvPr id="22" name="TextBox 21"/>
          <p:cNvSpPr txBox="1"/>
          <p:nvPr/>
        </p:nvSpPr>
        <p:spPr>
          <a:xfrm>
            <a:off x="8369200" y="452913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keccak / crypto:</a:t>
            </a:r>
            <a:r>
              <a:rPr sz="1350" b="0" i="0" u="none">
                <a:solidFill>
                  <a:srgbClr val="334155"/>
                </a:solidFill>
                <a:latin typeface="DM Sans"/>
              </a:rPr>
              <a:t> Hash utilities</a:t>
            </a:r>
          </a:p>
        </p:txBody>
      </p:sp>
      <p:sp>
        <p:nvSpPr>
          <p:cNvPr id="23" name="TextBox 22"/>
          <p:cNvSpPr txBox="1"/>
          <p:nvPr/>
        </p:nvSpPr>
        <p:spPr>
          <a:xfrm>
            <a:off x="8369200" y="4852987"/>
            <a:ext cx="3682937" cy="228600"/>
          </a:xfrm>
          <a:prstGeom prst="rect">
            <a:avLst/>
          </a:prstGeom>
          <a:noFill/>
        </p:spPr>
        <p:txBody>
          <a:bodyPr wrap="none" lIns="0" tIns="0" rIns="0" bIns="0" anchor="t">
            <a:spAutoFit/>
          </a:bodyPr>
          <a:lstStyle/>
          <a:p>
            <a:pPr algn="l"/>
            <a:r>
              <a:rPr sz="1350" b="1" i="0" u="none">
                <a:solidFill>
                  <a:srgbClr val="334155"/>
                </a:solidFill>
                <a:latin typeface="DM Sans"/>
              </a:rPr>
              <a:t>Solidity:</a:t>
            </a:r>
            <a:r>
              <a:rPr sz="1350" b="0" i="0" u="none">
                <a:solidFill>
                  <a:srgbClr val="334155"/>
                </a:solidFill>
                <a:latin typeface="DM Sans"/>
              </a:rPr>
              <a:t> Smart contract compiler</a:t>
            </a:r>
          </a:p>
        </p:txBody>
      </p:sp>
      <p:sp>
        <p:nvSpPr>
          <p:cNvPr id="24" name="TextBox 24">
            <a:extLst>
              <a:ext uri="{FF2B5EF4-FFF2-40B4-BE49-F238E27FC236}">
                <a16:creationId xmlns:a16="http://schemas.microsoft.com/office/drawing/2014/main" id="{9759C19B-EF48-4582-B314-4CA2E9C08D26}"/>
              </a:ext>
            </a:extLst>
          </p:cNvPr>
          <p:cNvSpPr/>
          <p:nvPr/>
        </p:nvSpPr>
        <p:spPr>
          <a:xfrm>
            <a:off x="571500" y="47919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71500" y="367430"/>
            <a:ext cx="5263662" cy="428625"/>
          </a:xfrm>
          <a:prstGeom prst="rect">
            <a:avLst/>
          </a:prstGeom>
          <a:noFill/>
          <a:ln/>
        </p:spPr>
        <p:txBody>
          <a:bodyPr wrap="none" lIns="0" tIns="0" rIns="0" bIns="0" rtlCol="0" anchor="t">
            <a:noAutofit/>
          </a:bodyPr>
          <a:lstStyle/>
          <a:p>
            <a:pPr marL="0" indent="0" algn="l">
              <a:lnSpc>
                <a:spcPct val="100000"/>
              </a:lnSpc>
              <a:buNone/>
            </a:pPr>
            <a:r>
              <a:rPr lang="en-IN" sz="3200" dirty="0">
                <a:solidFill>
                  <a:srgbClr val="0070C0"/>
                </a:solidFill>
                <a:effectLst>
                  <a:outerShdw blurRad="38100" dist="38100" dir="2700000" algn="tl">
                    <a:srgbClr val="000000">
                      <a:alpha val="43137"/>
                    </a:srgbClr>
                  </a:outerShdw>
                </a:effectLst>
                <a:latin typeface="+mj-lt"/>
              </a:rPr>
              <a:t>Instruc</a:t>
            </a:r>
            <a:r>
              <a:rPr lang="en-IN" sz="3200" dirty="0">
                <a:solidFill>
                  <a:srgbClr val="7030A0"/>
                </a:solidFill>
                <a:effectLst>
                  <a:outerShdw blurRad="38100" dist="38100" dir="2700000" algn="tl">
                    <a:srgbClr val="000000">
                      <a:alpha val="43137"/>
                    </a:srgbClr>
                  </a:outerShdw>
                </a:effectLst>
                <a:latin typeface="+mj-lt"/>
              </a:rPr>
              <a:t>tions</a:t>
            </a:r>
            <a:r>
              <a:rPr lang="en-IN" altLang="en-US" sz="3200" dirty="0">
                <a:solidFill>
                  <a:srgbClr val="7030A0"/>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solidFill>
                <a:srgbClr val="7030A0"/>
              </a:solidFill>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166226"/>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19" name="TextBox 18">
            <a:extLst>
              <a:ext uri="{FF2B5EF4-FFF2-40B4-BE49-F238E27FC236}">
                <a16:creationId xmlns:a16="http://schemas.microsoft.com/office/drawing/2014/main" id="{9A44F32E-58C9-42A2-B221-2CF0C2A0917A}"/>
              </a:ext>
            </a:extLst>
          </p:cNvPr>
          <p:cNvSpPr txBox="1"/>
          <p:nvPr/>
        </p:nvSpPr>
        <p:spPr>
          <a:xfrm>
            <a:off x="492369" y="759640"/>
            <a:ext cx="11207261" cy="355354"/>
          </a:xfrm>
          <a:prstGeom prst="rect">
            <a:avLst/>
          </a:prstGeom>
          <a:noFill/>
        </p:spPr>
        <p:txBody>
          <a:bodyPr wrap="square">
            <a:spAutoFit/>
          </a:bodyPr>
          <a:lstStyle/>
          <a:p>
            <a:pPr marL="0" indent="0" algn="l">
              <a:lnSpc>
                <a:spcPct val="150000"/>
              </a:lnSpc>
              <a:buNone/>
            </a:pPr>
            <a:r>
              <a:rPr lang="en-US" altLang="en-US" sz="1300" dirty="0">
                <a:solidFill>
                  <a:srgbClr val="1E293B"/>
                </a:solidFill>
                <a:latin typeface="Arial" pitchFamily="34" charset="0"/>
                <a:ea typeface="Arial" pitchFamily="34" charset="-122"/>
                <a:cs typeface="Arial" pitchFamily="34" charset="-120"/>
              </a:rPr>
              <a:t>Your development servers are currently running for all three modules (</a:t>
            </a:r>
            <a:r>
              <a:rPr lang="en-US" altLang="en-US" sz="1300" dirty="0" err="1">
                <a:solidFill>
                  <a:srgbClr val="1E293B"/>
                </a:solidFill>
                <a:latin typeface="Arial" pitchFamily="34" charset="0"/>
                <a:ea typeface="Arial" pitchFamily="34" charset="-122"/>
                <a:cs typeface="Arial" pitchFamily="34" charset="-120"/>
              </a:rPr>
              <a:t>npx</a:t>
            </a:r>
            <a:r>
              <a:rPr lang="en-US" altLang="en-US" sz="1300" dirty="0">
                <a:solidFill>
                  <a:srgbClr val="1E293B"/>
                </a:solidFill>
                <a:latin typeface="Arial" pitchFamily="34" charset="0"/>
                <a:ea typeface="Arial" pitchFamily="34" charset="-122"/>
                <a:cs typeface="Arial" pitchFamily="34" charset="-120"/>
              </a:rPr>
              <a:t> hardhat node, </a:t>
            </a:r>
            <a:r>
              <a:rPr lang="en-US" altLang="en-US" sz="1300" dirty="0" err="1">
                <a:solidFill>
                  <a:srgbClr val="1E293B"/>
                </a:solidFill>
                <a:latin typeface="Arial" pitchFamily="34" charset="0"/>
                <a:ea typeface="Arial" pitchFamily="34" charset="-122"/>
                <a:cs typeface="Arial" pitchFamily="34" charset="-120"/>
              </a:rPr>
              <a:t>npm</a:t>
            </a:r>
            <a:r>
              <a:rPr lang="en-US" altLang="en-US" sz="1300" dirty="0">
                <a:solidFill>
                  <a:srgbClr val="1E293B"/>
                </a:solidFill>
                <a:latin typeface="Arial" pitchFamily="34" charset="0"/>
                <a:ea typeface="Arial" pitchFamily="34" charset="-122"/>
                <a:cs typeface="Arial" pitchFamily="34" charset="-120"/>
              </a:rPr>
              <a:t> start for backend, and </a:t>
            </a:r>
            <a:r>
              <a:rPr lang="en-US" altLang="en-US" sz="1300" dirty="0" err="1">
                <a:solidFill>
                  <a:srgbClr val="1E293B"/>
                </a:solidFill>
                <a:latin typeface="Arial" pitchFamily="34" charset="0"/>
                <a:ea typeface="Arial" pitchFamily="34" charset="-122"/>
                <a:cs typeface="Arial" pitchFamily="34" charset="-120"/>
              </a:rPr>
              <a:t>npm</a:t>
            </a:r>
            <a:r>
              <a:rPr lang="en-US" altLang="en-US" sz="1300" dirty="0">
                <a:solidFill>
                  <a:srgbClr val="1E293B"/>
                </a:solidFill>
                <a:latin typeface="Arial" pitchFamily="34" charset="0"/>
                <a:ea typeface="Arial" pitchFamily="34" charset="-122"/>
                <a:cs typeface="Arial" pitchFamily="34" charset="-120"/>
              </a:rPr>
              <a:t> run dev for frontend).</a:t>
            </a:r>
          </a:p>
        </p:txBody>
      </p:sp>
      <p:sp>
        <p:nvSpPr>
          <p:cNvPr id="28" name="TextBox 27">
            <a:extLst>
              <a:ext uri="{FF2B5EF4-FFF2-40B4-BE49-F238E27FC236}">
                <a16:creationId xmlns:a16="http://schemas.microsoft.com/office/drawing/2014/main" id="{5249F814-50DC-475D-A84D-2AA7BC2B3AE3}"/>
              </a:ext>
            </a:extLst>
          </p:cNvPr>
          <p:cNvSpPr txBox="1"/>
          <p:nvPr/>
        </p:nvSpPr>
        <p:spPr>
          <a:xfrm>
            <a:off x="561243" y="1160600"/>
            <a:ext cx="3931626" cy="338554"/>
          </a:xfrm>
          <a:prstGeom prst="rect">
            <a:avLst/>
          </a:prstGeom>
          <a:noFill/>
        </p:spPr>
        <p:txBody>
          <a:bodyPr wrap="square">
            <a:spAutoFit/>
          </a:bodyPr>
          <a:lstStyle>
            <a:lvl1pPr>
              <a:defRPr sz="1600" b="1">
                <a:solidFill>
                  <a:schemeClr val="bg2">
                    <a:lumMod val="25000"/>
                  </a:schemeClr>
                </a:solidFill>
              </a:defRPr>
            </a:lvl1pPr>
          </a:lstStyle>
          <a:p>
            <a:pPr marL="342900" indent="-342900">
              <a:buFont typeface="+mj-lt"/>
              <a:buAutoNum type="arabicPeriod"/>
            </a:pPr>
            <a:r>
              <a:rPr lang="en-IN" dirty="0"/>
              <a:t> Ethereum Directory</a:t>
            </a:r>
          </a:p>
        </p:txBody>
      </p:sp>
      <p:sp>
        <p:nvSpPr>
          <p:cNvPr id="30" name="TextBox 29">
            <a:extLst>
              <a:ext uri="{FF2B5EF4-FFF2-40B4-BE49-F238E27FC236}">
                <a16:creationId xmlns:a16="http://schemas.microsoft.com/office/drawing/2014/main" id="{BADFA388-C6D1-4E24-AB7C-113A05C32F3B}"/>
              </a:ext>
            </a:extLst>
          </p:cNvPr>
          <p:cNvSpPr txBox="1"/>
          <p:nvPr/>
        </p:nvSpPr>
        <p:spPr>
          <a:xfrm>
            <a:off x="1046284" y="1412267"/>
            <a:ext cx="595239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Go to the Ethereum directory to start the local blockchain node (Ganache/Hardhat): </a:t>
            </a:r>
            <a:endParaRPr lang="en-IN" sz="1200" dirty="0"/>
          </a:p>
        </p:txBody>
      </p:sp>
      <p:sp>
        <p:nvSpPr>
          <p:cNvPr id="31" name="TextBox 30">
            <a:extLst>
              <a:ext uri="{FF2B5EF4-FFF2-40B4-BE49-F238E27FC236}">
                <a16:creationId xmlns:a16="http://schemas.microsoft.com/office/drawing/2014/main" id="{C501CA6B-61F4-4A9A-B424-ACB496A1B5F3}"/>
              </a:ext>
            </a:extLst>
          </p:cNvPr>
          <p:cNvSpPr txBox="1"/>
          <p:nvPr/>
        </p:nvSpPr>
        <p:spPr>
          <a:xfrm>
            <a:off x="1044084" y="2204444"/>
            <a:ext cx="4855554" cy="461665"/>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Open another terminal for the Ethereum directory to deploy the smart contract to the local network:</a:t>
            </a:r>
            <a:endParaRPr lang="en-IN" sz="1200" dirty="0"/>
          </a:p>
        </p:txBody>
      </p:sp>
      <p:sp>
        <p:nvSpPr>
          <p:cNvPr id="34" name="TextBox 33">
            <a:extLst>
              <a:ext uri="{FF2B5EF4-FFF2-40B4-BE49-F238E27FC236}">
                <a16:creationId xmlns:a16="http://schemas.microsoft.com/office/drawing/2014/main" id="{6DA6C839-F765-476F-9AD5-7FB85B9A3E1B}"/>
              </a:ext>
            </a:extLst>
          </p:cNvPr>
          <p:cNvSpPr txBox="1"/>
          <p:nvPr/>
        </p:nvSpPr>
        <p:spPr>
          <a:xfrm>
            <a:off x="1046283" y="3432063"/>
            <a:ext cx="609746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IN" sz="1200" dirty="0"/>
              <a:t>Start the backend server:</a:t>
            </a:r>
          </a:p>
        </p:txBody>
      </p:sp>
      <p:sp>
        <p:nvSpPr>
          <p:cNvPr id="38" name="TextBox 37">
            <a:extLst>
              <a:ext uri="{FF2B5EF4-FFF2-40B4-BE49-F238E27FC236}">
                <a16:creationId xmlns:a16="http://schemas.microsoft.com/office/drawing/2014/main" id="{DF143E16-98EF-4015-843F-84D79FA281A5}"/>
              </a:ext>
            </a:extLst>
          </p:cNvPr>
          <p:cNvSpPr txBox="1"/>
          <p:nvPr/>
        </p:nvSpPr>
        <p:spPr>
          <a:xfrm>
            <a:off x="1044084" y="5744923"/>
            <a:ext cx="609746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Start the frontend development server:</a:t>
            </a:r>
            <a:endParaRPr lang="en-IN" sz="1200" dirty="0"/>
          </a:p>
        </p:txBody>
      </p:sp>
      <p:sp>
        <p:nvSpPr>
          <p:cNvPr id="42" name="TextBox 41">
            <a:extLst>
              <a:ext uri="{FF2B5EF4-FFF2-40B4-BE49-F238E27FC236}">
                <a16:creationId xmlns:a16="http://schemas.microsoft.com/office/drawing/2014/main" id="{262623EA-6C75-4AA7-98D7-045BA3E0AFD7}"/>
              </a:ext>
            </a:extLst>
          </p:cNvPr>
          <p:cNvSpPr txBox="1"/>
          <p:nvPr/>
        </p:nvSpPr>
        <p:spPr>
          <a:xfrm>
            <a:off x="1046283" y="6529225"/>
            <a:ext cx="609746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solidFill>
                  <a:schemeClr val="bg2">
                    <a:lumMod val="25000"/>
                  </a:schemeClr>
                </a:solidFill>
              </a:rPr>
              <a:t>The frontend should be accessible at http://localhost:5173/.</a:t>
            </a:r>
            <a:endParaRPr lang="en-IN" sz="1200" dirty="0">
              <a:solidFill>
                <a:schemeClr val="bg2">
                  <a:lumMod val="25000"/>
                </a:schemeClr>
              </a:solidFill>
            </a:endParaRPr>
          </a:p>
        </p:txBody>
      </p:sp>
      <p:sp>
        <p:nvSpPr>
          <p:cNvPr id="44" name="TextBox 43">
            <a:extLst>
              <a:ext uri="{FF2B5EF4-FFF2-40B4-BE49-F238E27FC236}">
                <a16:creationId xmlns:a16="http://schemas.microsoft.com/office/drawing/2014/main" id="{88F883E2-968C-4AF9-8A2F-0CE4739F051A}"/>
              </a:ext>
            </a:extLst>
          </p:cNvPr>
          <p:cNvSpPr txBox="1"/>
          <p:nvPr/>
        </p:nvSpPr>
        <p:spPr>
          <a:xfrm>
            <a:off x="571500" y="3194119"/>
            <a:ext cx="6097464" cy="338554"/>
          </a:xfrm>
          <a:prstGeom prst="rect">
            <a:avLst/>
          </a:prstGeom>
          <a:noFill/>
        </p:spPr>
        <p:txBody>
          <a:bodyPr wrap="square">
            <a:spAutoFit/>
          </a:bodyPr>
          <a:lstStyle>
            <a:lvl1pPr marL="342900" indent="-342900">
              <a:buFont typeface="+mj-lt"/>
              <a:buAutoNum type="arabicPeriod"/>
              <a:defRPr sz="1600" b="1">
                <a:solidFill>
                  <a:schemeClr val="bg2">
                    <a:lumMod val="25000"/>
                  </a:schemeClr>
                </a:solidFill>
              </a:defRPr>
            </a:lvl1pPr>
          </a:lstStyle>
          <a:p>
            <a:pPr>
              <a:buFont typeface="+mj-lt"/>
              <a:buAutoNum type="arabicPeriod" startAt="2"/>
            </a:pPr>
            <a:r>
              <a:rPr lang="en-IN" dirty="0"/>
              <a:t>Backend Directory</a:t>
            </a:r>
          </a:p>
        </p:txBody>
      </p:sp>
      <p:sp>
        <p:nvSpPr>
          <p:cNvPr id="45" name="TextBox 44">
            <a:extLst>
              <a:ext uri="{FF2B5EF4-FFF2-40B4-BE49-F238E27FC236}">
                <a16:creationId xmlns:a16="http://schemas.microsoft.com/office/drawing/2014/main" id="{F07660B3-EA0D-4DAB-B75C-A2F4A06C187D}"/>
              </a:ext>
            </a:extLst>
          </p:cNvPr>
          <p:cNvSpPr txBox="1"/>
          <p:nvPr/>
        </p:nvSpPr>
        <p:spPr>
          <a:xfrm>
            <a:off x="571500" y="5471808"/>
            <a:ext cx="6097464" cy="338554"/>
          </a:xfrm>
          <a:prstGeom prst="rect">
            <a:avLst/>
          </a:prstGeom>
          <a:noFill/>
        </p:spPr>
        <p:txBody>
          <a:bodyPr wrap="square">
            <a:spAutoFit/>
          </a:bodyPr>
          <a:lstStyle>
            <a:lvl1pPr marL="342900" indent="-342900">
              <a:buFont typeface="+mj-lt"/>
              <a:buAutoNum type="arabicPeriod" startAt="2"/>
              <a:defRPr sz="1600" b="1">
                <a:solidFill>
                  <a:schemeClr val="bg2">
                    <a:lumMod val="25000"/>
                  </a:schemeClr>
                </a:solidFill>
              </a:defRPr>
            </a:lvl1pPr>
          </a:lstStyle>
          <a:p>
            <a:pPr>
              <a:buFont typeface="+mj-lt"/>
              <a:buAutoNum type="arabicPeriod" startAt="4"/>
            </a:pPr>
            <a:r>
              <a:rPr lang="en-IN" dirty="0"/>
              <a:t>Frontend Directory</a:t>
            </a:r>
          </a:p>
        </p:txBody>
      </p:sp>
      <p:pic>
        <p:nvPicPr>
          <p:cNvPr id="48" name="Picture 47">
            <a:extLst>
              <a:ext uri="{FF2B5EF4-FFF2-40B4-BE49-F238E27FC236}">
                <a16:creationId xmlns:a16="http://schemas.microsoft.com/office/drawing/2014/main" id="{44FFB869-1211-454E-A21B-E8B543CA1124}"/>
              </a:ext>
            </a:extLst>
          </p:cNvPr>
          <p:cNvPicPr>
            <a:picLocks noChangeAspect="1"/>
          </p:cNvPicPr>
          <p:nvPr/>
        </p:nvPicPr>
        <p:blipFill>
          <a:blip r:embed="rId3"/>
          <a:stretch>
            <a:fillRect/>
          </a:stretch>
        </p:blipFill>
        <p:spPr>
          <a:xfrm>
            <a:off x="1046283" y="1708543"/>
            <a:ext cx="5864471" cy="505387"/>
          </a:xfrm>
          <a:prstGeom prst="rect">
            <a:avLst/>
          </a:prstGeom>
        </p:spPr>
      </p:pic>
      <p:pic>
        <p:nvPicPr>
          <p:cNvPr id="49" name="Picture 48">
            <a:extLst>
              <a:ext uri="{FF2B5EF4-FFF2-40B4-BE49-F238E27FC236}">
                <a16:creationId xmlns:a16="http://schemas.microsoft.com/office/drawing/2014/main" id="{C0B6DE86-8CC3-437F-9443-02E5828E240F}"/>
              </a:ext>
            </a:extLst>
          </p:cNvPr>
          <p:cNvPicPr>
            <a:picLocks noChangeAspect="1"/>
          </p:cNvPicPr>
          <p:nvPr/>
        </p:nvPicPr>
        <p:blipFill>
          <a:blip r:embed="rId3"/>
          <a:stretch>
            <a:fillRect/>
          </a:stretch>
        </p:blipFill>
        <p:spPr>
          <a:xfrm>
            <a:off x="1046283" y="2678266"/>
            <a:ext cx="5864471" cy="505387"/>
          </a:xfrm>
          <a:prstGeom prst="rect">
            <a:avLst/>
          </a:prstGeom>
        </p:spPr>
      </p:pic>
      <p:sp>
        <p:nvSpPr>
          <p:cNvPr id="46" name="TextBox 45">
            <a:extLst>
              <a:ext uri="{FF2B5EF4-FFF2-40B4-BE49-F238E27FC236}">
                <a16:creationId xmlns:a16="http://schemas.microsoft.com/office/drawing/2014/main" id="{B6F6F15A-4CFA-4365-8A84-5B1EC44EE0F0}"/>
              </a:ext>
            </a:extLst>
          </p:cNvPr>
          <p:cNvSpPr txBox="1"/>
          <p:nvPr/>
        </p:nvSpPr>
        <p:spPr>
          <a:xfrm>
            <a:off x="1213338" y="1738930"/>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.\ethereum\</a:t>
            </a:r>
          </a:p>
          <a:p>
            <a:pPr marL="171450" indent="-171450">
              <a:buClr>
                <a:schemeClr val="tx1"/>
              </a:buClr>
              <a:buFont typeface="Wingdings" panose="05000000000000000000" pitchFamily="2" charset="2"/>
              <a:buChar char="§"/>
            </a:pPr>
            <a:r>
              <a:rPr lang="en-IN" sz="1100" dirty="0">
                <a:solidFill>
                  <a:srgbClr val="0033CC"/>
                </a:solidFill>
              </a:rPr>
              <a:t>npx</a:t>
            </a:r>
            <a:r>
              <a:rPr lang="en-IN" sz="1100" dirty="0">
                <a:solidFill>
                  <a:schemeClr val="bg2">
                    <a:lumMod val="25000"/>
                  </a:schemeClr>
                </a:solidFill>
              </a:rPr>
              <a:t> hardhat node</a:t>
            </a:r>
          </a:p>
        </p:txBody>
      </p:sp>
      <p:pic>
        <p:nvPicPr>
          <p:cNvPr id="52" name="Picture 51">
            <a:extLst>
              <a:ext uri="{FF2B5EF4-FFF2-40B4-BE49-F238E27FC236}">
                <a16:creationId xmlns:a16="http://schemas.microsoft.com/office/drawing/2014/main" id="{DD2E4376-D648-4F41-B8F4-5D7BDDD7DDAA}"/>
              </a:ext>
            </a:extLst>
          </p:cNvPr>
          <p:cNvPicPr>
            <a:picLocks noChangeAspect="1"/>
          </p:cNvPicPr>
          <p:nvPr/>
        </p:nvPicPr>
        <p:blipFill>
          <a:blip r:embed="rId3"/>
          <a:stretch>
            <a:fillRect/>
          </a:stretch>
        </p:blipFill>
        <p:spPr>
          <a:xfrm>
            <a:off x="1044085" y="3693196"/>
            <a:ext cx="5866670" cy="505387"/>
          </a:xfrm>
          <a:prstGeom prst="rect">
            <a:avLst/>
          </a:prstGeom>
        </p:spPr>
      </p:pic>
      <p:sp>
        <p:nvSpPr>
          <p:cNvPr id="51" name="TextBox 50">
            <a:extLst>
              <a:ext uri="{FF2B5EF4-FFF2-40B4-BE49-F238E27FC236}">
                <a16:creationId xmlns:a16="http://schemas.microsoft.com/office/drawing/2014/main" id="{A51D841F-7FEC-42E9-820C-4319328F262C}"/>
              </a:ext>
            </a:extLst>
          </p:cNvPr>
          <p:cNvSpPr txBox="1"/>
          <p:nvPr/>
        </p:nvSpPr>
        <p:spPr>
          <a:xfrm>
            <a:off x="1213337" y="2722999"/>
            <a:ext cx="4273063"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.\ethereum\</a:t>
            </a:r>
          </a:p>
          <a:p>
            <a:pPr marL="171450" indent="-171450">
              <a:buClr>
                <a:schemeClr val="tx1"/>
              </a:buClr>
              <a:buFont typeface="Wingdings" panose="05000000000000000000" pitchFamily="2" charset="2"/>
              <a:buChar char="§"/>
            </a:pPr>
            <a:r>
              <a:rPr lang="en-IN" sz="1100" dirty="0">
                <a:solidFill>
                  <a:srgbClr val="0033CC"/>
                </a:solidFill>
              </a:rPr>
              <a:t>npx  </a:t>
            </a:r>
            <a:r>
              <a:rPr lang="en-US" sz="1100" dirty="0">
                <a:solidFill>
                  <a:schemeClr val="tx1">
                    <a:lumMod val="85000"/>
                    <a:lumOff val="15000"/>
                  </a:schemeClr>
                </a:solidFill>
              </a:rPr>
              <a:t>hardhat run scripts/deployCertificate.js --network localhost</a:t>
            </a:r>
            <a:endParaRPr lang="en-IN" sz="1100" dirty="0">
              <a:solidFill>
                <a:schemeClr val="tx1">
                  <a:lumMod val="85000"/>
                  <a:lumOff val="15000"/>
                </a:schemeClr>
              </a:solidFill>
            </a:endParaRPr>
          </a:p>
        </p:txBody>
      </p:sp>
      <p:sp>
        <p:nvSpPr>
          <p:cNvPr id="53" name="TextBox 52">
            <a:extLst>
              <a:ext uri="{FF2B5EF4-FFF2-40B4-BE49-F238E27FC236}">
                <a16:creationId xmlns:a16="http://schemas.microsoft.com/office/drawing/2014/main" id="{23195E25-2293-4242-AFA6-14E19AE6A870}"/>
              </a:ext>
            </a:extLst>
          </p:cNvPr>
          <p:cNvSpPr txBox="1"/>
          <p:nvPr/>
        </p:nvSpPr>
        <p:spPr>
          <a:xfrm>
            <a:off x="1213337" y="3737372"/>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.\backend\</a:t>
            </a:r>
          </a:p>
          <a:p>
            <a:pPr marL="171450" indent="-171450">
              <a:buClr>
                <a:schemeClr val="tx1"/>
              </a:buClr>
              <a:buFont typeface="Wingdings" panose="05000000000000000000" pitchFamily="2" charset="2"/>
              <a:buChar char="§"/>
            </a:pPr>
            <a:r>
              <a:rPr lang="en-IN" sz="1100" dirty="0" err="1">
                <a:solidFill>
                  <a:srgbClr val="0033CC"/>
                </a:solidFill>
              </a:rPr>
              <a:t>npm</a:t>
            </a:r>
            <a:r>
              <a:rPr lang="en-IN" sz="1100" dirty="0">
                <a:solidFill>
                  <a:schemeClr val="bg2">
                    <a:lumMod val="25000"/>
                  </a:schemeClr>
                </a:solidFill>
              </a:rPr>
              <a:t> start</a:t>
            </a:r>
          </a:p>
        </p:txBody>
      </p:sp>
      <p:pic>
        <p:nvPicPr>
          <p:cNvPr id="54" name="Picture 53">
            <a:extLst>
              <a:ext uri="{FF2B5EF4-FFF2-40B4-BE49-F238E27FC236}">
                <a16:creationId xmlns:a16="http://schemas.microsoft.com/office/drawing/2014/main" id="{DAAA091D-81E2-4954-A18A-AE8948DB00F4}"/>
              </a:ext>
            </a:extLst>
          </p:cNvPr>
          <p:cNvPicPr>
            <a:picLocks noChangeAspect="1"/>
          </p:cNvPicPr>
          <p:nvPr/>
        </p:nvPicPr>
        <p:blipFill>
          <a:blip r:embed="rId3"/>
          <a:stretch>
            <a:fillRect/>
          </a:stretch>
        </p:blipFill>
        <p:spPr>
          <a:xfrm>
            <a:off x="1044084" y="6034970"/>
            <a:ext cx="5866670" cy="505387"/>
          </a:xfrm>
          <a:prstGeom prst="rect">
            <a:avLst/>
          </a:prstGeom>
        </p:spPr>
      </p:pic>
      <p:sp>
        <p:nvSpPr>
          <p:cNvPr id="55" name="TextBox 54">
            <a:extLst>
              <a:ext uri="{FF2B5EF4-FFF2-40B4-BE49-F238E27FC236}">
                <a16:creationId xmlns:a16="http://schemas.microsoft.com/office/drawing/2014/main" id="{CB0D05FB-BB52-4BFB-9F8C-6F7159E81ACA}"/>
              </a:ext>
            </a:extLst>
          </p:cNvPr>
          <p:cNvSpPr txBox="1"/>
          <p:nvPr/>
        </p:nvSpPr>
        <p:spPr>
          <a:xfrm>
            <a:off x="1213336" y="6089807"/>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a:t>
            </a:r>
            <a:r>
              <a:rPr lang="en-IN" sz="1100" dirty="0"/>
              <a:t>frontend</a:t>
            </a:r>
            <a:r>
              <a:rPr lang="en-IN" sz="1100" dirty="0">
                <a:solidFill>
                  <a:schemeClr val="bg2">
                    <a:lumMod val="25000"/>
                  </a:schemeClr>
                </a:solidFill>
              </a:rPr>
              <a:t>\</a:t>
            </a:r>
          </a:p>
          <a:p>
            <a:pPr marL="171450" indent="-171450">
              <a:buClr>
                <a:schemeClr val="tx1"/>
              </a:buClr>
              <a:buFont typeface="Wingdings" panose="05000000000000000000" pitchFamily="2" charset="2"/>
              <a:buChar char="§"/>
            </a:pPr>
            <a:r>
              <a:rPr lang="en-IN" sz="1100" dirty="0" err="1">
                <a:solidFill>
                  <a:srgbClr val="0033CC"/>
                </a:solidFill>
              </a:rPr>
              <a:t>npm</a:t>
            </a:r>
            <a:r>
              <a:rPr lang="en-IN" sz="1100" dirty="0">
                <a:solidFill>
                  <a:schemeClr val="bg2">
                    <a:lumMod val="25000"/>
                  </a:schemeClr>
                </a:solidFill>
              </a:rPr>
              <a:t> run dev</a:t>
            </a:r>
          </a:p>
        </p:txBody>
      </p:sp>
      <p:cxnSp>
        <p:nvCxnSpPr>
          <p:cNvPr id="32" name="Straight Connector 31">
            <a:extLst>
              <a:ext uri="{FF2B5EF4-FFF2-40B4-BE49-F238E27FC236}">
                <a16:creationId xmlns:a16="http://schemas.microsoft.com/office/drawing/2014/main" id="{6EE75D6B-15E4-4B32-B443-23B99E70D6D7}"/>
              </a:ext>
            </a:extLst>
          </p:cNvPr>
          <p:cNvCxnSpPr>
            <a:cxnSpLocks/>
          </p:cNvCxnSpPr>
          <p:nvPr/>
        </p:nvCxnSpPr>
        <p:spPr>
          <a:xfrm>
            <a:off x="7061688" y="1476375"/>
            <a:ext cx="0" cy="5052850"/>
          </a:xfrm>
          <a:prstGeom prst="line">
            <a:avLst/>
          </a:prstGeom>
          <a:ln w="57150">
            <a:solidFill>
              <a:srgbClr val="00B0F0"/>
            </a:solidFill>
          </a:ln>
          <a:effectLst>
            <a:outerShdw blurRad="50800" dist="38100" dir="2700000" algn="tl" rotWithShape="0">
              <a:prstClr val="black">
                <a:alpha val="40000"/>
              </a:prstClr>
            </a:outerShdw>
          </a:effectLst>
          <a:scene3d>
            <a:camera prst="orthographicFront"/>
            <a:lightRig rig="threePt" dir="t"/>
          </a:scene3d>
          <a:sp3d>
            <a:bevelT w="114300" prst="artDeco"/>
          </a:sp3d>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788FFC7-2427-4035-B81A-4FD665AB6174}"/>
              </a:ext>
            </a:extLst>
          </p:cNvPr>
          <p:cNvSpPr txBox="1"/>
          <p:nvPr/>
        </p:nvSpPr>
        <p:spPr>
          <a:xfrm>
            <a:off x="571500" y="4231799"/>
            <a:ext cx="6097464" cy="338554"/>
          </a:xfrm>
          <a:prstGeom prst="rect">
            <a:avLst/>
          </a:prstGeom>
          <a:noFill/>
        </p:spPr>
        <p:txBody>
          <a:bodyPr wrap="square">
            <a:spAutoFit/>
          </a:bodyPr>
          <a:lstStyle>
            <a:lvl1pPr marL="342900" indent="-342900">
              <a:buFont typeface="+mj-lt"/>
              <a:buAutoNum type="arabicPeriod" startAt="2"/>
              <a:defRPr sz="1600" b="1">
                <a:solidFill>
                  <a:schemeClr val="bg2">
                    <a:lumMod val="25000"/>
                  </a:schemeClr>
                </a:solidFill>
              </a:defRPr>
            </a:lvl1pPr>
          </a:lstStyle>
          <a:p>
            <a:pPr>
              <a:buFont typeface="+mj-lt"/>
              <a:buAutoNum type="arabicPeriod" startAt="3"/>
            </a:pPr>
            <a:r>
              <a:rPr lang="en-IN" dirty="0"/>
              <a:t>Database Directory</a:t>
            </a:r>
          </a:p>
        </p:txBody>
      </p:sp>
      <p:sp>
        <p:nvSpPr>
          <p:cNvPr id="57" name="TextBox 56">
            <a:extLst>
              <a:ext uri="{FF2B5EF4-FFF2-40B4-BE49-F238E27FC236}">
                <a16:creationId xmlns:a16="http://schemas.microsoft.com/office/drawing/2014/main" id="{FE3AFD84-3AF8-4FFD-AEBA-AA62891161C5}"/>
              </a:ext>
            </a:extLst>
          </p:cNvPr>
          <p:cNvSpPr txBox="1"/>
          <p:nvPr/>
        </p:nvSpPr>
        <p:spPr>
          <a:xfrm>
            <a:off x="1046283" y="4512862"/>
            <a:ext cx="6224955"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Go to the Partition drive of Project – create Directories “data\</a:t>
            </a:r>
            <a:r>
              <a:rPr lang="en-US" sz="1200" dirty="0" err="1"/>
              <a:t>db</a:t>
            </a:r>
            <a:r>
              <a:rPr lang="en-US" sz="1200" dirty="0"/>
              <a:t>” for </a:t>
            </a:r>
            <a:r>
              <a:rPr lang="en-US" sz="1200" dirty="0" err="1"/>
              <a:t>mongodb</a:t>
            </a:r>
            <a:r>
              <a:rPr lang="en-US" sz="1200" dirty="0"/>
              <a:t> server </a:t>
            </a:r>
            <a:endParaRPr lang="en-IN" sz="1200" dirty="0"/>
          </a:p>
        </p:txBody>
      </p:sp>
      <p:pic>
        <p:nvPicPr>
          <p:cNvPr id="58" name="Picture 57">
            <a:extLst>
              <a:ext uri="{FF2B5EF4-FFF2-40B4-BE49-F238E27FC236}">
                <a16:creationId xmlns:a16="http://schemas.microsoft.com/office/drawing/2014/main" id="{CF92DF4F-5BC7-4C1D-BA35-25899B04EDF3}"/>
              </a:ext>
            </a:extLst>
          </p:cNvPr>
          <p:cNvPicPr>
            <a:picLocks noChangeAspect="1"/>
          </p:cNvPicPr>
          <p:nvPr/>
        </p:nvPicPr>
        <p:blipFill>
          <a:blip r:embed="rId3"/>
          <a:stretch>
            <a:fillRect/>
          </a:stretch>
        </p:blipFill>
        <p:spPr>
          <a:xfrm>
            <a:off x="1046283" y="4774721"/>
            <a:ext cx="5866670" cy="714984"/>
          </a:xfrm>
          <a:prstGeom prst="rect">
            <a:avLst/>
          </a:prstGeom>
        </p:spPr>
      </p:pic>
      <p:sp>
        <p:nvSpPr>
          <p:cNvPr id="59" name="TextBox 58">
            <a:extLst>
              <a:ext uri="{FF2B5EF4-FFF2-40B4-BE49-F238E27FC236}">
                <a16:creationId xmlns:a16="http://schemas.microsoft.com/office/drawing/2014/main" id="{11596CD1-53EB-4F85-9F1D-7052D9E7EA18}"/>
              </a:ext>
            </a:extLst>
          </p:cNvPr>
          <p:cNvSpPr txBox="1"/>
          <p:nvPr/>
        </p:nvSpPr>
        <p:spPr>
          <a:xfrm>
            <a:off x="1215535" y="4836481"/>
            <a:ext cx="5453429" cy="600164"/>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Open “</a:t>
            </a:r>
            <a:r>
              <a:rPr lang="en-IN" sz="1100" b="1" dirty="0">
                <a:solidFill>
                  <a:schemeClr val="bg2">
                    <a:lumMod val="25000"/>
                  </a:schemeClr>
                </a:solidFill>
              </a:rPr>
              <a:t>CMD</a:t>
            </a:r>
            <a:r>
              <a:rPr lang="en-IN" sz="1100" dirty="0">
                <a:solidFill>
                  <a:schemeClr val="bg2">
                    <a:lumMod val="25000"/>
                  </a:schemeClr>
                </a:solidFill>
              </a:rPr>
              <a:t>” from Project Directory &amp; start mongo Server</a:t>
            </a:r>
          </a:p>
          <a:p>
            <a:pPr marL="171450" indent="-171450">
              <a:buClr>
                <a:schemeClr val="tx1"/>
              </a:buClr>
              <a:buFont typeface="Wingdings" panose="05000000000000000000" pitchFamily="2" charset="2"/>
              <a:buChar char="§"/>
            </a:pPr>
            <a:r>
              <a:rPr lang="en-IN" sz="1100" dirty="0" err="1">
                <a:solidFill>
                  <a:srgbClr val="0033CC"/>
                </a:solidFill>
              </a:rPr>
              <a:t>mongod</a:t>
            </a:r>
            <a:r>
              <a:rPr lang="en-IN" sz="1100" dirty="0">
                <a:solidFill>
                  <a:schemeClr val="bg2">
                    <a:lumMod val="25000"/>
                  </a:schemeClr>
                </a:solidFill>
              </a:rPr>
              <a:t>  -  Enter</a:t>
            </a:r>
          </a:p>
          <a:p>
            <a:pPr marL="171450" indent="-171450">
              <a:buClr>
                <a:schemeClr val="tx1"/>
              </a:buClr>
              <a:buFont typeface="Wingdings" panose="05000000000000000000" pitchFamily="2" charset="2"/>
              <a:buChar char="§"/>
            </a:pPr>
            <a:r>
              <a:rPr lang="en-IN" sz="1100" dirty="0">
                <a:solidFill>
                  <a:schemeClr val="bg2">
                    <a:lumMod val="25000"/>
                  </a:schemeClr>
                </a:solidFill>
              </a:rPr>
              <a:t>MongoDB Server Started, Connect local database from </a:t>
            </a:r>
            <a:r>
              <a:rPr lang="en-IN" sz="1100" b="1" dirty="0">
                <a:solidFill>
                  <a:schemeClr val="bg2">
                    <a:lumMod val="25000"/>
                  </a:schemeClr>
                </a:solidFill>
              </a:rPr>
              <a:t>MongoDB Compass</a:t>
            </a:r>
          </a:p>
        </p:txBody>
      </p:sp>
      <p:pic>
        <p:nvPicPr>
          <p:cNvPr id="88" name="Picture 87">
            <a:extLst>
              <a:ext uri="{FF2B5EF4-FFF2-40B4-BE49-F238E27FC236}">
                <a16:creationId xmlns:a16="http://schemas.microsoft.com/office/drawing/2014/main" id="{8FD16565-F701-4B69-9F21-CA0599C301D7}"/>
              </a:ext>
            </a:extLst>
          </p:cNvPr>
          <p:cNvPicPr>
            <a:picLocks noChangeAspect="1"/>
          </p:cNvPicPr>
          <p:nvPr/>
        </p:nvPicPr>
        <p:blipFill rotWithShape="1">
          <a:blip r:embed="rId4"/>
          <a:srcRect r="15253"/>
          <a:stretch/>
        </p:blipFill>
        <p:spPr>
          <a:xfrm>
            <a:off x="7917340" y="2119320"/>
            <a:ext cx="3878167" cy="562324"/>
          </a:xfrm>
          <a:prstGeom prst="rect">
            <a:avLst/>
          </a:prstGeom>
        </p:spPr>
      </p:pic>
      <p:grpSp>
        <p:nvGrpSpPr>
          <p:cNvPr id="118" name="Group 117">
            <a:extLst>
              <a:ext uri="{FF2B5EF4-FFF2-40B4-BE49-F238E27FC236}">
                <a16:creationId xmlns:a16="http://schemas.microsoft.com/office/drawing/2014/main" id="{7C0E348E-7118-4785-B2AE-F9E14BF90B1A}"/>
              </a:ext>
            </a:extLst>
          </p:cNvPr>
          <p:cNvGrpSpPr/>
          <p:nvPr/>
        </p:nvGrpSpPr>
        <p:grpSpPr>
          <a:xfrm>
            <a:off x="7917340" y="1455626"/>
            <a:ext cx="3595201" cy="5165436"/>
            <a:chOff x="7917340" y="1455626"/>
            <a:chExt cx="3595201" cy="5165436"/>
          </a:xfrm>
        </p:grpSpPr>
        <p:grpSp>
          <p:nvGrpSpPr>
            <p:cNvPr id="76" name="Group 75">
              <a:extLst>
                <a:ext uri="{FF2B5EF4-FFF2-40B4-BE49-F238E27FC236}">
                  <a16:creationId xmlns:a16="http://schemas.microsoft.com/office/drawing/2014/main" id="{C5311A18-FDCD-479D-AE1E-74E4C5D66D19}"/>
                </a:ext>
              </a:extLst>
            </p:cNvPr>
            <p:cNvGrpSpPr/>
            <p:nvPr/>
          </p:nvGrpSpPr>
          <p:grpSpPr>
            <a:xfrm>
              <a:off x="7924533" y="3937703"/>
              <a:ext cx="3445236" cy="1265299"/>
              <a:chOff x="7908842" y="4231799"/>
              <a:chExt cx="3919214" cy="1490264"/>
            </a:xfrm>
          </p:grpSpPr>
          <p:pic>
            <p:nvPicPr>
              <p:cNvPr id="61" name="Picture 60">
                <a:extLst>
                  <a:ext uri="{FF2B5EF4-FFF2-40B4-BE49-F238E27FC236}">
                    <a16:creationId xmlns:a16="http://schemas.microsoft.com/office/drawing/2014/main" id="{A7A7EABC-B0A1-4186-8A6D-97C56D13976E}"/>
                  </a:ext>
                </a:extLst>
              </p:cNvPr>
              <p:cNvPicPr>
                <a:picLocks noChangeAspect="1"/>
              </p:cNvPicPr>
              <p:nvPr/>
            </p:nvPicPr>
            <p:blipFill rotWithShape="1">
              <a:blip r:embed="rId5"/>
              <a:srcRect t="33145"/>
              <a:stretch/>
            </p:blipFill>
            <p:spPr>
              <a:xfrm>
                <a:off x="7909208" y="4231799"/>
                <a:ext cx="3918848" cy="759747"/>
              </a:xfrm>
              <a:prstGeom prst="rect">
                <a:avLst/>
              </a:prstGeom>
            </p:spPr>
          </p:pic>
          <p:pic>
            <p:nvPicPr>
              <p:cNvPr id="63" name="Picture 62">
                <a:extLst>
                  <a:ext uri="{FF2B5EF4-FFF2-40B4-BE49-F238E27FC236}">
                    <a16:creationId xmlns:a16="http://schemas.microsoft.com/office/drawing/2014/main" id="{073D78E8-2858-4321-AD71-1EC551376DB0}"/>
                  </a:ext>
                </a:extLst>
              </p:cNvPr>
              <p:cNvPicPr>
                <a:picLocks noChangeAspect="1"/>
              </p:cNvPicPr>
              <p:nvPr/>
            </p:nvPicPr>
            <p:blipFill rotWithShape="1">
              <a:blip r:embed="rId6"/>
              <a:srcRect l="886" t="88443" r="85028" b="6887"/>
              <a:stretch/>
            </p:blipFill>
            <p:spPr>
              <a:xfrm>
                <a:off x="10011572" y="5187421"/>
                <a:ext cx="1816484" cy="338717"/>
              </a:xfrm>
              <a:prstGeom prst="rect">
                <a:avLst/>
              </a:prstGeom>
            </p:spPr>
          </p:pic>
          <p:grpSp>
            <p:nvGrpSpPr>
              <p:cNvPr id="75" name="Group 74">
                <a:extLst>
                  <a:ext uri="{FF2B5EF4-FFF2-40B4-BE49-F238E27FC236}">
                    <a16:creationId xmlns:a16="http://schemas.microsoft.com/office/drawing/2014/main" id="{663F459A-F716-4CB3-8AB1-49C126DB83DE}"/>
                  </a:ext>
                </a:extLst>
              </p:cNvPr>
              <p:cNvGrpSpPr/>
              <p:nvPr/>
            </p:nvGrpSpPr>
            <p:grpSpPr>
              <a:xfrm>
                <a:off x="7908842" y="5067294"/>
                <a:ext cx="1951606" cy="654769"/>
                <a:chOff x="7909208" y="1835347"/>
                <a:chExt cx="1951606" cy="654769"/>
              </a:xfrm>
            </p:grpSpPr>
            <p:pic>
              <p:nvPicPr>
                <p:cNvPr id="65" name="Picture 64">
                  <a:extLst>
                    <a:ext uri="{FF2B5EF4-FFF2-40B4-BE49-F238E27FC236}">
                      <a16:creationId xmlns:a16="http://schemas.microsoft.com/office/drawing/2014/main" id="{A0CB2D32-643B-4B7B-A0F3-BCB413A2D32B}"/>
                    </a:ext>
                  </a:extLst>
                </p:cNvPr>
                <p:cNvPicPr>
                  <a:picLocks noChangeAspect="1"/>
                </p:cNvPicPr>
                <p:nvPr/>
              </p:nvPicPr>
              <p:blipFill rotWithShape="1">
                <a:blip r:embed="rId7"/>
                <a:srcRect l="5177" t="16357" r="12461" b="7855"/>
                <a:stretch/>
              </p:blipFill>
              <p:spPr>
                <a:xfrm>
                  <a:off x="7909574" y="1835347"/>
                  <a:ext cx="1951240" cy="426053"/>
                </a:xfrm>
                <a:prstGeom prst="rect">
                  <a:avLst/>
                </a:prstGeom>
                <a:ln w="3175">
                  <a:solidFill>
                    <a:schemeClr val="tx1"/>
                  </a:solidFill>
                </a:ln>
              </p:spPr>
            </p:pic>
            <p:pic>
              <p:nvPicPr>
                <p:cNvPr id="68" name="Picture 67">
                  <a:extLst>
                    <a:ext uri="{FF2B5EF4-FFF2-40B4-BE49-F238E27FC236}">
                      <a16:creationId xmlns:a16="http://schemas.microsoft.com/office/drawing/2014/main" id="{339E537E-06E1-4A86-B928-8306128E1CC0}"/>
                    </a:ext>
                  </a:extLst>
                </p:cNvPr>
                <p:cNvPicPr>
                  <a:picLocks noChangeAspect="1"/>
                </p:cNvPicPr>
                <p:nvPr/>
              </p:nvPicPr>
              <p:blipFill rotWithShape="1">
                <a:blip r:embed="rId8"/>
                <a:srcRect l="4025" t="48683" r="12075" b="10082"/>
                <a:stretch/>
              </p:blipFill>
              <p:spPr>
                <a:xfrm>
                  <a:off x="7909208" y="2294191"/>
                  <a:ext cx="1951240" cy="195925"/>
                </a:xfrm>
                <a:prstGeom prst="rect">
                  <a:avLst/>
                </a:prstGeom>
                <a:ln w="3175">
                  <a:solidFill>
                    <a:schemeClr val="tx1"/>
                  </a:solidFill>
                </a:ln>
              </p:spPr>
            </p:pic>
            <p:cxnSp>
              <p:nvCxnSpPr>
                <p:cNvPr id="71" name="Straight Connector 70">
                  <a:extLst>
                    <a:ext uri="{FF2B5EF4-FFF2-40B4-BE49-F238E27FC236}">
                      <a16:creationId xmlns:a16="http://schemas.microsoft.com/office/drawing/2014/main" id="{D149B5EE-E980-4E1F-9066-3FC6DCC86EFB}"/>
                    </a:ext>
                  </a:extLst>
                </p:cNvPr>
                <p:cNvCxnSpPr>
                  <a:cxnSpLocks/>
                </p:cNvCxnSpPr>
                <p:nvPr/>
              </p:nvCxnSpPr>
              <p:spPr>
                <a:xfrm>
                  <a:off x="7962493" y="2275734"/>
                  <a:ext cx="1805393" cy="0"/>
                </a:xfrm>
                <a:prstGeom prst="line">
                  <a:avLst/>
                </a:prstGeom>
                <a:ln w="19050">
                  <a:solidFill>
                    <a:schemeClr val="bg2">
                      <a:lumMod val="50000"/>
                    </a:schemeClr>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grpSp>
        </p:grpSp>
        <p:grpSp>
          <p:nvGrpSpPr>
            <p:cNvPr id="94" name="Group 93">
              <a:extLst>
                <a:ext uri="{FF2B5EF4-FFF2-40B4-BE49-F238E27FC236}">
                  <a16:creationId xmlns:a16="http://schemas.microsoft.com/office/drawing/2014/main" id="{DAF8E374-D0E8-40D5-B01D-90554329803C}"/>
                </a:ext>
              </a:extLst>
            </p:cNvPr>
            <p:cNvGrpSpPr/>
            <p:nvPr/>
          </p:nvGrpSpPr>
          <p:grpSpPr>
            <a:xfrm>
              <a:off x="7924533" y="5375658"/>
              <a:ext cx="3463556" cy="1245404"/>
              <a:chOff x="7918509" y="5269395"/>
              <a:chExt cx="3463556" cy="1245404"/>
            </a:xfrm>
          </p:grpSpPr>
          <p:pic>
            <p:nvPicPr>
              <p:cNvPr id="78" name="Picture 77">
                <a:extLst>
                  <a:ext uri="{FF2B5EF4-FFF2-40B4-BE49-F238E27FC236}">
                    <a16:creationId xmlns:a16="http://schemas.microsoft.com/office/drawing/2014/main" id="{886099C2-9744-42B3-824C-F2EF06548B23}"/>
                  </a:ext>
                </a:extLst>
              </p:cNvPr>
              <p:cNvPicPr>
                <a:picLocks noChangeAspect="1"/>
              </p:cNvPicPr>
              <p:nvPr/>
            </p:nvPicPr>
            <p:blipFill>
              <a:blip r:embed="rId9"/>
              <a:stretch>
                <a:fillRect/>
              </a:stretch>
            </p:blipFill>
            <p:spPr>
              <a:xfrm>
                <a:off x="7918509" y="5269395"/>
                <a:ext cx="3460455" cy="562324"/>
              </a:xfrm>
              <a:prstGeom prst="rect">
                <a:avLst/>
              </a:prstGeom>
            </p:spPr>
          </p:pic>
          <p:pic>
            <p:nvPicPr>
              <p:cNvPr id="84" name="Picture 83">
                <a:extLst>
                  <a:ext uri="{FF2B5EF4-FFF2-40B4-BE49-F238E27FC236}">
                    <a16:creationId xmlns:a16="http://schemas.microsoft.com/office/drawing/2014/main" id="{1BE14437-473C-45B4-B111-ADA94A601F4E}"/>
                  </a:ext>
                </a:extLst>
              </p:cNvPr>
              <p:cNvPicPr>
                <a:picLocks noChangeAspect="1"/>
              </p:cNvPicPr>
              <p:nvPr/>
            </p:nvPicPr>
            <p:blipFill>
              <a:blip r:embed="rId10"/>
              <a:stretch>
                <a:fillRect/>
              </a:stretch>
            </p:blipFill>
            <p:spPr>
              <a:xfrm>
                <a:off x="7924533" y="5825942"/>
                <a:ext cx="3457532" cy="688857"/>
              </a:xfrm>
              <a:prstGeom prst="rect">
                <a:avLst/>
              </a:prstGeom>
            </p:spPr>
          </p:pic>
        </p:grpSp>
        <p:pic>
          <p:nvPicPr>
            <p:cNvPr id="86" name="Picture 85">
              <a:extLst>
                <a:ext uri="{FF2B5EF4-FFF2-40B4-BE49-F238E27FC236}">
                  <a16:creationId xmlns:a16="http://schemas.microsoft.com/office/drawing/2014/main" id="{8A89FFD1-EF7B-4F22-B139-1C1A1600E450}"/>
                </a:ext>
              </a:extLst>
            </p:cNvPr>
            <p:cNvPicPr>
              <a:picLocks noChangeAspect="1"/>
            </p:cNvPicPr>
            <p:nvPr/>
          </p:nvPicPr>
          <p:blipFill>
            <a:blip r:embed="rId11"/>
            <a:stretch>
              <a:fillRect/>
            </a:stretch>
          </p:blipFill>
          <p:spPr>
            <a:xfrm>
              <a:off x="7917340" y="2834841"/>
              <a:ext cx="3444911" cy="919439"/>
            </a:xfrm>
            <a:prstGeom prst="rect">
              <a:avLst/>
            </a:prstGeom>
          </p:spPr>
        </p:pic>
        <p:grpSp>
          <p:nvGrpSpPr>
            <p:cNvPr id="93" name="Group 92">
              <a:extLst>
                <a:ext uri="{FF2B5EF4-FFF2-40B4-BE49-F238E27FC236}">
                  <a16:creationId xmlns:a16="http://schemas.microsoft.com/office/drawing/2014/main" id="{B80ADD9A-73BB-4C4C-B38C-2B820A171787}"/>
                </a:ext>
              </a:extLst>
            </p:cNvPr>
            <p:cNvGrpSpPr/>
            <p:nvPr/>
          </p:nvGrpSpPr>
          <p:grpSpPr>
            <a:xfrm>
              <a:off x="7918508" y="1455626"/>
              <a:ext cx="3594033" cy="526934"/>
              <a:chOff x="7896284" y="1800818"/>
              <a:chExt cx="4143315" cy="642230"/>
            </a:xfrm>
          </p:grpSpPr>
          <p:pic>
            <p:nvPicPr>
              <p:cNvPr id="90" name="Picture 89">
                <a:extLst>
                  <a:ext uri="{FF2B5EF4-FFF2-40B4-BE49-F238E27FC236}">
                    <a16:creationId xmlns:a16="http://schemas.microsoft.com/office/drawing/2014/main" id="{D0DFD1B9-A827-4E2C-95B6-8913CB5B9CA3}"/>
                  </a:ext>
                </a:extLst>
              </p:cNvPr>
              <p:cNvPicPr>
                <a:picLocks noChangeAspect="1"/>
              </p:cNvPicPr>
              <p:nvPr/>
            </p:nvPicPr>
            <p:blipFill rotWithShape="1">
              <a:blip r:embed="rId12"/>
              <a:srcRect r="48646"/>
              <a:stretch/>
            </p:blipFill>
            <p:spPr>
              <a:xfrm>
                <a:off x="7896284" y="1800818"/>
                <a:ext cx="4143314" cy="417799"/>
              </a:xfrm>
              <a:prstGeom prst="rect">
                <a:avLst/>
              </a:prstGeom>
            </p:spPr>
          </p:pic>
          <p:pic>
            <p:nvPicPr>
              <p:cNvPr id="92" name="Picture 91">
                <a:extLst>
                  <a:ext uri="{FF2B5EF4-FFF2-40B4-BE49-F238E27FC236}">
                    <a16:creationId xmlns:a16="http://schemas.microsoft.com/office/drawing/2014/main" id="{10C0E3FA-E150-475E-AEAE-D59C75BB1264}"/>
                  </a:ext>
                </a:extLst>
              </p:cNvPr>
              <p:cNvPicPr>
                <a:picLocks noChangeAspect="1"/>
              </p:cNvPicPr>
              <p:nvPr/>
            </p:nvPicPr>
            <p:blipFill rotWithShape="1">
              <a:blip r:embed="rId12"/>
              <a:srcRect l="41556" t="44433" r="6125"/>
              <a:stretch/>
            </p:blipFill>
            <p:spPr>
              <a:xfrm>
                <a:off x="7896284" y="2215170"/>
                <a:ext cx="4143315" cy="227878"/>
              </a:xfrm>
              <a:prstGeom prst="rect">
                <a:avLst/>
              </a:prstGeom>
            </p:spPr>
          </p:pic>
        </p:grpSp>
      </p:grpSp>
      <p:grpSp>
        <p:nvGrpSpPr>
          <p:cNvPr id="117" name="Group 116">
            <a:extLst>
              <a:ext uri="{FF2B5EF4-FFF2-40B4-BE49-F238E27FC236}">
                <a16:creationId xmlns:a16="http://schemas.microsoft.com/office/drawing/2014/main" id="{B3BCD6AE-203F-46A8-95D3-2BA839922E8E}"/>
              </a:ext>
            </a:extLst>
          </p:cNvPr>
          <p:cNvGrpSpPr/>
          <p:nvPr/>
        </p:nvGrpSpPr>
        <p:grpSpPr>
          <a:xfrm>
            <a:off x="7366011" y="1595582"/>
            <a:ext cx="277113" cy="4885332"/>
            <a:chOff x="7366011" y="1595582"/>
            <a:chExt cx="277113" cy="4885332"/>
          </a:xfrm>
        </p:grpSpPr>
        <p:grpSp>
          <p:nvGrpSpPr>
            <p:cNvPr id="97" name="Group 96">
              <a:extLst>
                <a:ext uri="{FF2B5EF4-FFF2-40B4-BE49-F238E27FC236}">
                  <a16:creationId xmlns:a16="http://schemas.microsoft.com/office/drawing/2014/main" id="{23E6EADA-BCDE-4828-AEF2-76FF278F471C}"/>
                </a:ext>
              </a:extLst>
            </p:cNvPr>
            <p:cNvGrpSpPr/>
            <p:nvPr/>
          </p:nvGrpSpPr>
          <p:grpSpPr>
            <a:xfrm>
              <a:off x="7369224" y="1595582"/>
              <a:ext cx="271089" cy="286695"/>
              <a:chOff x="7237950" y="1717009"/>
              <a:chExt cx="336011" cy="355354"/>
            </a:xfrm>
            <a:solidFill>
              <a:srgbClr val="C00000"/>
            </a:solidFill>
          </p:grpSpPr>
          <p:sp>
            <p:nvSpPr>
              <p:cNvPr id="95" name="Oval 94">
                <a:extLst>
                  <a:ext uri="{FF2B5EF4-FFF2-40B4-BE49-F238E27FC236}">
                    <a16:creationId xmlns:a16="http://schemas.microsoft.com/office/drawing/2014/main" id="{AD14BC6C-6718-4528-8357-A1BE134B27F2}"/>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96" name="TextBox 72">
                <a:extLst>
                  <a:ext uri="{FF2B5EF4-FFF2-40B4-BE49-F238E27FC236}">
                    <a16:creationId xmlns:a16="http://schemas.microsoft.com/office/drawing/2014/main" id="{32461978-12C1-4BE1-BD72-F44E05531051}"/>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01</a:t>
                </a:r>
                <a:endParaRPr lang="en" sz="600" b="1" spc="50" dirty="0">
                  <a:ln w="0"/>
                  <a:solidFill>
                    <a:schemeClr val="bg2"/>
                  </a:solidFill>
                  <a:effectLst>
                    <a:innerShdw blurRad="63500" dist="50800" dir="13500000">
                      <a:srgbClr val="000000">
                        <a:alpha val="50000"/>
                      </a:srgbClr>
                    </a:innerShdw>
                  </a:effectLst>
                </a:endParaRPr>
              </a:p>
            </p:txBody>
          </p:sp>
        </p:grpSp>
        <p:grpSp>
          <p:nvGrpSpPr>
            <p:cNvPr id="99" name="Group 98">
              <a:extLst>
                <a:ext uri="{FF2B5EF4-FFF2-40B4-BE49-F238E27FC236}">
                  <a16:creationId xmlns:a16="http://schemas.microsoft.com/office/drawing/2014/main" id="{F1E24D84-7ADC-48FC-BA75-774180EC2035}"/>
                </a:ext>
              </a:extLst>
            </p:cNvPr>
            <p:cNvGrpSpPr/>
            <p:nvPr/>
          </p:nvGrpSpPr>
          <p:grpSpPr>
            <a:xfrm>
              <a:off x="7372035" y="2257134"/>
              <a:ext cx="271089" cy="286695"/>
              <a:chOff x="7237950" y="1717009"/>
              <a:chExt cx="336011" cy="355354"/>
            </a:xfrm>
            <a:solidFill>
              <a:srgbClr val="002060"/>
            </a:solidFill>
          </p:grpSpPr>
          <p:sp>
            <p:nvSpPr>
              <p:cNvPr id="100" name="Oval 99">
                <a:extLst>
                  <a:ext uri="{FF2B5EF4-FFF2-40B4-BE49-F238E27FC236}">
                    <a16:creationId xmlns:a16="http://schemas.microsoft.com/office/drawing/2014/main" id="{FAE3FE05-33FE-46E2-B0F2-56DE2A314422}"/>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01" name="TextBox 72">
                <a:extLst>
                  <a:ext uri="{FF2B5EF4-FFF2-40B4-BE49-F238E27FC236}">
                    <a16:creationId xmlns:a16="http://schemas.microsoft.com/office/drawing/2014/main" id="{8C9F84E7-EFA8-4B64-90A4-6547AC81879C}"/>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02</a:t>
                </a:r>
                <a:endParaRPr lang="en" sz="600" b="1" spc="50" dirty="0">
                  <a:ln w="0"/>
                  <a:solidFill>
                    <a:schemeClr val="bg2"/>
                  </a:solidFill>
                  <a:effectLst>
                    <a:innerShdw blurRad="63500" dist="50800" dir="13500000">
                      <a:srgbClr val="000000">
                        <a:alpha val="50000"/>
                      </a:srgbClr>
                    </a:innerShdw>
                  </a:effectLst>
                </a:endParaRPr>
              </a:p>
            </p:txBody>
          </p:sp>
        </p:grpSp>
        <p:grpSp>
          <p:nvGrpSpPr>
            <p:cNvPr id="102" name="Group 101">
              <a:extLst>
                <a:ext uri="{FF2B5EF4-FFF2-40B4-BE49-F238E27FC236}">
                  <a16:creationId xmlns:a16="http://schemas.microsoft.com/office/drawing/2014/main" id="{70B1E759-0E61-401B-A010-87A9626B6272}"/>
                </a:ext>
              </a:extLst>
            </p:cNvPr>
            <p:cNvGrpSpPr/>
            <p:nvPr/>
          </p:nvGrpSpPr>
          <p:grpSpPr>
            <a:xfrm>
              <a:off x="7372035" y="3064629"/>
              <a:ext cx="271089" cy="286695"/>
              <a:chOff x="7237950" y="1717009"/>
              <a:chExt cx="336011" cy="355354"/>
            </a:xfrm>
            <a:solidFill>
              <a:srgbClr val="BC004C"/>
            </a:solidFill>
          </p:grpSpPr>
          <p:sp>
            <p:nvSpPr>
              <p:cNvPr id="103" name="Oval 102">
                <a:extLst>
                  <a:ext uri="{FF2B5EF4-FFF2-40B4-BE49-F238E27FC236}">
                    <a16:creationId xmlns:a16="http://schemas.microsoft.com/office/drawing/2014/main" id="{DD266F68-CDE5-420A-9198-1A12ECF0FAC6}"/>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04" name="TextBox 72">
                <a:extLst>
                  <a:ext uri="{FF2B5EF4-FFF2-40B4-BE49-F238E27FC236}">
                    <a16:creationId xmlns:a16="http://schemas.microsoft.com/office/drawing/2014/main" id="{D9C5EBB7-E011-4D87-AC2C-CA9E8B33CF78}"/>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03</a:t>
                </a:r>
                <a:endParaRPr lang="en" sz="600" b="1" spc="50" dirty="0">
                  <a:ln w="0"/>
                  <a:solidFill>
                    <a:schemeClr val="bg2"/>
                  </a:solidFill>
                  <a:effectLst>
                    <a:innerShdw blurRad="63500" dist="50800" dir="13500000">
                      <a:srgbClr val="000000">
                        <a:alpha val="50000"/>
                      </a:srgbClr>
                    </a:innerShdw>
                  </a:effectLst>
                </a:endParaRPr>
              </a:p>
            </p:txBody>
          </p:sp>
        </p:grpSp>
        <p:grpSp>
          <p:nvGrpSpPr>
            <p:cNvPr id="105" name="Group 104">
              <a:extLst>
                <a:ext uri="{FF2B5EF4-FFF2-40B4-BE49-F238E27FC236}">
                  <a16:creationId xmlns:a16="http://schemas.microsoft.com/office/drawing/2014/main" id="{08B8A301-D21D-44FD-9A49-DA3405046293}"/>
                </a:ext>
              </a:extLst>
            </p:cNvPr>
            <p:cNvGrpSpPr/>
            <p:nvPr/>
          </p:nvGrpSpPr>
          <p:grpSpPr>
            <a:xfrm>
              <a:off x="7366011" y="4101237"/>
              <a:ext cx="271089" cy="286695"/>
              <a:chOff x="7237950" y="1717009"/>
              <a:chExt cx="336011" cy="355354"/>
            </a:xfrm>
            <a:solidFill>
              <a:srgbClr val="9933FF"/>
            </a:solidFill>
          </p:grpSpPr>
          <p:sp>
            <p:nvSpPr>
              <p:cNvPr id="106" name="Oval 105">
                <a:extLst>
                  <a:ext uri="{FF2B5EF4-FFF2-40B4-BE49-F238E27FC236}">
                    <a16:creationId xmlns:a16="http://schemas.microsoft.com/office/drawing/2014/main" id="{FA51BDD8-463C-49C5-BCCE-CFCB2381B26B}"/>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07" name="TextBox 72">
                <a:extLst>
                  <a:ext uri="{FF2B5EF4-FFF2-40B4-BE49-F238E27FC236}">
                    <a16:creationId xmlns:a16="http://schemas.microsoft.com/office/drawing/2014/main" id="{410B722A-7D64-4DDB-A721-E6739052AF1D}"/>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04</a:t>
                </a:r>
                <a:endParaRPr lang="en" sz="600" b="1" spc="50" dirty="0">
                  <a:ln w="0"/>
                  <a:solidFill>
                    <a:schemeClr val="bg2"/>
                  </a:solidFill>
                  <a:effectLst>
                    <a:innerShdw blurRad="63500" dist="50800" dir="13500000">
                      <a:srgbClr val="000000">
                        <a:alpha val="50000"/>
                      </a:srgbClr>
                    </a:innerShdw>
                  </a:effectLst>
                </a:endParaRPr>
              </a:p>
            </p:txBody>
          </p:sp>
        </p:grpSp>
        <p:grpSp>
          <p:nvGrpSpPr>
            <p:cNvPr id="108" name="Group 107">
              <a:extLst>
                <a:ext uri="{FF2B5EF4-FFF2-40B4-BE49-F238E27FC236}">
                  <a16:creationId xmlns:a16="http://schemas.microsoft.com/office/drawing/2014/main" id="{A6F1CCD0-D557-455E-945C-8FDDED80F929}"/>
                </a:ext>
              </a:extLst>
            </p:cNvPr>
            <p:cNvGrpSpPr/>
            <p:nvPr/>
          </p:nvGrpSpPr>
          <p:grpSpPr>
            <a:xfrm>
              <a:off x="7366011" y="4765384"/>
              <a:ext cx="271089" cy="286695"/>
              <a:chOff x="7237950" y="1717009"/>
              <a:chExt cx="336011" cy="355354"/>
            </a:xfrm>
            <a:solidFill>
              <a:schemeClr val="accent2">
                <a:lumMod val="75000"/>
              </a:schemeClr>
            </a:solidFill>
          </p:grpSpPr>
          <p:sp>
            <p:nvSpPr>
              <p:cNvPr id="109" name="Oval 108">
                <a:extLst>
                  <a:ext uri="{FF2B5EF4-FFF2-40B4-BE49-F238E27FC236}">
                    <a16:creationId xmlns:a16="http://schemas.microsoft.com/office/drawing/2014/main" id="{28FFF578-0710-44C5-BE73-F3F6B8DAB57D}"/>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10" name="TextBox 72">
                <a:extLst>
                  <a:ext uri="{FF2B5EF4-FFF2-40B4-BE49-F238E27FC236}">
                    <a16:creationId xmlns:a16="http://schemas.microsoft.com/office/drawing/2014/main" id="{E6837511-0112-422E-A26A-80C76BD73D5E}"/>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05</a:t>
                </a:r>
                <a:endParaRPr lang="en" sz="600" b="1" spc="50" dirty="0">
                  <a:ln w="0"/>
                  <a:solidFill>
                    <a:schemeClr val="bg2"/>
                  </a:solidFill>
                  <a:effectLst>
                    <a:innerShdw blurRad="63500" dist="50800" dir="13500000">
                      <a:srgbClr val="000000">
                        <a:alpha val="50000"/>
                      </a:srgbClr>
                    </a:innerShdw>
                  </a:effectLst>
                </a:endParaRPr>
              </a:p>
            </p:txBody>
          </p:sp>
        </p:grpSp>
        <p:grpSp>
          <p:nvGrpSpPr>
            <p:cNvPr id="111" name="Group 110">
              <a:extLst>
                <a:ext uri="{FF2B5EF4-FFF2-40B4-BE49-F238E27FC236}">
                  <a16:creationId xmlns:a16="http://schemas.microsoft.com/office/drawing/2014/main" id="{99C3F9D7-861A-421F-A781-E6C3F3C55083}"/>
                </a:ext>
              </a:extLst>
            </p:cNvPr>
            <p:cNvGrpSpPr/>
            <p:nvPr/>
          </p:nvGrpSpPr>
          <p:grpSpPr>
            <a:xfrm>
              <a:off x="7372035" y="5567783"/>
              <a:ext cx="271089" cy="286695"/>
              <a:chOff x="7237950" y="1717009"/>
              <a:chExt cx="336011" cy="355354"/>
            </a:xfrm>
            <a:solidFill>
              <a:srgbClr val="0070C0"/>
            </a:solidFill>
          </p:grpSpPr>
          <p:sp>
            <p:nvSpPr>
              <p:cNvPr id="112" name="Oval 111">
                <a:extLst>
                  <a:ext uri="{FF2B5EF4-FFF2-40B4-BE49-F238E27FC236}">
                    <a16:creationId xmlns:a16="http://schemas.microsoft.com/office/drawing/2014/main" id="{5EC6C9FA-E0B0-43FC-AF78-F3659CE17C64}"/>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13" name="TextBox 72">
                <a:extLst>
                  <a:ext uri="{FF2B5EF4-FFF2-40B4-BE49-F238E27FC236}">
                    <a16:creationId xmlns:a16="http://schemas.microsoft.com/office/drawing/2014/main" id="{8D994BC9-731A-44E7-9C6D-A703CB313E91}"/>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06</a:t>
                </a:r>
                <a:endParaRPr lang="en" sz="600" b="1" spc="50" dirty="0">
                  <a:ln w="0"/>
                  <a:solidFill>
                    <a:schemeClr val="bg2"/>
                  </a:solidFill>
                  <a:effectLst>
                    <a:innerShdw blurRad="63500" dist="50800" dir="13500000">
                      <a:srgbClr val="000000">
                        <a:alpha val="50000"/>
                      </a:srgbClr>
                    </a:innerShdw>
                  </a:effectLst>
                </a:endParaRPr>
              </a:p>
            </p:txBody>
          </p:sp>
        </p:grpSp>
        <p:grpSp>
          <p:nvGrpSpPr>
            <p:cNvPr id="114" name="Group 113">
              <a:extLst>
                <a:ext uri="{FF2B5EF4-FFF2-40B4-BE49-F238E27FC236}">
                  <a16:creationId xmlns:a16="http://schemas.microsoft.com/office/drawing/2014/main" id="{3EF669FC-7506-4162-899E-0792D94FC9D6}"/>
                </a:ext>
              </a:extLst>
            </p:cNvPr>
            <p:cNvGrpSpPr/>
            <p:nvPr/>
          </p:nvGrpSpPr>
          <p:grpSpPr>
            <a:xfrm>
              <a:off x="7372035" y="6194219"/>
              <a:ext cx="271089" cy="286695"/>
              <a:chOff x="7237950" y="1717009"/>
              <a:chExt cx="336011" cy="355354"/>
            </a:xfrm>
            <a:solidFill>
              <a:schemeClr val="accent6">
                <a:lumMod val="75000"/>
              </a:schemeClr>
            </a:solidFill>
          </p:grpSpPr>
          <p:sp>
            <p:nvSpPr>
              <p:cNvPr id="115" name="Oval 114">
                <a:extLst>
                  <a:ext uri="{FF2B5EF4-FFF2-40B4-BE49-F238E27FC236}">
                    <a16:creationId xmlns:a16="http://schemas.microsoft.com/office/drawing/2014/main" id="{033DFB6B-A5BD-4853-A01A-9979E1D974BF}"/>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16" name="TextBox 72">
                <a:extLst>
                  <a:ext uri="{FF2B5EF4-FFF2-40B4-BE49-F238E27FC236}">
                    <a16:creationId xmlns:a16="http://schemas.microsoft.com/office/drawing/2014/main" id="{FED7002A-AF7D-4C32-AF34-58BF588EBBC1}"/>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07</a:t>
                </a:r>
                <a:endParaRPr lang="en" sz="600" b="1" spc="50" dirty="0">
                  <a:ln w="0"/>
                  <a:solidFill>
                    <a:schemeClr val="bg2"/>
                  </a:solidFill>
                  <a:effectLst>
                    <a:innerShdw blurRad="63500" dist="50800" dir="13500000">
                      <a:srgbClr val="000000">
                        <a:alpha val="50000"/>
                      </a:srgbClr>
                    </a:innerShdw>
                  </a:effectLst>
                </a:endParaRPr>
              </a:p>
            </p:txBody>
          </p:sp>
        </p:grpSp>
      </p:grpSp>
    </p:spTree>
    <p:extLst>
      <p:ext uri="{BB962C8B-B14F-4D97-AF65-F5344CB8AC3E}">
        <p14:creationId xmlns:p14="http://schemas.microsoft.com/office/powerpoint/2010/main" val="3146649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ounded Rectangle 1"/>
          <p:cNvSpPr/>
          <p:nvPr/>
        </p:nvSpPr>
        <p:spPr>
          <a:xfrm>
            <a:off x="609600" y="4762500"/>
            <a:ext cx="10972800" cy="876300"/>
          </a:xfrm>
          <a:prstGeom prst="roundRect">
            <a:avLst>
              <a:gd name="adj" fmla="val 13043"/>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300287"/>
            <a:ext cx="2571750" cy="2066925"/>
          </a:xfrm>
          <a:prstGeom prst="roundRect">
            <a:avLst>
              <a:gd name="adj" fmla="val 55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09950" y="2171700"/>
            <a:ext cx="2571750" cy="2324100"/>
          </a:xfrm>
          <a:prstGeom prst="roundRect">
            <a:avLst>
              <a:gd name="adj" fmla="val 49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10300" y="2300287"/>
            <a:ext cx="2571750" cy="2066925"/>
          </a:xfrm>
          <a:prstGeom prst="roundRect">
            <a:avLst>
              <a:gd name="adj" fmla="val 55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010650" y="2171700"/>
            <a:ext cx="2571750" cy="2324100"/>
          </a:xfrm>
          <a:prstGeom prst="roundRect">
            <a:avLst>
              <a:gd name="adj" fmla="val 49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838200" y="2605087"/>
            <a:ext cx="266700" cy="266700"/>
          </a:xfrm>
          <a:prstGeom prst="rect">
            <a:avLst/>
          </a:prstGeom>
        </p:spPr>
      </p:pic>
      <p:pic>
        <p:nvPicPr>
          <p:cNvPr id="8" name="Picture 7" descr="image.png"/>
          <p:cNvPicPr>
            <a:picLocks noChangeAspect="1"/>
          </p:cNvPicPr>
          <p:nvPr/>
        </p:nvPicPr>
        <p:blipFill>
          <a:blip r:embed="rId4"/>
          <a:stretch>
            <a:fillRect/>
          </a:stretch>
        </p:blipFill>
        <p:spPr>
          <a:xfrm>
            <a:off x="3638550" y="2476500"/>
            <a:ext cx="304800" cy="266700"/>
          </a:xfrm>
          <a:prstGeom prst="rect">
            <a:avLst/>
          </a:prstGeom>
        </p:spPr>
      </p:pic>
      <p:pic>
        <p:nvPicPr>
          <p:cNvPr id="9" name="Picture 8" descr="image.png"/>
          <p:cNvPicPr>
            <a:picLocks noChangeAspect="1"/>
          </p:cNvPicPr>
          <p:nvPr/>
        </p:nvPicPr>
        <p:blipFill>
          <a:blip r:embed="rId5"/>
          <a:stretch>
            <a:fillRect/>
          </a:stretch>
        </p:blipFill>
        <p:spPr>
          <a:xfrm>
            <a:off x="6438900" y="2605087"/>
            <a:ext cx="304800" cy="266700"/>
          </a:xfrm>
          <a:prstGeom prst="rect">
            <a:avLst/>
          </a:prstGeom>
        </p:spPr>
      </p:pic>
      <p:pic>
        <p:nvPicPr>
          <p:cNvPr id="10" name="Picture 9" descr="image.png"/>
          <p:cNvPicPr>
            <a:picLocks noChangeAspect="1"/>
          </p:cNvPicPr>
          <p:nvPr/>
        </p:nvPicPr>
        <p:blipFill>
          <a:blip r:embed="rId6"/>
          <a:stretch>
            <a:fillRect/>
          </a:stretch>
        </p:blipFill>
        <p:spPr>
          <a:xfrm>
            <a:off x="9239250" y="2476500"/>
            <a:ext cx="266700" cy="266700"/>
          </a:xfrm>
          <a:prstGeom prst="rect">
            <a:avLst/>
          </a:prstGeom>
        </p:spPr>
      </p:pic>
      <p:sp>
        <p:nvSpPr>
          <p:cNvPr id="12" name="TextBox 11"/>
          <p:cNvSpPr txBox="1"/>
          <p:nvPr/>
        </p:nvSpPr>
        <p:spPr>
          <a:xfrm>
            <a:off x="571500" y="879247"/>
            <a:ext cx="6573018" cy="553998"/>
          </a:xfrm>
          <a:prstGeom prst="rect">
            <a:avLst/>
          </a:prstGeom>
          <a:noFill/>
        </p:spPr>
        <p:txBody>
          <a:bodyPr wrap="none" lIns="0" tIns="0" rIns="0" bIns="0" anchor="t">
            <a:spAutoFit/>
          </a:bodyPr>
          <a:lstStyle/>
          <a:p>
            <a:pPr algn="l"/>
            <a:r>
              <a:rPr sz="3600" i="0" u="none" dirty="0">
                <a:solidFill>
                  <a:srgbClr val="0F172A"/>
                </a:solidFill>
                <a:effectLst>
                  <a:outerShdw blurRad="38100" dist="38100" dir="2700000" algn="tl">
                    <a:srgbClr val="000000">
                      <a:alpha val="43137"/>
                    </a:srgbClr>
                  </a:outerShdw>
                </a:effectLst>
                <a:latin typeface="+mj-lt"/>
              </a:rPr>
              <a:t>Platform Walkthrough &amp; Workflows</a:t>
            </a:r>
          </a:p>
        </p:txBody>
      </p:sp>
      <p:sp>
        <p:nvSpPr>
          <p:cNvPr id="13" name="TextBox 12"/>
          <p:cNvSpPr txBox="1"/>
          <p:nvPr/>
        </p:nvSpPr>
        <p:spPr>
          <a:xfrm>
            <a:off x="876300" y="4972050"/>
            <a:ext cx="10534650" cy="457200"/>
          </a:xfrm>
          <a:prstGeom prst="rect">
            <a:avLst/>
          </a:prstGeom>
          <a:noFill/>
        </p:spPr>
        <p:txBody>
          <a:bodyPr wrap="square" lIns="0" tIns="0" rIns="0" bIns="0" anchor="t">
            <a:spAutoFit/>
          </a:bodyPr>
          <a:lstStyle/>
          <a:p>
            <a:pPr algn="l"/>
            <a:r>
              <a:rPr sz="1350" b="1" i="0" u="none">
                <a:solidFill>
                  <a:srgbClr val="1E3A8A"/>
                </a:solidFill>
                <a:latin typeface="DM Sans"/>
              </a:rPr>
              <a:t>Multi-Course Support:</a:t>
            </a:r>
            <a:r>
              <a:rPr sz="1350" b="0" i="0" u="none">
                <a:solidFill>
                  <a:srgbClr val="1E3A8A"/>
                </a:solidFill>
                <a:latin typeface="DM Sans"/>
              </a:rPr>
              <a:t> Candidates can enroll across multiple courses and track individual semester scorecards and block transaction IDs.</a:t>
            </a:r>
          </a:p>
        </p:txBody>
      </p:sp>
      <p:sp>
        <p:nvSpPr>
          <p:cNvPr id="14" name="TextBox 13"/>
          <p:cNvSpPr txBox="1"/>
          <p:nvPr/>
        </p:nvSpPr>
        <p:spPr>
          <a:xfrm>
            <a:off x="838200" y="3024187"/>
            <a:ext cx="2775346" cy="257175"/>
          </a:xfrm>
          <a:prstGeom prst="rect">
            <a:avLst/>
          </a:prstGeom>
          <a:noFill/>
        </p:spPr>
        <p:txBody>
          <a:bodyPr wrap="none" lIns="0" tIns="0" rIns="0" bIns="0" anchor="t">
            <a:spAutoFit/>
          </a:bodyPr>
          <a:lstStyle/>
          <a:p>
            <a:pPr algn="l"/>
            <a:r>
              <a:rPr sz="1575" b="1" i="0" u="none">
                <a:solidFill>
                  <a:srgbClr val="0F172A"/>
                </a:solidFill>
                <a:latin typeface="Space Grotesk"/>
              </a:rPr>
              <a:t>Admin Setup Panel</a:t>
            </a:r>
          </a:p>
        </p:txBody>
      </p:sp>
      <p:sp>
        <p:nvSpPr>
          <p:cNvPr id="15" name="TextBox 14"/>
          <p:cNvSpPr txBox="1"/>
          <p:nvPr/>
        </p:nvSpPr>
        <p:spPr>
          <a:xfrm>
            <a:off x="838200" y="3376612"/>
            <a:ext cx="2209800" cy="685800"/>
          </a:xfrm>
          <a:prstGeom prst="rect">
            <a:avLst/>
          </a:prstGeom>
          <a:noFill/>
        </p:spPr>
        <p:txBody>
          <a:bodyPr wrap="square" lIns="0" tIns="0" rIns="0" bIns="0" anchor="t">
            <a:spAutoFit/>
          </a:bodyPr>
          <a:lstStyle/>
          <a:p>
            <a:pPr algn="l"/>
            <a:r>
              <a:rPr sz="1350" b="0" i="0" u="none">
                <a:solidFill>
                  <a:srgbClr val="334155"/>
                </a:solidFill>
                <a:latin typeface="DM Sans"/>
              </a:rPr>
              <a:t>Course creation, batch setup, exam slot scheduling.</a:t>
            </a:r>
          </a:p>
        </p:txBody>
      </p:sp>
      <p:sp>
        <p:nvSpPr>
          <p:cNvPr id="16" name="TextBox 15"/>
          <p:cNvSpPr txBox="1"/>
          <p:nvPr/>
        </p:nvSpPr>
        <p:spPr>
          <a:xfrm>
            <a:off x="3638550" y="2895600"/>
            <a:ext cx="2320290" cy="514350"/>
          </a:xfrm>
          <a:prstGeom prst="rect">
            <a:avLst/>
          </a:prstGeom>
          <a:noFill/>
        </p:spPr>
        <p:txBody>
          <a:bodyPr wrap="square" lIns="0" tIns="0" rIns="0" bIns="0" anchor="t">
            <a:spAutoFit/>
          </a:bodyPr>
          <a:lstStyle/>
          <a:p>
            <a:pPr algn="l"/>
            <a:r>
              <a:rPr sz="1575" b="1" i="0" u="none">
                <a:solidFill>
                  <a:srgbClr val="0F172A"/>
                </a:solidFill>
                <a:latin typeface="Space Grotesk"/>
              </a:rPr>
              <a:t>On-Chain Result Minting</a:t>
            </a:r>
          </a:p>
        </p:txBody>
      </p:sp>
      <p:sp>
        <p:nvSpPr>
          <p:cNvPr id="17" name="TextBox 16"/>
          <p:cNvSpPr txBox="1"/>
          <p:nvPr/>
        </p:nvSpPr>
        <p:spPr>
          <a:xfrm>
            <a:off x="3638550" y="3505200"/>
            <a:ext cx="2209800" cy="685800"/>
          </a:xfrm>
          <a:prstGeom prst="rect">
            <a:avLst/>
          </a:prstGeom>
          <a:noFill/>
        </p:spPr>
        <p:txBody>
          <a:bodyPr wrap="square" lIns="0" tIns="0" rIns="0" bIns="0" anchor="t">
            <a:spAutoFit/>
          </a:bodyPr>
          <a:lstStyle/>
          <a:p>
            <a:pPr algn="l"/>
            <a:r>
              <a:rPr sz="1350" b="0" i="0" u="none">
                <a:solidFill>
                  <a:srgbClr val="334155"/>
                </a:solidFill>
                <a:latin typeface="DM Sans"/>
              </a:rPr>
              <a:t>Semester marks anchored via MetaMask transactions.</a:t>
            </a:r>
          </a:p>
        </p:txBody>
      </p:sp>
      <p:sp>
        <p:nvSpPr>
          <p:cNvPr id="18" name="TextBox 17"/>
          <p:cNvSpPr txBox="1"/>
          <p:nvPr/>
        </p:nvSpPr>
        <p:spPr>
          <a:xfrm>
            <a:off x="6438900" y="3024187"/>
            <a:ext cx="2775346" cy="257175"/>
          </a:xfrm>
          <a:prstGeom prst="rect">
            <a:avLst/>
          </a:prstGeom>
          <a:noFill/>
        </p:spPr>
        <p:txBody>
          <a:bodyPr wrap="none" lIns="0" tIns="0" rIns="0" bIns="0" anchor="t">
            <a:spAutoFit/>
          </a:bodyPr>
          <a:lstStyle/>
          <a:p>
            <a:pPr algn="l"/>
            <a:r>
              <a:rPr sz="1575" b="1" i="0" u="none">
                <a:solidFill>
                  <a:srgbClr val="0F172A"/>
                </a:solidFill>
                <a:latin typeface="Space Grotesk"/>
              </a:rPr>
              <a:t>Web3 ID Card Flow</a:t>
            </a:r>
          </a:p>
        </p:txBody>
      </p:sp>
      <p:sp>
        <p:nvSpPr>
          <p:cNvPr id="19" name="TextBox 18"/>
          <p:cNvSpPr txBox="1"/>
          <p:nvPr/>
        </p:nvSpPr>
        <p:spPr>
          <a:xfrm>
            <a:off x="6438900" y="3376612"/>
            <a:ext cx="2209800" cy="685800"/>
          </a:xfrm>
          <a:prstGeom prst="rect">
            <a:avLst/>
          </a:prstGeom>
          <a:noFill/>
        </p:spPr>
        <p:txBody>
          <a:bodyPr wrap="square" lIns="0" tIns="0" rIns="0" bIns="0" anchor="t">
            <a:spAutoFit/>
          </a:bodyPr>
          <a:lstStyle/>
          <a:p>
            <a:pPr algn="l"/>
            <a:r>
              <a:rPr sz="1350" b="0" i="0" u="none">
                <a:solidFill>
                  <a:srgbClr val="334155"/>
                </a:solidFill>
                <a:latin typeface="DM Sans"/>
              </a:rPr>
              <a:t>Student request, fee payment, smart contract minting.</a:t>
            </a:r>
          </a:p>
        </p:txBody>
      </p:sp>
      <p:sp>
        <p:nvSpPr>
          <p:cNvPr id="20" name="TextBox 19"/>
          <p:cNvSpPr txBox="1"/>
          <p:nvPr/>
        </p:nvSpPr>
        <p:spPr>
          <a:xfrm>
            <a:off x="9239250" y="2895600"/>
            <a:ext cx="2320290" cy="514350"/>
          </a:xfrm>
          <a:prstGeom prst="rect">
            <a:avLst/>
          </a:prstGeom>
          <a:noFill/>
        </p:spPr>
        <p:txBody>
          <a:bodyPr wrap="square" lIns="0" tIns="0" rIns="0" bIns="0" anchor="t">
            <a:spAutoFit/>
          </a:bodyPr>
          <a:lstStyle/>
          <a:p>
            <a:pPr algn="l"/>
            <a:r>
              <a:rPr sz="1575" b="1" i="0" u="none">
                <a:solidFill>
                  <a:srgbClr val="0F172A"/>
                </a:solidFill>
                <a:latin typeface="Space Grotesk"/>
              </a:rPr>
              <a:t>QR Certificate Preview</a:t>
            </a:r>
          </a:p>
        </p:txBody>
      </p:sp>
      <p:sp>
        <p:nvSpPr>
          <p:cNvPr id="21" name="TextBox 20"/>
          <p:cNvSpPr txBox="1"/>
          <p:nvPr/>
        </p:nvSpPr>
        <p:spPr>
          <a:xfrm>
            <a:off x="9239250" y="3505200"/>
            <a:ext cx="2209800" cy="685800"/>
          </a:xfrm>
          <a:prstGeom prst="rect">
            <a:avLst/>
          </a:prstGeom>
          <a:noFill/>
        </p:spPr>
        <p:txBody>
          <a:bodyPr wrap="square" lIns="0" tIns="0" rIns="0" bIns="0" anchor="t">
            <a:spAutoFit/>
          </a:bodyPr>
          <a:lstStyle/>
          <a:p>
            <a:pPr algn="l"/>
            <a:r>
              <a:rPr sz="1350" b="0" i="0" u="none">
                <a:solidFill>
                  <a:srgbClr val="334155"/>
                </a:solidFill>
                <a:latin typeface="DM Sans"/>
              </a:rPr>
              <a:t>Consolidated certificate with transaction hash proof.</a:t>
            </a:r>
          </a:p>
        </p:txBody>
      </p:sp>
      <p:sp>
        <p:nvSpPr>
          <p:cNvPr id="22" name="TextBox 24">
            <a:extLst>
              <a:ext uri="{FF2B5EF4-FFF2-40B4-BE49-F238E27FC236}">
                <a16:creationId xmlns:a16="http://schemas.microsoft.com/office/drawing/2014/main" id="{35D3F280-79C7-4BE8-98EF-4C055952D1B8}"/>
              </a:ext>
            </a:extLst>
          </p:cNvPr>
          <p:cNvSpPr/>
          <p:nvPr/>
        </p:nvSpPr>
        <p:spPr>
          <a:xfrm>
            <a:off x="571500" y="479197"/>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rmAutofit/>
          </a:bodyPr>
          <a:lstStyle/>
          <a:p>
            <a:pPr marL="0" indent="0" algn="l">
              <a:lnSpc>
                <a:spcPct val="100000"/>
              </a:lnSpc>
              <a:buNone/>
            </a:pPr>
            <a:r>
              <a:rPr lang="en-IN" altLang="en-US" sz="2700" spc="150" dirty="0">
                <a:solidFill>
                  <a:srgbClr val="0033CC"/>
                </a:solidFill>
                <a:latin typeface="+mj-lt"/>
                <a:ea typeface="Arial" pitchFamily="34" charset="-122"/>
                <a:cs typeface="Arial" pitchFamily="34" charset="-120"/>
              </a:rPr>
              <a:t>Project </a:t>
            </a:r>
            <a:r>
              <a:rPr lang="en-IN" altLang="en-US" sz="2700" spc="150" dirty="0">
                <a:solidFill>
                  <a:srgbClr val="0070C0"/>
                </a:solidFill>
                <a:latin typeface="+mj-lt"/>
                <a:ea typeface="Arial" pitchFamily="34" charset="-122"/>
                <a:cs typeface="Arial" pitchFamily="34" charset="-120"/>
              </a:rPr>
              <a:t>Screenshots -</a:t>
            </a:r>
            <a:r>
              <a:rPr lang="en-IN" altLang="en-US" sz="2700" dirty="0">
                <a:solidFill>
                  <a:srgbClr val="0F172A"/>
                </a:solidFill>
                <a:latin typeface="+mj-lt"/>
                <a:ea typeface="Arial" pitchFamily="34" charset="-122"/>
                <a:cs typeface="Arial" pitchFamily="34" charset="-120"/>
              </a:rPr>
              <a:t> </a:t>
            </a:r>
            <a:endParaRPr lang="en" sz="2700" dirty="0">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r="914"/>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14833" y="938501"/>
            <a:ext cx="3547213"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Home Page – Part 1</a:t>
            </a:r>
          </a:p>
        </p:txBody>
      </p:sp>
      <p:sp>
        <p:nvSpPr>
          <p:cNvPr id="30" name="TextBox 29">
            <a:extLst>
              <a:ext uri="{FF2B5EF4-FFF2-40B4-BE49-F238E27FC236}">
                <a16:creationId xmlns:a16="http://schemas.microsoft.com/office/drawing/2014/main" id="{307A2916-8736-4088-BB0B-A5560D8E4E17}"/>
              </a:ext>
            </a:extLst>
          </p:cNvPr>
          <p:cNvSpPr txBox="1"/>
          <p:nvPr/>
        </p:nvSpPr>
        <p:spPr>
          <a:xfrm>
            <a:off x="-7388957" y="1160600"/>
            <a:ext cx="3931626" cy="338554"/>
          </a:xfrm>
          <a:prstGeom prst="rect">
            <a:avLst/>
          </a:prstGeom>
          <a:noFill/>
        </p:spPr>
        <p:txBody>
          <a:bodyPr wrap="square">
            <a:spAutoFit/>
          </a:bodyPr>
          <a:lstStyle>
            <a:lvl1pPr>
              <a:defRPr sz="1600" b="1">
                <a:solidFill>
                  <a:schemeClr val="bg2">
                    <a:lumMod val="25000"/>
                  </a:schemeClr>
                </a:solidFill>
              </a:defRPr>
            </a:lvl1pPr>
          </a:lstStyle>
          <a:p>
            <a:pPr marL="342900" indent="-342900">
              <a:buFont typeface="+mj-lt"/>
              <a:buAutoNum type="arabicPeriod"/>
            </a:pPr>
            <a:r>
              <a:rPr lang="en-IN" dirty="0"/>
              <a:t> Ethereum Directory</a:t>
            </a:r>
          </a:p>
        </p:txBody>
      </p:sp>
      <p:sp>
        <p:nvSpPr>
          <p:cNvPr id="31" name="TextBox 30">
            <a:extLst>
              <a:ext uri="{FF2B5EF4-FFF2-40B4-BE49-F238E27FC236}">
                <a16:creationId xmlns:a16="http://schemas.microsoft.com/office/drawing/2014/main" id="{517A11B2-F650-4427-967C-8DA8C1D44A75}"/>
              </a:ext>
            </a:extLst>
          </p:cNvPr>
          <p:cNvSpPr txBox="1"/>
          <p:nvPr/>
        </p:nvSpPr>
        <p:spPr>
          <a:xfrm>
            <a:off x="-6903916" y="1412267"/>
            <a:ext cx="595239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Go to the Ethereum directory to start the local blockchain node (Ganache/Hardhat): </a:t>
            </a:r>
            <a:endParaRPr lang="en-IN" sz="1200" dirty="0"/>
          </a:p>
        </p:txBody>
      </p:sp>
      <p:sp>
        <p:nvSpPr>
          <p:cNvPr id="32" name="TextBox 31">
            <a:extLst>
              <a:ext uri="{FF2B5EF4-FFF2-40B4-BE49-F238E27FC236}">
                <a16:creationId xmlns:a16="http://schemas.microsoft.com/office/drawing/2014/main" id="{D550F658-4423-4335-B8A4-AAED07B0753C}"/>
              </a:ext>
            </a:extLst>
          </p:cNvPr>
          <p:cNvSpPr txBox="1"/>
          <p:nvPr/>
        </p:nvSpPr>
        <p:spPr>
          <a:xfrm>
            <a:off x="-6906116" y="2204444"/>
            <a:ext cx="4855554" cy="461665"/>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t>Open another terminal for the Ethereum directory to deploy the smart contract to the local network:</a:t>
            </a:r>
            <a:endParaRPr lang="en-IN" sz="1200" dirty="0"/>
          </a:p>
        </p:txBody>
      </p:sp>
      <p:sp>
        <p:nvSpPr>
          <p:cNvPr id="34" name="TextBox 33">
            <a:extLst>
              <a:ext uri="{FF2B5EF4-FFF2-40B4-BE49-F238E27FC236}">
                <a16:creationId xmlns:a16="http://schemas.microsoft.com/office/drawing/2014/main" id="{6568B698-08E4-42BD-8952-BD99C075ED24}"/>
              </a:ext>
            </a:extLst>
          </p:cNvPr>
          <p:cNvSpPr txBox="1"/>
          <p:nvPr/>
        </p:nvSpPr>
        <p:spPr>
          <a:xfrm>
            <a:off x="-6903917" y="6529225"/>
            <a:ext cx="6097464" cy="276999"/>
          </a:xfrm>
          <a:prstGeom prst="rect">
            <a:avLst/>
          </a:prstGeom>
          <a:noFill/>
        </p:spPr>
        <p:txBody>
          <a:bodyPr wrap="square">
            <a:spAutoFit/>
          </a:bodyPr>
          <a:lstStyle>
            <a:lvl1pPr indent="0">
              <a:lnSpc>
                <a:spcPct val="150000"/>
              </a:lnSpc>
              <a:buNone/>
              <a:defRPr sz="1300">
                <a:solidFill>
                  <a:srgbClr val="1E293B"/>
                </a:solidFill>
                <a:latin typeface="Arial" pitchFamily="34" charset="0"/>
                <a:ea typeface="Arial" pitchFamily="34" charset="-122"/>
                <a:cs typeface="Arial" pitchFamily="34" charset="-120"/>
              </a:defRPr>
            </a:lvl1pPr>
          </a:lstStyle>
          <a:p>
            <a:pPr>
              <a:lnSpc>
                <a:spcPct val="100000"/>
              </a:lnSpc>
            </a:pPr>
            <a:r>
              <a:rPr lang="en-US" sz="1200" dirty="0">
                <a:solidFill>
                  <a:schemeClr val="bg2">
                    <a:lumMod val="25000"/>
                  </a:schemeClr>
                </a:solidFill>
              </a:rPr>
              <a:t>The frontend should be accessible at http://localhost:5173/.</a:t>
            </a:r>
            <a:endParaRPr lang="en-IN" sz="1200" dirty="0">
              <a:solidFill>
                <a:schemeClr val="bg2">
                  <a:lumMod val="25000"/>
                </a:schemeClr>
              </a:solidFill>
            </a:endParaRPr>
          </a:p>
        </p:txBody>
      </p:sp>
      <p:sp>
        <p:nvSpPr>
          <p:cNvPr id="36" name="TextBox 35">
            <a:extLst>
              <a:ext uri="{FF2B5EF4-FFF2-40B4-BE49-F238E27FC236}">
                <a16:creationId xmlns:a16="http://schemas.microsoft.com/office/drawing/2014/main" id="{158A7177-7973-4C28-ACE2-A2074D95736A}"/>
              </a:ext>
            </a:extLst>
          </p:cNvPr>
          <p:cNvSpPr txBox="1"/>
          <p:nvPr/>
        </p:nvSpPr>
        <p:spPr>
          <a:xfrm>
            <a:off x="-7378700" y="3194119"/>
            <a:ext cx="6097464" cy="338554"/>
          </a:xfrm>
          <a:prstGeom prst="rect">
            <a:avLst/>
          </a:prstGeom>
          <a:noFill/>
        </p:spPr>
        <p:txBody>
          <a:bodyPr wrap="square">
            <a:spAutoFit/>
          </a:bodyPr>
          <a:lstStyle>
            <a:lvl1pPr marL="342900" indent="-342900">
              <a:buFont typeface="+mj-lt"/>
              <a:buAutoNum type="arabicPeriod"/>
              <a:defRPr sz="1600" b="1">
                <a:solidFill>
                  <a:schemeClr val="bg2">
                    <a:lumMod val="25000"/>
                  </a:schemeClr>
                </a:solidFill>
              </a:defRPr>
            </a:lvl1pPr>
          </a:lstStyle>
          <a:p>
            <a:pPr>
              <a:buFont typeface="+mj-lt"/>
              <a:buAutoNum type="arabicPeriod" startAt="2"/>
            </a:pPr>
            <a:r>
              <a:rPr lang="en-IN" dirty="0"/>
              <a:t>Backend Directory</a:t>
            </a:r>
          </a:p>
        </p:txBody>
      </p:sp>
      <p:sp>
        <p:nvSpPr>
          <p:cNvPr id="38" name="TextBox 37">
            <a:extLst>
              <a:ext uri="{FF2B5EF4-FFF2-40B4-BE49-F238E27FC236}">
                <a16:creationId xmlns:a16="http://schemas.microsoft.com/office/drawing/2014/main" id="{A9C16DF5-6534-45E7-829E-9EB278DA35A4}"/>
              </a:ext>
            </a:extLst>
          </p:cNvPr>
          <p:cNvSpPr txBox="1"/>
          <p:nvPr/>
        </p:nvSpPr>
        <p:spPr>
          <a:xfrm>
            <a:off x="-7378700" y="5471808"/>
            <a:ext cx="6097464" cy="338554"/>
          </a:xfrm>
          <a:prstGeom prst="rect">
            <a:avLst/>
          </a:prstGeom>
          <a:noFill/>
        </p:spPr>
        <p:txBody>
          <a:bodyPr wrap="square">
            <a:spAutoFit/>
          </a:bodyPr>
          <a:lstStyle>
            <a:lvl1pPr marL="342900" indent="-342900">
              <a:buFont typeface="+mj-lt"/>
              <a:buAutoNum type="arabicPeriod" startAt="2"/>
              <a:defRPr sz="1600" b="1">
                <a:solidFill>
                  <a:schemeClr val="bg2">
                    <a:lumMod val="25000"/>
                  </a:schemeClr>
                </a:solidFill>
              </a:defRPr>
            </a:lvl1pPr>
          </a:lstStyle>
          <a:p>
            <a:pPr>
              <a:buFont typeface="+mj-lt"/>
              <a:buAutoNum type="arabicPeriod" startAt="4"/>
            </a:pPr>
            <a:r>
              <a:rPr lang="en-IN" dirty="0"/>
              <a:t>Frontend Directory</a:t>
            </a:r>
          </a:p>
        </p:txBody>
      </p:sp>
      <p:pic>
        <p:nvPicPr>
          <p:cNvPr id="42" name="Picture 41">
            <a:extLst>
              <a:ext uri="{FF2B5EF4-FFF2-40B4-BE49-F238E27FC236}">
                <a16:creationId xmlns:a16="http://schemas.microsoft.com/office/drawing/2014/main" id="{792E524D-3C23-4158-85F8-EA70AD1723DD}"/>
              </a:ext>
            </a:extLst>
          </p:cNvPr>
          <p:cNvPicPr>
            <a:picLocks noChangeAspect="1"/>
          </p:cNvPicPr>
          <p:nvPr/>
        </p:nvPicPr>
        <p:blipFill>
          <a:blip r:embed="rId4"/>
          <a:stretch>
            <a:fillRect/>
          </a:stretch>
        </p:blipFill>
        <p:spPr>
          <a:xfrm>
            <a:off x="-6903917" y="1708543"/>
            <a:ext cx="5864471" cy="505387"/>
          </a:xfrm>
          <a:prstGeom prst="rect">
            <a:avLst/>
          </a:prstGeom>
        </p:spPr>
      </p:pic>
      <p:pic>
        <p:nvPicPr>
          <p:cNvPr id="44" name="Picture 43">
            <a:extLst>
              <a:ext uri="{FF2B5EF4-FFF2-40B4-BE49-F238E27FC236}">
                <a16:creationId xmlns:a16="http://schemas.microsoft.com/office/drawing/2014/main" id="{0B90D18A-DEC5-437A-9E4E-41D679476414}"/>
              </a:ext>
            </a:extLst>
          </p:cNvPr>
          <p:cNvPicPr>
            <a:picLocks noChangeAspect="1"/>
          </p:cNvPicPr>
          <p:nvPr/>
        </p:nvPicPr>
        <p:blipFill>
          <a:blip r:embed="rId4"/>
          <a:stretch>
            <a:fillRect/>
          </a:stretch>
        </p:blipFill>
        <p:spPr>
          <a:xfrm>
            <a:off x="-6903917" y="2678266"/>
            <a:ext cx="5864471" cy="505387"/>
          </a:xfrm>
          <a:prstGeom prst="rect">
            <a:avLst/>
          </a:prstGeom>
        </p:spPr>
      </p:pic>
      <p:sp>
        <p:nvSpPr>
          <p:cNvPr id="45" name="TextBox 44">
            <a:extLst>
              <a:ext uri="{FF2B5EF4-FFF2-40B4-BE49-F238E27FC236}">
                <a16:creationId xmlns:a16="http://schemas.microsoft.com/office/drawing/2014/main" id="{3C018B63-6EE9-482F-BDBA-83CE990F5F37}"/>
              </a:ext>
            </a:extLst>
          </p:cNvPr>
          <p:cNvSpPr txBox="1"/>
          <p:nvPr/>
        </p:nvSpPr>
        <p:spPr>
          <a:xfrm>
            <a:off x="-6736862" y="1738930"/>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.\ethereum\</a:t>
            </a:r>
          </a:p>
          <a:p>
            <a:pPr marL="171450" indent="-171450">
              <a:buClr>
                <a:schemeClr val="tx1"/>
              </a:buClr>
              <a:buFont typeface="Wingdings" panose="05000000000000000000" pitchFamily="2" charset="2"/>
              <a:buChar char="§"/>
            </a:pPr>
            <a:r>
              <a:rPr lang="en-IN" sz="1100" dirty="0">
                <a:solidFill>
                  <a:srgbClr val="0033CC"/>
                </a:solidFill>
              </a:rPr>
              <a:t>npx</a:t>
            </a:r>
            <a:r>
              <a:rPr lang="en-IN" sz="1100" dirty="0">
                <a:solidFill>
                  <a:schemeClr val="bg2">
                    <a:lumMod val="25000"/>
                  </a:schemeClr>
                </a:solidFill>
              </a:rPr>
              <a:t> hardhat node</a:t>
            </a:r>
          </a:p>
        </p:txBody>
      </p:sp>
      <p:pic>
        <p:nvPicPr>
          <p:cNvPr id="46" name="Picture 45">
            <a:extLst>
              <a:ext uri="{FF2B5EF4-FFF2-40B4-BE49-F238E27FC236}">
                <a16:creationId xmlns:a16="http://schemas.microsoft.com/office/drawing/2014/main" id="{CF5658D8-C7B5-49EC-9FE4-5DBEA453EC1C}"/>
              </a:ext>
            </a:extLst>
          </p:cNvPr>
          <p:cNvPicPr>
            <a:picLocks noChangeAspect="1"/>
          </p:cNvPicPr>
          <p:nvPr/>
        </p:nvPicPr>
        <p:blipFill>
          <a:blip r:embed="rId4"/>
          <a:stretch>
            <a:fillRect/>
          </a:stretch>
        </p:blipFill>
        <p:spPr>
          <a:xfrm>
            <a:off x="-6906115" y="3693196"/>
            <a:ext cx="5866670" cy="505387"/>
          </a:xfrm>
          <a:prstGeom prst="rect">
            <a:avLst/>
          </a:prstGeom>
        </p:spPr>
      </p:pic>
      <p:sp>
        <p:nvSpPr>
          <p:cNvPr id="48" name="TextBox 47">
            <a:extLst>
              <a:ext uri="{FF2B5EF4-FFF2-40B4-BE49-F238E27FC236}">
                <a16:creationId xmlns:a16="http://schemas.microsoft.com/office/drawing/2014/main" id="{6FA14697-1FE8-4A86-AA58-A1F8CFF034E5}"/>
              </a:ext>
            </a:extLst>
          </p:cNvPr>
          <p:cNvSpPr txBox="1"/>
          <p:nvPr/>
        </p:nvSpPr>
        <p:spPr>
          <a:xfrm>
            <a:off x="-6736863" y="2722999"/>
            <a:ext cx="4273063"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.\ethereum\</a:t>
            </a:r>
          </a:p>
          <a:p>
            <a:pPr marL="171450" indent="-171450">
              <a:buClr>
                <a:schemeClr val="tx1"/>
              </a:buClr>
              <a:buFont typeface="Wingdings" panose="05000000000000000000" pitchFamily="2" charset="2"/>
              <a:buChar char="§"/>
            </a:pPr>
            <a:r>
              <a:rPr lang="en-IN" sz="1100" dirty="0">
                <a:solidFill>
                  <a:srgbClr val="0033CC"/>
                </a:solidFill>
              </a:rPr>
              <a:t>npx  </a:t>
            </a:r>
            <a:r>
              <a:rPr lang="en-US" sz="1100" dirty="0">
                <a:solidFill>
                  <a:schemeClr val="tx1">
                    <a:lumMod val="85000"/>
                    <a:lumOff val="15000"/>
                  </a:schemeClr>
                </a:solidFill>
              </a:rPr>
              <a:t>hardhat run scripts/deployCertificate.js --network localhost</a:t>
            </a:r>
            <a:endParaRPr lang="en-IN" sz="1100" dirty="0">
              <a:solidFill>
                <a:schemeClr val="tx1">
                  <a:lumMod val="85000"/>
                  <a:lumOff val="15000"/>
                </a:schemeClr>
              </a:solidFill>
            </a:endParaRPr>
          </a:p>
        </p:txBody>
      </p:sp>
      <p:sp>
        <p:nvSpPr>
          <p:cNvPr id="49" name="TextBox 48">
            <a:extLst>
              <a:ext uri="{FF2B5EF4-FFF2-40B4-BE49-F238E27FC236}">
                <a16:creationId xmlns:a16="http://schemas.microsoft.com/office/drawing/2014/main" id="{FD53E9EB-7F42-422B-90E8-70A8DE948E10}"/>
              </a:ext>
            </a:extLst>
          </p:cNvPr>
          <p:cNvSpPr txBox="1"/>
          <p:nvPr/>
        </p:nvSpPr>
        <p:spPr>
          <a:xfrm>
            <a:off x="-6736863" y="3737372"/>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.\backend\</a:t>
            </a:r>
          </a:p>
          <a:p>
            <a:pPr marL="171450" indent="-171450">
              <a:buClr>
                <a:schemeClr val="tx1"/>
              </a:buClr>
              <a:buFont typeface="Wingdings" panose="05000000000000000000" pitchFamily="2" charset="2"/>
              <a:buChar char="§"/>
            </a:pPr>
            <a:r>
              <a:rPr lang="en-IN" sz="1100" dirty="0" err="1">
                <a:solidFill>
                  <a:srgbClr val="0033CC"/>
                </a:solidFill>
              </a:rPr>
              <a:t>npm</a:t>
            </a:r>
            <a:r>
              <a:rPr lang="en-IN" sz="1100" dirty="0">
                <a:solidFill>
                  <a:schemeClr val="bg2">
                    <a:lumMod val="25000"/>
                  </a:schemeClr>
                </a:solidFill>
              </a:rPr>
              <a:t> start</a:t>
            </a:r>
          </a:p>
        </p:txBody>
      </p:sp>
      <p:pic>
        <p:nvPicPr>
          <p:cNvPr id="50" name="Picture 49">
            <a:extLst>
              <a:ext uri="{FF2B5EF4-FFF2-40B4-BE49-F238E27FC236}">
                <a16:creationId xmlns:a16="http://schemas.microsoft.com/office/drawing/2014/main" id="{92FAC755-BF28-4B47-88FF-C16903749059}"/>
              </a:ext>
            </a:extLst>
          </p:cNvPr>
          <p:cNvPicPr>
            <a:picLocks noChangeAspect="1"/>
          </p:cNvPicPr>
          <p:nvPr/>
        </p:nvPicPr>
        <p:blipFill>
          <a:blip r:embed="rId4"/>
          <a:stretch>
            <a:fillRect/>
          </a:stretch>
        </p:blipFill>
        <p:spPr>
          <a:xfrm>
            <a:off x="-6906116" y="6034970"/>
            <a:ext cx="5866670" cy="505387"/>
          </a:xfrm>
          <a:prstGeom prst="rect">
            <a:avLst/>
          </a:prstGeom>
        </p:spPr>
      </p:pic>
      <p:sp>
        <p:nvSpPr>
          <p:cNvPr id="51" name="TextBox 50">
            <a:extLst>
              <a:ext uri="{FF2B5EF4-FFF2-40B4-BE49-F238E27FC236}">
                <a16:creationId xmlns:a16="http://schemas.microsoft.com/office/drawing/2014/main" id="{CB1748F6-2FAD-41A1-825B-749060DE454E}"/>
              </a:ext>
            </a:extLst>
          </p:cNvPr>
          <p:cNvSpPr txBox="1"/>
          <p:nvPr/>
        </p:nvSpPr>
        <p:spPr>
          <a:xfrm>
            <a:off x="-6736864" y="6089807"/>
            <a:ext cx="3670789" cy="430887"/>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cd .\</a:t>
            </a:r>
            <a:r>
              <a:rPr lang="en-IN" sz="1100" dirty="0"/>
              <a:t>frontend</a:t>
            </a:r>
            <a:r>
              <a:rPr lang="en-IN" sz="1100" dirty="0">
                <a:solidFill>
                  <a:schemeClr val="bg2">
                    <a:lumMod val="25000"/>
                  </a:schemeClr>
                </a:solidFill>
              </a:rPr>
              <a:t>\</a:t>
            </a:r>
          </a:p>
          <a:p>
            <a:pPr marL="171450" indent="-171450">
              <a:buClr>
                <a:schemeClr val="tx1"/>
              </a:buClr>
              <a:buFont typeface="Wingdings" panose="05000000000000000000" pitchFamily="2" charset="2"/>
              <a:buChar char="§"/>
            </a:pPr>
            <a:r>
              <a:rPr lang="en-IN" sz="1100" dirty="0" err="1">
                <a:solidFill>
                  <a:srgbClr val="0033CC"/>
                </a:solidFill>
              </a:rPr>
              <a:t>npm</a:t>
            </a:r>
            <a:r>
              <a:rPr lang="en-IN" sz="1100" dirty="0">
                <a:solidFill>
                  <a:schemeClr val="bg2">
                    <a:lumMod val="25000"/>
                  </a:schemeClr>
                </a:solidFill>
              </a:rPr>
              <a:t> run dev</a:t>
            </a:r>
          </a:p>
        </p:txBody>
      </p:sp>
      <p:sp>
        <p:nvSpPr>
          <p:cNvPr id="52" name="TextBox 51">
            <a:extLst>
              <a:ext uri="{FF2B5EF4-FFF2-40B4-BE49-F238E27FC236}">
                <a16:creationId xmlns:a16="http://schemas.microsoft.com/office/drawing/2014/main" id="{D9914ECE-1365-4931-84B2-33FC426AB9C8}"/>
              </a:ext>
            </a:extLst>
          </p:cNvPr>
          <p:cNvSpPr txBox="1"/>
          <p:nvPr/>
        </p:nvSpPr>
        <p:spPr>
          <a:xfrm>
            <a:off x="-7378700" y="4231799"/>
            <a:ext cx="6097464" cy="338554"/>
          </a:xfrm>
          <a:prstGeom prst="rect">
            <a:avLst/>
          </a:prstGeom>
          <a:noFill/>
        </p:spPr>
        <p:txBody>
          <a:bodyPr wrap="square">
            <a:spAutoFit/>
          </a:bodyPr>
          <a:lstStyle>
            <a:lvl1pPr marL="342900" indent="-342900">
              <a:buFont typeface="+mj-lt"/>
              <a:buAutoNum type="arabicPeriod" startAt="2"/>
              <a:defRPr sz="1600" b="1">
                <a:solidFill>
                  <a:schemeClr val="bg2">
                    <a:lumMod val="25000"/>
                  </a:schemeClr>
                </a:solidFill>
              </a:defRPr>
            </a:lvl1pPr>
          </a:lstStyle>
          <a:p>
            <a:pPr>
              <a:buFont typeface="+mj-lt"/>
              <a:buAutoNum type="arabicPeriod" startAt="3"/>
            </a:pPr>
            <a:r>
              <a:rPr lang="en-IN" dirty="0"/>
              <a:t>Database Directory</a:t>
            </a:r>
          </a:p>
        </p:txBody>
      </p:sp>
      <p:pic>
        <p:nvPicPr>
          <p:cNvPr id="53" name="Picture 52">
            <a:extLst>
              <a:ext uri="{FF2B5EF4-FFF2-40B4-BE49-F238E27FC236}">
                <a16:creationId xmlns:a16="http://schemas.microsoft.com/office/drawing/2014/main" id="{52B34EE3-FE7B-43DB-A08E-76CCA424DA25}"/>
              </a:ext>
            </a:extLst>
          </p:cNvPr>
          <p:cNvPicPr>
            <a:picLocks noChangeAspect="1"/>
          </p:cNvPicPr>
          <p:nvPr/>
        </p:nvPicPr>
        <p:blipFill>
          <a:blip r:embed="rId4"/>
          <a:stretch>
            <a:fillRect/>
          </a:stretch>
        </p:blipFill>
        <p:spPr>
          <a:xfrm>
            <a:off x="-6903917" y="4774721"/>
            <a:ext cx="5866670" cy="714984"/>
          </a:xfrm>
          <a:prstGeom prst="rect">
            <a:avLst/>
          </a:prstGeom>
        </p:spPr>
      </p:pic>
      <p:sp>
        <p:nvSpPr>
          <p:cNvPr id="54" name="TextBox 53">
            <a:extLst>
              <a:ext uri="{FF2B5EF4-FFF2-40B4-BE49-F238E27FC236}">
                <a16:creationId xmlns:a16="http://schemas.microsoft.com/office/drawing/2014/main" id="{14AF6552-65EB-4FF4-A9FF-40D284F032BA}"/>
              </a:ext>
            </a:extLst>
          </p:cNvPr>
          <p:cNvSpPr txBox="1"/>
          <p:nvPr/>
        </p:nvSpPr>
        <p:spPr>
          <a:xfrm>
            <a:off x="-6734665" y="4836481"/>
            <a:ext cx="5453429" cy="600164"/>
          </a:xfrm>
          <a:prstGeom prst="rect">
            <a:avLst/>
          </a:prstGeom>
          <a:noFill/>
        </p:spPr>
        <p:txBody>
          <a:bodyPr wrap="square">
            <a:spAutoFit/>
          </a:bodyPr>
          <a:lstStyle/>
          <a:p>
            <a:pPr marL="171450" indent="-171450">
              <a:buClr>
                <a:schemeClr val="tx1"/>
              </a:buClr>
              <a:buFont typeface="Wingdings" panose="05000000000000000000" pitchFamily="2" charset="2"/>
              <a:buChar char="§"/>
            </a:pPr>
            <a:r>
              <a:rPr lang="en-IN" sz="1100" dirty="0">
                <a:solidFill>
                  <a:schemeClr val="bg2">
                    <a:lumMod val="25000"/>
                  </a:schemeClr>
                </a:solidFill>
              </a:rPr>
              <a:t>Open “</a:t>
            </a:r>
            <a:r>
              <a:rPr lang="en-IN" sz="1100" b="1" dirty="0">
                <a:solidFill>
                  <a:schemeClr val="bg2">
                    <a:lumMod val="25000"/>
                  </a:schemeClr>
                </a:solidFill>
              </a:rPr>
              <a:t>CMD</a:t>
            </a:r>
            <a:r>
              <a:rPr lang="en-IN" sz="1100" dirty="0">
                <a:solidFill>
                  <a:schemeClr val="bg2">
                    <a:lumMod val="25000"/>
                  </a:schemeClr>
                </a:solidFill>
              </a:rPr>
              <a:t>” from Project Directory &amp; start mongo Server</a:t>
            </a:r>
          </a:p>
          <a:p>
            <a:pPr marL="171450" indent="-171450">
              <a:buClr>
                <a:schemeClr val="tx1"/>
              </a:buClr>
              <a:buFont typeface="Wingdings" panose="05000000000000000000" pitchFamily="2" charset="2"/>
              <a:buChar char="§"/>
            </a:pPr>
            <a:r>
              <a:rPr lang="en-IN" sz="1100" dirty="0" err="1">
                <a:solidFill>
                  <a:srgbClr val="0033CC"/>
                </a:solidFill>
              </a:rPr>
              <a:t>mongod</a:t>
            </a:r>
            <a:r>
              <a:rPr lang="en-IN" sz="1100" dirty="0">
                <a:solidFill>
                  <a:schemeClr val="bg2">
                    <a:lumMod val="25000"/>
                  </a:schemeClr>
                </a:solidFill>
              </a:rPr>
              <a:t>  -  Enter</a:t>
            </a:r>
          </a:p>
          <a:p>
            <a:pPr marL="171450" indent="-171450">
              <a:buClr>
                <a:schemeClr val="tx1"/>
              </a:buClr>
              <a:buFont typeface="Wingdings" panose="05000000000000000000" pitchFamily="2" charset="2"/>
              <a:buChar char="§"/>
            </a:pPr>
            <a:r>
              <a:rPr lang="en-IN" sz="1100" dirty="0">
                <a:solidFill>
                  <a:schemeClr val="bg2">
                    <a:lumMod val="25000"/>
                  </a:schemeClr>
                </a:solidFill>
              </a:rPr>
              <a:t>MongoDB Server Started, Connect local database from </a:t>
            </a:r>
            <a:r>
              <a:rPr lang="en-IN" sz="1100" b="1" dirty="0">
                <a:solidFill>
                  <a:schemeClr val="bg2">
                    <a:lumMod val="25000"/>
                  </a:schemeClr>
                </a:solidFill>
              </a:rPr>
              <a:t>MongoDB Compass</a:t>
            </a:r>
          </a:p>
        </p:txBody>
      </p:sp>
      <p:pic>
        <p:nvPicPr>
          <p:cNvPr id="55" name="Picture 54">
            <a:extLst>
              <a:ext uri="{FF2B5EF4-FFF2-40B4-BE49-F238E27FC236}">
                <a16:creationId xmlns:a16="http://schemas.microsoft.com/office/drawing/2014/main" id="{9C7F8BE3-3FD3-416D-B34C-3910F01BF4E5}"/>
              </a:ext>
            </a:extLst>
          </p:cNvPr>
          <p:cNvPicPr>
            <a:picLocks noChangeAspect="1"/>
          </p:cNvPicPr>
          <p:nvPr/>
        </p:nvPicPr>
        <p:blipFill rotWithShape="1">
          <a:blip r:embed="rId5"/>
          <a:srcRect r="15253"/>
          <a:stretch/>
        </p:blipFill>
        <p:spPr>
          <a:xfrm>
            <a:off x="12641740" y="2119320"/>
            <a:ext cx="3878167" cy="562324"/>
          </a:xfrm>
          <a:prstGeom prst="rect">
            <a:avLst/>
          </a:prstGeom>
        </p:spPr>
      </p:pic>
      <p:grpSp>
        <p:nvGrpSpPr>
          <p:cNvPr id="56" name="Group 55">
            <a:extLst>
              <a:ext uri="{FF2B5EF4-FFF2-40B4-BE49-F238E27FC236}">
                <a16:creationId xmlns:a16="http://schemas.microsoft.com/office/drawing/2014/main" id="{CF6E2DA1-0592-40B6-821C-216EE98F6FD5}"/>
              </a:ext>
            </a:extLst>
          </p:cNvPr>
          <p:cNvGrpSpPr/>
          <p:nvPr/>
        </p:nvGrpSpPr>
        <p:grpSpPr>
          <a:xfrm>
            <a:off x="12641740" y="1455626"/>
            <a:ext cx="3595201" cy="5165436"/>
            <a:chOff x="7917340" y="1455626"/>
            <a:chExt cx="3595201" cy="5165436"/>
          </a:xfrm>
        </p:grpSpPr>
        <p:grpSp>
          <p:nvGrpSpPr>
            <p:cNvPr id="57" name="Group 56">
              <a:extLst>
                <a:ext uri="{FF2B5EF4-FFF2-40B4-BE49-F238E27FC236}">
                  <a16:creationId xmlns:a16="http://schemas.microsoft.com/office/drawing/2014/main" id="{1255E531-EC41-4116-BC22-91A7BE65792C}"/>
                </a:ext>
              </a:extLst>
            </p:cNvPr>
            <p:cNvGrpSpPr/>
            <p:nvPr/>
          </p:nvGrpSpPr>
          <p:grpSpPr>
            <a:xfrm>
              <a:off x="7924533" y="3937703"/>
              <a:ext cx="3445236" cy="1265299"/>
              <a:chOff x="7908842" y="4231799"/>
              <a:chExt cx="3919214" cy="1490264"/>
            </a:xfrm>
          </p:grpSpPr>
          <p:pic>
            <p:nvPicPr>
              <p:cNvPr id="65" name="Picture 64">
                <a:extLst>
                  <a:ext uri="{FF2B5EF4-FFF2-40B4-BE49-F238E27FC236}">
                    <a16:creationId xmlns:a16="http://schemas.microsoft.com/office/drawing/2014/main" id="{E637F1AF-9E99-48F5-A333-CBB91321B710}"/>
                  </a:ext>
                </a:extLst>
              </p:cNvPr>
              <p:cNvPicPr>
                <a:picLocks noChangeAspect="1"/>
              </p:cNvPicPr>
              <p:nvPr/>
            </p:nvPicPr>
            <p:blipFill rotWithShape="1">
              <a:blip r:embed="rId6"/>
              <a:srcRect t="33145"/>
              <a:stretch/>
            </p:blipFill>
            <p:spPr>
              <a:xfrm>
                <a:off x="7909208" y="4231799"/>
                <a:ext cx="3918848" cy="759747"/>
              </a:xfrm>
              <a:prstGeom prst="rect">
                <a:avLst/>
              </a:prstGeom>
            </p:spPr>
          </p:pic>
          <p:pic>
            <p:nvPicPr>
              <p:cNvPr id="66" name="Picture 65">
                <a:extLst>
                  <a:ext uri="{FF2B5EF4-FFF2-40B4-BE49-F238E27FC236}">
                    <a16:creationId xmlns:a16="http://schemas.microsoft.com/office/drawing/2014/main" id="{EF1AE997-E83A-4824-B372-0873114BCCA8}"/>
                  </a:ext>
                </a:extLst>
              </p:cNvPr>
              <p:cNvPicPr>
                <a:picLocks noChangeAspect="1"/>
              </p:cNvPicPr>
              <p:nvPr/>
            </p:nvPicPr>
            <p:blipFill rotWithShape="1">
              <a:blip r:embed="rId7"/>
              <a:srcRect l="886" t="88443" r="85028" b="6887"/>
              <a:stretch/>
            </p:blipFill>
            <p:spPr>
              <a:xfrm>
                <a:off x="10011572" y="5187421"/>
                <a:ext cx="1816484" cy="338717"/>
              </a:xfrm>
              <a:prstGeom prst="rect">
                <a:avLst/>
              </a:prstGeom>
            </p:spPr>
          </p:pic>
          <p:grpSp>
            <p:nvGrpSpPr>
              <p:cNvPr id="67" name="Group 66">
                <a:extLst>
                  <a:ext uri="{FF2B5EF4-FFF2-40B4-BE49-F238E27FC236}">
                    <a16:creationId xmlns:a16="http://schemas.microsoft.com/office/drawing/2014/main" id="{53730814-D1D3-4628-A41F-93054500F062}"/>
                  </a:ext>
                </a:extLst>
              </p:cNvPr>
              <p:cNvGrpSpPr/>
              <p:nvPr/>
            </p:nvGrpSpPr>
            <p:grpSpPr>
              <a:xfrm>
                <a:off x="7908842" y="5067294"/>
                <a:ext cx="1951606" cy="654769"/>
                <a:chOff x="7909208" y="1835347"/>
                <a:chExt cx="1951606" cy="654769"/>
              </a:xfrm>
            </p:grpSpPr>
            <p:pic>
              <p:nvPicPr>
                <p:cNvPr id="68" name="Picture 67">
                  <a:extLst>
                    <a:ext uri="{FF2B5EF4-FFF2-40B4-BE49-F238E27FC236}">
                      <a16:creationId xmlns:a16="http://schemas.microsoft.com/office/drawing/2014/main" id="{52C39248-A997-4BAE-B06B-91DBA4858BC6}"/>
                    </a:ext>
                  </a:extLst>
                </p:cNvPr>
                <p:cNvPicPr>
                  <a:picLocks noChangeAspect="1"/>
                </p:cNvPicPr>
                <p:nvPr/>
              </p:nvPicPr>
              <p:blipFill rotWithShape="1">
                <a:blip r:embed="rId8"/>
                <a:srcRect l="5177" t="16357" r="12461" b="7855"/>
                <a:stretch/>
              </p:blipFill>
              <p:spPr>
                <a:xfrm>
                  <a:off x="7909574" y="1835347"/>
                  <a:ext cx="1951240" cy="426053"/>
                </a:xfrm>
                <a:prstGeom prst="rect">
                  <a:avLst/>
                </a:prstGeom>
                <a:ln w="3175">
                  <a:solidFill>
                    <a:schemeClr val="tx1"/>
                  </a:solidFill>
                </a:ln>
              </p:spPr>
            </p:pic>
            <p:pic>
              <p:nvPicPr>
                <p:cNvPr id="69" name="Picture 68">
                  <a:extLst>
                    <a:ext uri="{FF2B5EF4-FFF2-40B4-BE49-F238E27FC236}">
                      <a16:creationId xmlns:a16="http://schemas.microsoft.com/office/drawing/2014/main" id="{FD75BEA7-74CA-4479-B360-18C167BE0426}"/>
                    </a:ext>
                  </a:extLst>
                </p:cNvPr>
                <p:cNvPicPr>
                  <a:picLocks noChangeAspect="1"/>
                </p:cNvPicPr>
                <p:nvPr/>
              </p:nvPicPr>
              <p:blipFill rotWithShape="1">
                <a:blip r:embed="rId9"/>
                <a:srcRect l="4025" t="48683" r="12075" b="10082"/>
                <a:stretch/>
              </p:blipFill>
              <p:spPr>
                <a:xfrm>
                  <a:off x="7909208" y="2294191"/>
                  <a:ext cx="1951240" cy="195925"/>
                </a:xfrm>
                <a:prstGeom prst="rect">
                  <a:avLst/>
                </a:prstGeom>
                <a:ln w="3175">
                  <a:solidFill>
                    <a:schemeClr val="tx1"/>
                  </a:solidFill>
                </a:ln>
              </p:spPr>
            </p:pic>
            <p:cxnSp>
              <p:nvCxnSpPr>
                <p:cNvPr id="70" name="Straight Connector 69">
                  <a:extLst>
                    <a:ext uri="{FF2B5EF4-FFF2-40B4-BE49-F238E27FC236}">
                      <a16:creationId xmlns:a16="http://schemas.microsoft.com/office/drawing/2014/main" id="{FB5D0F7F-4B80-4BF0-9089-0C839B51537B}"/>
                    </a:ext>
                  </a:extLst>
                </p:cNvPr>
                <p:cNvCxnSpPr>
                  <a:cxnSpLocks/>
                </p:cNvCxnSpPr>
                <p:nvPr/>
              </p:nvCxnSpPr>
              <p:spPr>
                <a:xfrm>
                  <a:off x="7962493" y="2275734"/>
                  <a:ext cx="1805393" cy="0"/>
                </a:xfrm>
                <a:prstGeom prst="line">
                  <a:avLst/>
                </a:prstGeom>
                <a:ln w="19050">
                  <a:solidFill>
                    <a:schemeClr val="bg2">
                      <a:lumMod val="50000"/>
                    </a:schemeClr>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grpSp>
        </p:grpSp>
        <p:grpSp>
          <p:nvGrpSpPr>
            <p:cNvPr id="58" name="Group 57">
              <a:extLst>
                <a:ext uri="{FF2B5EF4-FFF2-40B4-BE49-F238E27FC236}">
                  <a16:creationId xmlns:a16="http://schemas.microsoft.com/office/drawing/2014/main" id="{3A268D73-5FC1-4D75-A91E-1583F92CFC04}"/>
                </a:ext>
              </a:extLst>
            </p:cNvPr>
            <p:cNvGrpSpPr/>
            <p:nvPr/>
          </p:nvGrpSpPr>
          <p:grpSpPr>
            <a:xfrm>
              <a:off x="7924533" y="5375658"/>
              <a:ext cx="3463556" cy="1245404"/>
              <a:chOff x="7918509" y="5269395"/>
              <a:chExt cx="3463556" cy="1245404"/>
            </a:xfrm>
          </p:grpSpPr>
          <p:pic>
            <p:nvPicPr>
              <p:cNvPr id="63" name="Picture 62">
                <a:extLst>
                  <a:ext uri="{FF2B5EF4-FFF2-40B4-BE49-F238E27FC236}">
                    <a16:creationId xmlns:a16="http://schemas.microsoft.com/office/drawing/2014/main" id="{13E65D43-19A3-4E54-A0EB-1E654B5E1BCC}"/>
                  </a:ext>
                </a:extLst>
              </p:cNvPr>
              <p:cNvPicPr>
                <a:picLocks noChangeAspect="1"/>
              </p:cNvPicPr>
              <p:nvPr/>
            </p:nvPicPr>
            <p:blipFill>
              <a:blip r:embed="rId10"/>
              <a:stretch>
                <a:fillRect/>
              </a:stretch>
            </p:blipFill>
            <p:spPr>
              <a:xfrm>
                <a:off x="7918509" y="5269395"/>
                <a:ext cx="3460455" cy="562324"/>
              </a:xfrm>
              <a:prstGeom prst="rect">
                <a:avLst/>
              </a:prstGeom>
            </p:spPr>
          </p:pic>
          <p:pic>
            <p:nvPicPr>
              <p:cNvPr id="64" name="Picture 63">
                <a:extLst>
                  <a:ext uri="{FF2B5EF4-FFF2-40B4-BE49-F238E27FC236}">
                    <a16:creationId xmlns:a16="http://schemas.microsoft.com/office/drawing/2014/main" id="{39511B53-D2F9-4B73-890C-457A2202DD9D}"/>
                  </a:ext>
                </a:extLst>
              </p:cNvPr>
              <p:cNvPicPr>
                <a:picLocks noChangeAspect="1"/>
              </p:cNvPicPr>
              <p:nvPr/>
            </p:nvPicPr>
            <p:blipFill>
              <a:blip r:embed="rId11"/>
              <a:stretch>
                <a:fillRect/>
              </a:stretch>
            </p:blipFill>
            <p:spPr>
              <a:xfrm>
                <a:off x="7924533" y="5825942"/>
                <a:ext cx="3457532" cy="688857"/>
              </a:xfrm>
              <a:prstGeom prst="rect">
                <a:avLst/>
              </a:prstGeom>
            </p:spPr>
          </p:pic>
        </p:grpSp>
        <p:pic>
          <p:nvPicPr>
            <p:cNvPr id="59" name="Picture 58">
              <a:extLst>
                <a:ext uri="{FF2B5EF4-FFF2-40B4-BE49-F238E27FC236}">
                  <a16:creationId xmlns:a16="http://schemas.microsoft.com/office/drawing/2014/main" id="{D9B02516-D22E-4C88-AB86-818F9E63760C}"/>
                </a:ext>
              </a:extLst>
            </p:cNvPr>
            <p:cNvPicPr>
              <a:picLocks noChangeAspect="1"/>
            </p:cNvPicPr>
            <p:nvPr/>
          </p:nvPicPr>
          <p:blipFill>
            <a:blip r:embed="rId12"/>
            <a:stretch>
              <a:fillRect/>
            </a:stretch>
          </p:blipFill>
          <p:spPr>
            <a:xfrm>
              <a:off x="7917340" y="2834841"/>
              <a:ext cx="3444911" cy="919439"/>
            </a:xfrm>
            <a:prstGeom prst="rect">
              <a:avLst/>
            </a:prstGeom>
          </p:spPr>
        </p:pic>
        <p:grpSp>
          <p:nvGrpSpPr>
            <p:cNvPr id="60" name="Group 59">
              <a:extLst>
                <a:ext uri="{FF2B5EF4-FFF2-40B4-BE49-F238E27FC236}">
                  <a16:creationId xmlns:a16="http://schemas.microsoft.com/office/drawing/2014/main" id="{B3B2200C-4AC9-4471-A9BD-6DCE6085B5DB}"/>
                </a:ext>
              </a:extLst>
            </p:cNvPr>
            <p:cNvGrpSpPr/>
            <p:nvPr/>
          </p:nvGrpSpPr>
          <p:grpSpPr>
            <a:xfrm>
              <a:off x="7918508" y="1455626"/>
              <a:ext cx="3594033" cy="526934"/>
              <a:chOff x="7896284" y="1800818"/>
              <a:chExt cx="4143315" cy="642230"/>
            </a:xfrm>
          </p:grpSpPr>
          <p:pic>
            <p:nvPicPr>
              <p:cNvPr id="61" name="Picture 60">
                <a:extLst>
                  <a:ext uri="{FF2B5EF4-FFF2-40B4-BE49-F238E27FC236}">
                    <a16:creationId xmlns:a16="http://schemas.microsoft.com/office/drawing/2014/main" id="{06771995-F8F0-4C58-8CCA-87E13F8DC22B}"/>
                  </a:ext>
                </a:extLst>
              </p:cNvPr>
              <p:cNvPicPr>
                <a:picLocks noChangeAspect="1"/>
              </p:cNvPicPr>
              <p:nvPr/>
            </p:nvPicPr>
            <p:blipFill rotWithShape="1">
              <a:blip r:embed="rId13"/>
              <a:srcRect r="48646"/>
              <a:stretch/>
            </p:blipFill>
            <p:spPr>
              <a:xfrm>
                <a:off x="7896284" y="1800818"/>
                <a:ext cx="4143314" cy="417799"/>
              </a:xfrm>
              <a:prstGeom prst="rect">
                <a:avLst/>
              </a:prstGeom>
            </p:spPr>
          </p:pic>
          <p:pic>
            <p:nvPicPr>
              <p:cNvPr id="62" name="Picture 61">
                <a:extLst>
                  <a:ext uri="{FF2B5EF4-FFF2-40B4-BE49-F238E27FC236}">
                    <a16:creationId xmlns:a16="http://schemas.microsoft.com/office/drawing/2014/main" id="{BE05CD07-FB9C-44DF-B279-587499FD54F9}"/>
                  </a:ext>
                </a:extLst>
              </p:cNvPr>
              <p:cNvPicPr>
                <a:picLocks noChangeAspect="1"/>
              </p:cNvPicPr>
              <p:nvPr/>
            </p:nvPicPr>
            <p:blipFill rotWithShape="1">
              <a:blip r:embed="rId13"/>
              <a:srcRect l="41556" t="44433" r="6125"/>
              <a:stretch/>
            </p:blipFill>
            <p:spPr>
              <a:xfrm>
                <a:off x="7896284" y="2215170"/>
                <a:ext cx="4143315" cy="227878"/>
              </a:xfrm>
              <a:prstGeom prst="rect">
                <a:avLst/>
              </a:prstGeom>
            </p:spPr>
          </p:pic>
        </p:grpSp>
      </p:grpSp>
      <p:cxnSp>
        <p:nvCxnSpPr>
          <p:cNvPr id="71" name="Straight Connector 70">
            <a:extLst>
              <a:ext uri="{FF2B5EF4-FFF2-40B4-BE49-F238E27FC236}">
                <a16:creationId xmlns:a16="http://schemas.microsoft.com/office/drawing/2014/main" id="{F9FFC861-3F15-49CD-8CDF-A36D7766D731}"/>
              </a:ext>
            </a:extLst>
          </p:cNvPr>
          <p:cNvCxnSpPr>
            <a:cxnSpLocks/>
          </p:cNvCxnSpPr>
          <p:nvPr/>
        </p:nvCxnSpPr>
        <p:spPr>
          <a:xfrm>
            <a:off x="7061688" y="7224036"/>
            <a:ext cx="0" cy="5052850"/>
          </a:xfrm>
          <a:prstGeom prst="line">
            <a:avLst/>
          </a:prstGeom>
          <a:ln w="57150">
            <a:solidFill>
              <a:srgbClr val="00B0F0"/>
            </a:solidFill>
          </a:ln>
          <a:effectLst>
            <a:outerShdw blurRad="50800" dist="38100" dir="2700000" algn="tl" rotWithShape="0">
              <a:prstClr val="black">
                <a:alpha val="40000"/>
              </a:prstClr>
            </a:outerShdw>
          </a:effectLst>
          <a:scene3d>
            <a:camera prst="orthographicFront"/>
            <a:lightRig rig="threePt" dir="t"/>
          </a:scene3d>
          <a:sp3d>
            <a:bevelT w="114300" prst="artDeco"/>
          </a:sp3d>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D2F5F0BC-6441-475F-9890-54A6E9FAC07D}"/>
              </a:ext>
            </a:extLst>
          </p:cNvPr>
          <p:cNvGrpSpPr/>
          <p:nvPr/>
        </p:nvGrpSpPr>
        <p:grpSpPr>
          <a:xfrm>
            <a:off x="7366011" y="-5182594"/>
            <a:ext cx="277113" cy="4885332"/>
            <a:chOff x="7366011" y="1595582"/>
            <a:chExt cx="277113" cy="4885332"/>
          </a:xfrm>
        </p:grpSpPr>
        <p:grpSp>
          <p:nvGrpSpPr>
            <p:cNvPr id="73" name="Group 72">
              <a:extLst>
                <a:ext uri="{FF2B5EF4-FFF2-40B4-BE49-F238E27FC236}">
                  <a16:creationId xmlns:a16="http://schemas.microsoft.com/office/drawing/2014/main" id="{14E2F784-90BD-4328-894F-54DC526C7115}"/>
                </a:ext>
              </a:extLst>
            </p:cNvPr>
            <p:cNvGrpSpPr/>
            <p:nvPr/>
          </p:nvGrpSpPr>
          <p:grpSpPr>
            <a:xfrm>
              <a:off x="7369224" y="1595582"/>
              <a:ext cx="271089" cy="286695"/>
              <a:chOff x="7237950" y="1717009"/>
              <a:chExt cx="336011" cy="355354"/>
            </a:xfrm>
            <a:solidFill>
              <a:srgbClr val="C00000"/>
            </a:solidFill>
          </p:grpSpPr>
          <p:sp>
            <p:nvSpPr>
              <p:cNvPr id="92" name="Oval 91">
                <a:extLst>
                  <a:ext uri="{FF2B5EF4-FFF2-40B4-BE49-F238E27FC236}">
                    <a16:creationId xmlns:a16="http://schemas.microsoft.com/office/drawing/2014/main" id="{364054C9-B12A-466A-9690-4E3751107364}"/>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93" name="TextBox 72">
                <a:extLst>
                  <a:ext uri="{FF2B5EF4-FFF2-40B4-BE49-F238E27FC236}">
                    <a16:creationId xmlns:a16="http://schemas.microsoft.com/office/drawing/2014/main" id="{708F7E73-992B-424F-B048-A3B1A768C198}"/>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01</a:t>
                </a:r>
                <a:endParaRPr lang="en" sz="600" b="1" spc="50" dirty="0">
                  <a:ln w="0"/>
                  <a:solidFill>
                    <a:schemeClr val="bg2"/>
                  </a:solidFill>
                  <a:effectLst>
                    <a:innerShdw blurRad="63500" dist="50800" dir="13500000">
                      <a:srgbClr val="000000">
                        <a:alpha val="50000"/>
                      </a:srgbClr>
                    </a:innerShdw>
                  </a:effectLst>
                </a:endParaRPr>
              </a:p>
            </p:txBody>
          </p:sp>
        </p:grpSp>
        <p:grpSp>
          <p:nvGrpSpPr>
            <p:cNvPr id="74" name="Group 73">
              <a:extLst>
                <a:ext uri="{FF2B5EF4-FFF2-40B4-BE49-F238E27FC236}">
                  <a16:creationId xmlns:a16="http://schemas.microsoft.com/office/drawing/2014/main" id="{8CD62A89-3C6E-48F3-89C7-81EFA8977ACB}"/>
                </a:ext>
              </a:extLst>
            </p:cNvPr>
            <p:cNvGrpSpPr/>
            <p:nvPr/>
          </p:nvGrpSpPr>
          <p:grpSpPr>
            <a:xfrm>
              <a:off x="7372035" y="2257134"/>
              <a:ext cx="271089" cy="286695"/>
              <a:chOff x="7237950" y="1717009"/>
              <a:chExt cx="336011" cy="355354"/>
            </a:xfrm>
            <a:solidFill>
              <a:srgbClr val="002060"/>
            </a:solidFill>
          </p:grpSpPr>
          <p:sp>
            <p:nvSpPr>
              <p:cNvPr id="90" name="Oval 89">
                <a:extLst>
                  <a:ext uri="{FF2B5EF4-FFF2-40B4-BE49-F238E27FC236}">
                    <a16:creationId xmlns:a16="http://schemas.microsoft.com/office/drawing/2014/main" id="{62BA3BAB-3A5A-4AEE-9FE1-F181EB200DB0}"/>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91" name="TextBox 72">
                <a:extLst>
                  <a:ext uri="{FF2B5EF4-FFF2-40B4-BE49-F238E27FC236}">
                    <a16:creationId xmlns:a16="http://schemas.microsoft.com/office/drawing/2014/main" id="{434DF2BA-CF1B-4D79-81DC-FF8E093DE6E7}"/>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02</a:t>
                </a:r>
                <a:endParaRPr lang="en" sz="600" b="1" spc="50" dirty="0">
                  <a:ln w="0"/>
                  <a:solidFill>
                    <a:schemeClr val="bg2"/>
                  </a:solidFill>
                  <a:effectLst>
                    <a:innerShdw blurRad="63500" dist="50800" dir="13500000">
                      <a:srgbClr val="000000">
                        <a:alpha val="50000"/>
                      </a:srgbClr>
                    </a:innerShdw>
                  </a:effectLst>
                </a:endParaRPr>
              </a:p>
            </p:txBody>
          </p:sp>
        </p:grpSp>
        <p:grpSp>
          <p:nvGrpSpPr>
            <p:cNvPr id="75" name="Group 74">
              <a:extLst>
                <a:ext uri="{FF2B5EF4-FFF2-40B4-BE49-F238E27FC236}">
                  <a16:creationId xmlns:a16="http://schemas.microsoft.com/office/drawing/2014/main" id="{061BE1E2-2BCA-4BE2-9C39-C7C50D065998}"/>
                </a:ext>
              </a:extLst>
            </p:cNvPr>
            <p:cNvGrpSpPr/>
            <p:nvPr/>
          </p:nvGrpSpPr>
          <p:grpSpPr>
            <a:xfrm>
              <a:off x="7372035" y="3064629"/>
              <a:ext cx="271089" cy="286695"/>
              <a:chOff x="7237950" y="1717009"/>
              <a:chExt cx="336011" cy="355354"/>
            </a:xfrm>
            <a:solidFill>
              <a:srgbClr val="BC004C"/>
            </a:solidFill>
          </p:grpSpPr>
          <p:sp>
            <p:nvSpPr>
              <p:cNvPr id="88" name="Oval 87">
                <a:extLst>
                  <a:ext uri="{FF2B5EF4-FFF2-40B4-BE49-F238E27FC236}">
                    <a16:creationId xmlns:a16="http://schemas.microsoft.com/office/drawing/2014/main" id="{93F96D04-A2A6-4262-A307-B18BC4D761C1}"/>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89" name="TextBox 72">
                <a:extLst>
                  <a:ext uri="{FF2B5EF4-FFF2-40B4-BE49-F238E27FC236}">
                    <a16:creationId xmlns:a16="http://schemas.microsoft.com/office/drawing/2014/main" id="{90F41887-48E6-4F4C-A2A9-4F54CD66AC2F}"/>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03</a:t>
                </a:r>
                <a:endParaRPr lang="en" sz="600" b="1" spc="50" dirty="0">
                  <a:ln w="0"/>
                  <a:solidFill>
                    <a:schemeClr val="bg2"/>
                  </a:solidFill>
                  <a:effectLst>
                    <a:innerShdw blurRad="63500" dist="50800" dir="13500000">
                      <a:srgbClr val="000000">
                        <a:alpha val="50000"/>
                      </a:srgbClr>
                    </a:innerShdw>
                  </a:effectLst>
                </a:endParaRPr>
              </a:p>
            </p:txBody>
          </p:sp>
        </p:grpSp>
        <p:grpSp>
          <p:nvGrpSpPr>
            <p:cNvPr id="76" name="Group 75">
              <a:extLst>
                <a:ext uri="{FF2B5EF4-FFF2-40B4-BE49-F238E27FC236}">
                  <a16:creationId xmlns:a16="http://schemas.microsoft.com/office/drawing/2014/main" id="{E48DD7DE-1FAA-4380-ACB8-CBB6A8F4EE6D}"/>
                </a:ext>
              </a:extLst>
            </p:cNvPr>
            <p:cNvGrpSpPr/>
            <p:nvPr/>
          </p:nvGrpSpPr>
          <p:grpSpPr>
            <a:xfrm>
              <a:off x="7366011" y="4101237"/>
              <a:ext cx="271089" cy="286695"/>
              <a:chOff x="7237950" y="1717009"/>
              <a:chExt cx="336011" cy="355354"/>
            </a:xfrm>
            <a:solidFill>
              <a:srgbClr val="9933FF"/>
            </a:solidFill>
          </p:grpSpPr>
          <p:sp>
            <p:nvSpPr>
              <p:cNvPr id="86" name="Oval 85">
                <a:extLst>
                  <a:ext uri="{FF2B5EF4-FFF2-40B4-BE49-F238E27FC236}">
                    <a16:creationId xmlns:a16="http://schemas.microsoft.com/office/drawing/2014/main" id="{91D1CEF2-C198-4BC7-90C9-738CAC0FB199}"/>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87" name="TextBox 72">
                <a:extLst>
                  <a:ext uri="{FF2B5EF4-FFF2-40B4-BE49-F238E27FC236}">
                    <a16:creationId xmlns:a16="http://schemas.microsoft.com/office/drawing/2014/main" id="{C29E1F44-900B-4DCD-AC1E-533A57A9000A}"/>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04</a:t>
                </a:r>
                <a:endParaRPr lang="en" sz="600" b="1" spc="50" dirty="0">
                  <a:ln w="0"/>
                  <a:solidFill>
                    <a:schemeClr val="bg2"/>
                  </a:solidFill>
                  <a:effectLst>
                    <a:innerShdw blurRad="63500" dist="50800" dir="13500000">
                      <a:srgbClr val="000000">
                        <a:alpha val="50000"/>
                      </a:srgbClr>
                    </a:innerShdw>
                  </a:effectLst>
                </a:endParaRPr>
              </a:p>
            </p:txBody>
          </p:sp>
        </p:grpSp>
        <p:grpSp>
          <p:nvGrpSpPr>
            <p:cNvPr id="77" name="Group 76">
              <a:extLst>
                <a:ext uri="{FF2B5EF4-FFF2-40B4-BE49-F238E27FC236}">
                  <a16:creationId xmlns:a16="http://schemas.microsoft.com/office/drawing/2014/main" id="{6D9D6E23-317A-4C40-A645-0F9681D650F0}"/>
                </a:ext>
              </a:extLst>
            </p:cNvPr>
            <p:cNvGrpSpPr/>
            <p:nvPr/>
          </p:nvGrpSpPr>
          <p:grpSpPr>
            <a:xfrm>
              <a:off x="7366011" y="4765384"/>
              <a:ext cx="271089" cy="286695"/>
              <a:chOff x="7237950" y="1717009"/>
              <a:chExt cx="336011" cy="355354"/>
            </a:xfrm>
            <a:solidFill>
              <a:schemeClr val="accent2">
                <a:lumMod val="75000"/>
              </a:schemeClr>
            </a:solidFill>
          </p:grpSpPr>
          <p:sp>
            <p:nvSpPr>
              <p:cNvPr id="84" name="Oval 83">
                <a:extLst>
                  <a:ext uri="{FF2B5EF4-FFF2-40B4-BE49-F238E27FC236}">
                    <a16:creationId xmlns:a16="http://schemas.microsoft.com/office/drawing/2014/main" id="{CAE92906-63FE-43CF-99E1-C350016BB394}"/>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85" name="TextBox 72">
                <a:extLst>
                  <a:ext uri="{FF2B5EF4-FFF2-40B4-BE49-F238E27FC236}">
                    <a16:creationId xmlns:a16="http://schemas.microsoft.com/office/drawing/2014/main" id="{111B0D7B-1972-4A95-951E-964C96F84B38}"/>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05</a:t>
                </a:r>
                <a:endParaRPr lang="en" sz="600" b="1" spc="50" dirty="0">
                  <a:ln w="0"/>
                  <a:solidFill>
                    <a:schemeClr val="bg2"/>
                  </a:solidFill>
                  <a:effectLst>
                    <a:innerShdw blurRad="63500" dist="50800" dir="13500000">
                      <a:srgbClr val="000000">
                        <a:alpha val="50000"/>
                      </a:srgbClr>
                    </a:innerShdw>
                  </a:effectLst>
                </a:endParaRPr>
              </a:p>
            </p:txBody>
          </p:sp>
        </p:grpSp>
        <p:grpSp>
          <p:nvGrpSpPr>
            <p:cNvPr id="78" name="Group 77">
              <a:extLst>
                <a:ext uri="{FF2B5EF4-FFF2-40B4-BE49-F238E27FC236}">
                  <a16:creationId xmlns:a16="http://schemas.microsoft.com/office/drawing/2014/main" id="{360D082C-CEEA-4D6E-9C62-E4D435766FB4}"/>
                </a:ext>
              </a:extLst>
            </p:cNvPr>
            <p:cNvGrpSpPr/>
            <p:nvPr/>
          </p:nvGrpSpPr>
          <p:grpSpPr>
            <a:xfrm>
              <a:off x="7372035" y="5567783"/>
              <a:ext cx="271089" cy="286695"/>
              <a:chOff x="7237950" y="1717009"/>
              <a:chExt cx="336011" cy="355354"/>
            </a:xfrm>
            <a:solidFill>
              <a:srgbClr val="0070C0"/>
            </a:solidFill>
          </p:grpSpPr>
          <p:sp>
            <p:nvSpPr>
              <p:cNvPr id="82" name="Oval 81">
                <a:extLst>
                  <a:ext uri="{FF2B5EF4-FFF2-40B4-BE49-F238E27FC236}">
                    <a16:creationId xmlns:a16="http://schemas.microsoft.com/office/drawing/2014/main" id="{8BFA1681-CA54-407E-9496-694D80ACE244}"/>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83" name="TextBox 72">
                <a:extLst>
                  <a:ext uri="{FF2B5EF4-FFF2-40B4-BE49-F238E27FC236}">
                    <a16:creationId xmlns:a16="http://schemas.microsoft.com/office/drawing/2014/main" id="{57ABB698-CA89-47E8-8E75-7DDECAFFC847}"/>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06</a:t>
                </a:r>
                <a:endParaRPr lang="en" sz="600" b="1" spc="50" dirty="0">
                  <a:ln w="0"/>
                  <a:solidFill>
                    <a:schemeClr val="bg2"/>
                  </a:solidFill>
                  <a:effectLst>
                    <a:innerShdw blurRad="63500" dist="50800" dir="13500000">
                      <a:srgbClr val="000000">
                        <a:alpha val="50000"/>
                      </a:srgbClr>
                    </a:innerShdw>
                  </a:effectLst>
                </a:endParaRPr>
              </a:p>
            </p:txBody>
          </p:sp>
        </p:grpSp>
        <p:grpSp>
          <p:nvGrpSpPr>
            <p:cNvPr id="79" name="Group 78">
              <a:extLst>
                <a:ext uri="{FF2B5EF4-FFF2-40B4-BE49-F238E27FC236}">
                  <a16:creationId xmlns:a16="http://schemas.microsoft.com/office/drawing/2014/main" id="{D1218C84-FE62-4BD9-9CAE-BCA6C5810917}"/>
                </a:ext>
              </a:extLst>
            </p:cNvPr>
            <p:cNvGrpSpPr/>
            <p:nvPr/>
          </p:nvGrpSpPr>
          <p:grpSpPr>
            <a:xfrm>
              <a:off x="7372035" y="6194219"/>
              <a:ext cx="271089" cy="286695"/>
              <a:chOff x="7237950" y="1717009"/>
              <a:chExt cx="336011" cy="355354"/>
            </a:xfrm>
            <a:solidFill>
              <a:schemeClr val="accent6">
                <a:lumMod val="75000"/>
              </a:schemeClr>
            </a:solidFill>
          </p:grpSpPr>
          <p:sp>
            <p:nvSpPr>
              <p:cNvPr id="80" name="Oval 79">
                <a:extLst>
                  <a:ext uri="{FF2B5EF4-FFF2-40B4-BE49-F238E27FC236}">
                    <a16:creationId xmlns:a16="http://schemas.microsoft.com/office/drawing/2014/main" id="{6BFFAD65-CA2B-4FCE-AE20-D7B3AD492123}"/>
                  </a:ext>
                </a:extLst>
              </p:cNvPr>
              <p:cNvSpPr/>
              <p:nvPr/>
            </p:nvSpPr>
            <p:spPr>
              <a:xfrm>
                <a:off x="7237950" y="1717009"/>
                <a:ext cx="336011" cy="355354"/>
              </a:xfrm>
              <a:prstGeom prst="ellipse">
                <a:avLst/>
              </a:prstGeom>
              <a:grp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81" name="TextBox 72">
                <a:extLst>
                  <a:ext uri="{FF2B5EF4-FFF2-40B4-BE49-F238E27FC236}">
                    <a16:creationId xmlns:a16="http://schemas.microsoft.com/office/drawing/2014/main" id="{417A8141-4547-4DAA-A6B9-FC59E90B395D}"/>
                  </a:ext>
                </a:extLst>
              </p:cNvPr>
              <p:cNvSpPr/>
              <p:nvPr/>
            </p:nvSpPr>
            <p:spPr>
              <a:xfrm>
                <a:off x="7303411" y="1796020"/>
                <a:ext cx="204583" cy="212175"/>
              </a:xfrm>
              <a:prstGeom prst="ellipse">
                <a:avLst/>
              </a:prstGeom>
              <a:grpFill/>
              <a:ln/>
            </p:spPr>
            <p:txBody>
              <a:bodyPr wrap="none" lIns="0" tIns="0" rIns="0" bIns="0" rtlCol="0" anchor="t">
                <a:normAutofit/>
              </a:bodyPr>
              <a:lstStyle/>
              <a:p>
                <a:pPr marL="0" indent="0" algn="ctr">
                  <a:lnSpc>
                    <a:spcPct val="100000"/>
                  </a:lnSpc>
                  <a:buNone/>
                </a:pPr>
                <a:r>
                  <a:rPr lang="en" altLang="en-US" sz="600" b="1" spc="50" dirty="0">
                    <a:ln w="0"/>
                    <a:solidFill>
                      <a:schemeClr val="bg2"/>
                    </a:solidFill>
                    <a:effectLst>
                      <a:innerShdw blurRad="63500" dist="50800" dir="13500000">
                        <a:srgbClr val="000000">
                          <a:alpha val="50000"/>
                        </a:srgbClr>
                      </a:innerShdw>
                    </a:effectLst>
                    <a:latin typeface="DejaVu Sans Mono" pitchFamily="34" charset="0"/>
                    <a:ea typeface="DejaVu Sans Mono" pitchFamily="34" charset="-122"/>
                    <a:cs typeface="DejaVu Sans Mono" pitchFamily="34" charset="-120"/>
                  </a:rPr>
                  <a:t>07</a:t>
                </a:r>
                <a:endParaRPr lang="en" sz="600" b="1" spc="50" dirty="0">
                  <a:ln w="0"/>
                  <a:solidFill>
                    <a:schemeClr val="bg2"/>
                  </a:solidFill>
                  <a:effectLst>
                    <a:innerShdw blurRad="63500" dist="50800" dir="13500000">
                      <a:srgbClr val="000000">
                        <a:alpha val="50000"/>
                      </a:srgbClr>
                    </a:innerShdw>
                  </a:effectLst>
                </a:endParaRPr>
              </a:p>
            </p:txBody>
          </p:sp>
        </p:grpSp>
      </p:grpSp>
      <p:sp>
        <p:nvSpPr>
          <p:cNvPr id="94" name="TextBox 19">
            <a:extLst>
              <a:ext uri="{FF2B5EF4-FFF2-40B4-BE49-F238E27FC236}">
                <a16:creationId xmlns:a16="http://schemas.microsoft.com/office/drawing/2014/main" id="{FB4FFB48-A680-4E40-909D-85C2CE346CE2}"/>
              </a:ext>
            </a:extLst>
          </p:cNvPr>
          <p:cNvSpPr/>
          <p:nvPr/>
        </p:nvSpPr>
        <p:spPr>
          <a:xfrm>
            <a:off x="571500" y="-1069383"/>
            <a:ext cx="5263662" cy="428625"/>
          </a:xfrm>
          <a:prstGeom prst="rect">
            <a:avLst/>
          </a:prstGeom>
          <a:noFill/>
          <a:ln/>
        </p:spPr>
        <p:txBody>
          <a:bodyPr wrap="none" lIns="0" tIns="0" rIns="0" bIns="0" rtlCol="0" anchor="t">
            <a:normAutofit/>
          </a:bodyPr>
          <a:lstStyle/>
          <a:p>
            <a:pPr marL="0" indent="0" algn="l">
              <a:lnSpc>
                <a:spcPct val="100000"/>
              </a:lnSpc>
              <a:buNone/>
            </a:pPr>
            <a:r>
              <a:rPr lang="en-IN" sz="2800" b="1" dirty="0">
                <a:solidFill>
                  <a:srgbClr val="0070C0"/>
                </a:solidFill>
              </a:rPr>
              <a:t>Instruc</a:t>
            </a:r>
            <a:r>
              <a:rPr lang="en-IN" sz="2800" b="1" dirty="0">
                <a:solidFill>
                  <a:srgbClr val="7030A0"/>
                </a:solidFill>
              </a:rPr>
              <a:t>tions</a:t>
            </a:r>
            <a:r>
              <a:rPr lang="en-IN" altLang="en-US" sz="2700" b="1" dirty="0">
                <a:solidFill>
                  <a:srgbClr val="7030A0"/>
                </a:solidFill>
                <a:latin typeface="Arial" pitchFamily="34" charset="0"/>
                <a:ea typeface="Arial" pitchFamily="34" charset="-122"/>
                <a:cs typeface="Arial" pitchFamily="34" charset="-120"/>
              </a:rPr>
              <a:t> </a:t>
            </a:r>
            <a:endParaRPr lang="en" sz="2700" b="1" dirty="0">
              <a:solidFill>
                <a:srgbClr val="7030A0"/>
              </a:solidFill>
            </a:endParaRPr>
          </a:p>
        </p:txBody>
      </p:sp>
      <p:sp>
        <p:nvSpPr>
          <p:cNvPr id="95" name="TextBox 94">
            <a:extLst>
              <a:ext uri="{FF2B5EF4-FFF2-40B4-BE49-F238E27FC236}">
                <a16:creationId xmlns:a16="http://schemas.microsoft.com/office/drawing/2014/main" id="{1294D75B-47F9-4095-91FD-3F0A73490C81}"/>
              </a:ext>
            </a:extLst>
          </p:cNvPr>
          <p:cNvSpPr txBox="1"/>
          <p:nvPr/>
        </p:nvSpPr>
        <p:spPr>
          <a:xfrm>
            <a:off x="492369" y="-738960"/>
            <a:ext cx="11207261" cy="355354"/>
          </a:xfrm>
          <a:prstGeom prst="rect">
            <a:avLst/>
          </a:prstGeom>
          <a:noFill/>
        </p:spPr>
        <p:txBody>
          <a:bodyPr wrap="square">
            <a:spAutoFit/>
          </a:bodyPr>
          <a:lstStyle/>
          <a:p>
            <a:pPr marL="0" indent="0" algn="l">
              <a:lnSpc>
                <a:spcPct val="150000"/>
              </a:lnSpc>
              <a:buNone/>
            </a:pPr>
            <a:r>
              <a:rPr lang="en-US" altLang="en-US" sz="1300" dirty="0">
                <a:solidFill>
                  <a:srgbClr val="1E293B"/>
                </a:solidFill>
                <a:latin typeface="Arial" pitchFamily="34" charset="0"/>
                <a:ea typeface="Arial" pitchFamily="34" charset="-122"/>
                <a:cs typeface="Arial" pitchFamily="34" charset="-120"/>
              </a:rPr>
              <a:t>Your development servers are currently running for all three modules (</a:t>
            </a:r>
            <a:r>
              <a:rPr lang="en-US" altLang="en-US" sz="1300" dirty="0" err="1">
                <a:solidFill>
                  <a:srgbClr val="1E293B"/>
                </a:solidFill>
                <a:latin typeface="Arial" pitchFamily="34" charset="0"/>
                <a:ea typeface="Arial" pitchFamily="34" charset="-122"/>
                <a:cs typeface="Arial" pitchFamily="34" charset="-120"/>
              </a:rPr>
              <a:t>npx</a:t>
            </a:r>
            <a:r>
              <a:rPr lang="en-US" altLang="en-US" sz="1300" dirty="0">
                <a:solidFill>
                  <a:srgbClr val="1E293B"/>
                </a:solidFill>
                <a:latin typeface="Arial" pitchFamily="34" charset="0"/>
                <a:ea typeface="Arial" pitchFamily="34" charset="-122"/>
                <a:cs typeface="Arial" pitchFamily="34" charset="-120"/>
              </a:rPr>
              <a:t> hardhat node, </a:t>
            </a:r>
            <a:r>
              <a:rPr lang="en-US" altLang="en-US" sz="1300" dirty="0" err="1">
                <a:solidFill>
                  <a:srgbClr val="1E293B"/>
                </a:solidFill>
                <a:latin typeface="Arial" pitchFamily="34" charset="0"/>
                <a:ea typeface="Arial" pitchFamily="34" charset="-122"/>
                <a:cs typeface="Arial" pitchFamily="34" charset="-120"/>
              </a:rPr>
              <a:t>npm</a:t>
            </a:r>
            <a:r>
              <a:rPr lang="en-US" altLang="en-US" sz="1300" dirty="0">
                <a:solidFill>
                  <a:srgbClr val="1E293B"/>
                </a:solidFill>
                <a:latin typeface="Arial" pitchFamily="34" charset="0"/>
                <a:ea typeface="Arial" pitchFamily="34" charset="-122"/>
                <a:cs typeface="Arial" pitchFamily="34" charset="-120"/>
              </a:rPr>
              <a:t> start for backend, and </a:t>
            </a:r>
            <a:r>
              <a:rPr lang="en-US" altLang="en-US" sz="1300" dirty="0" err="1">
                <a:solidFill>
                  <a:srgbClr val="1E293B"/>
                </a:solidFill>
                <a:latin typeface="Arial" pitchFamily="34" charset="0"/>
                <a:ea typeface="Arial" pitchFamily="34" charset="-122"/>
                <a:cs typeface="Arial" pitchFamily="34" charset="-120"/>
              </a:rPr>
              <a:t>npm</a:t>
            </a:r>
            <a:r>
              <a:rPr lang="en-US" altLang="en-US" sz="1300" dirty="0">
                <a:solidFill>
                  <a:srgbClr val="1E293B"/>
                </a:solidFill>
                <a:latin typeface="Arial" pitchFamily="34" charset="0"/>
                <a:ea typeface="Arial" pitchFamily="34" charset="-122"/>
                <a:cs typeface="Arial" pitchFamily="34" charset="-120"/>
              </a:rPr>
              <a:t> run dev for frontend).</a:t>
            </a:r>
          </a:p>
        </p:txBody>
      </p:sp>
    </p:spTree>
    <p:extLst>
      <p:ext uri="{BB962C8B-B14F-4D97-AF65-F5344CB8AC3E}">
        <p14:creationId xmlns:p14="http://schemas.microsoft.com/office/powerpoint/2010/main" val="1921865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rmAutofit/>
          </a:bodyPr>
          <a:lstStyle/>
          <a:p>
            <a:pPr marL="0" indent="0" algn="l">
              <a:lnSpc>
                <a:spcPct val="100000"/>
              </a:lnSpc>
              <a:buNone/>
            </a:pPr>
            <a:r>
              <a:rPr lang="en-IN" altLang="en-US" sz="2700" b="1" spc="150" dirty="0">
                <a:solidFill>
                  <a:srgbClr val="0033CC"/>
                </a:solidFill>
                <a:latin typeface="Arial" pitchFamily="34" charset="0"/>
                <a:ea typeface="Arial" pitchFamily="34" charset="-122"/>
                <a:cs typeface="Arial" pitchFamily="34" charset="-120"/>
              </a:rPr>
              <a:t>Project </a:t>
            </a:r>
            <a:r>
              <a:rPr lang="en-IN" altLang="en-US" sz="2700" b="1" spc="150" dirty="0">
                <a:solidFill>
                  <a:srgbClr val="0070C0"/>
                </a:solidFill>
                <a:latin typeface="Arial" pitchFamily="34" charset="0"/>
                <a:ea typeface="Arial" pitchFamily="34" charset="-122"/>
                <a:cs typeface="Arial" pitchFamily="34" charset="-120"/>
              </a:rPr>
              <a:t>Screenshots -</a:t>
            </a:r>
            <a:r>
              <a:rPr lang="en-IN" altLang="en-US" sz="2700" b="1" dirty="0">
                <a:solidFill>
                  <a:srgbClr val="0F172A"/>
                </a:solidFill>
                <a:latin typeface="Arial" pitchFamily="34" charset="0"/>
                <a:ea typeface="Arial" pitchFamily="34" charset="-122"/>
                <a:cs typeface="Arial" pitchFamily="34" charset="-120"/>
              </a:rPr>
              <a:t> </a:t>
            </a:r>
            <a:endParaRPr lang="en" sz="2700" dirty="0"/>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61243" y="938501"/>
            <a:ext cx="3408002"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Signup Page </a:t>
            </a:r>
          </a:p>
        </p:txBody>
      </p:sp>
    </p:spTree>
    <p:extLst>
      <p:ext uri="{BB962C8B-B14F-4D97-AF65-F5344CB8AC3E}">
        <p14:creationId xmlns:p14="http://schemas.microsoft.com/office/powerpoint/2010/main" val="662238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61243" y="931898"/>
            <a:ext cx="579951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Dashboard </a:t>
            </a:r>
          </a:p>
        </p:txBody>
      </p:sp>
    </p:spTree>
    <p:extLst>
      <p:ext uri="{BB962C8B-B14F-4D97-AF65-F5344CB8AC3E}">
        <p14:creationId xmlns:p14="http://schemas.microsoft.com/office/powerpoint/2010/main" val="4161028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r>
              <a:rPr lang="en-IN" altLang="en-US" sz="3200" spc="150" dirty="0">
                <a:solidFill>
                  <a:srgbClr val="0033CC"/>
                </a:solidFill>
                <a:effectLst>
                  <a:outerShdw blurRad="38100" dist="38100" dir="2700000" algn="tl">
                    <a:srgbClr val="000000">
                      <a:alpha val="43137"/>
                    </a:srgbClr>
                  </a:outerShdw>
                </a:effectLst>
                <a:latin typeface="+mj-lt"/>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cs typeface="Arial" pitchFamily="34" charset="-120"/>
              </a:rPr>
              <a:t>Screenshots</a:t>
            </a:r>
            <a:r>
              <a:rPr lang="en-IN" altLang="en-US" sz="3200" spc="150" dirty="0">
                <a:solidFill>
                  <a:srgbClr val="0033CC"/>
                </a:solidFill>
                <a:effectLst>
                  <a:outerShdw blurRad="38100" dist="38100" dir="2700000" algn="tl">
                    <a:srgbClr val="000000">
                      <a:alpha val="43137"/>
                    </a:srgbClr>
                  </a:outerShdw>
                </a:effectLst>
                <a:latin typeface="+mj-lt"/>
                <a:cs typeface="Arial" pitchFamily="34" charset="-120"/>
              </a:rPr>
              <a:t> - </a:t>
            </a:r>
            <a:endParaRPr lang="en" sz="3200" spc="150" dirty="0">
              <a:solidFill>
                <a:srgbClr val="0033CC"/>
              </a:solidFill>
              <a:effectLst>
                <a:outerShdw blurRad="38100" dist="38100" dir="2700000" algn="tl">
                  <a:srgbClr val="000000">
                    <a:alpha val="43137"/>
                  </a:srgbClr>
                </a:outerShdw>
              </a:effectLst>
              <a:latin typeface="+mj-lt"/>
              <a:cs typeface="Arial" pitchFamily="34" charset="-120"/>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61243" y="938501"/>
            <a:ext cx="10775956"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Generate Smart Contract for Marks Details</a:t>
            </a:r>
          </a:p>
        </p:txBody>
      </p:sp>
      <p:pic>
        <p:nvPicPr>
          <p:cNvPr id="6" name="Picture 5">
            <a:extLst>
              <a:ext uri="{FF2B5EF4-FFF2-40B4-BE49-F238E27FC236}">
                <a16:creationId xmlns:a16="http://schemas.microsoft.com/office/drawing/2014/main" id="{536F9C48-4E5F-4AD0-A0BB-9DC56A8BF6CB}"/>
              </a:ext>
            </a:extLst>
          </p:cNvPr>
          <p:cNvPicPr>
            <a:picLocks noChangeAspect="1"/>
          </p:cNvPicPr>
          <p:nvPr/>
        </p:nvPicPr>
        <p:blipFill rotWithShape="1">
          <a:blip r:embed="rId4"/>
          <a:srcRect t="6363" b="6363"/>
          <a:stretch/>
        </p:blipFill>
        <p:spPr>
          <a:xfrm>
            <a:off x="421342" y="-711200"/>
            <a:ext cx="7046259" cy="461665"/>
          </a:xfrm>
          <a:prstGeom prst="rect">
            <a:avLst/>
          </a:prstGeom>
          <a:ln w="19050">
            <a:solidFill>
              <a:srgbClr val="FF0000"/>
            </a:solidFill>
          </a:ln>
        </p:spPr>
      </p:pic>
      <p:cxnSp>
        <p:nvCxnSpPr>
          <p:cNvPr id="8" name="Connector: Elbow 7">
            <a:extLst>
              <a:ext uri="{FF2B5EF4-FFF2-40B4-BE49-F238E27FC236}">
                <a16:creationId xmlns:a16="http://schemas.microsoft.com/office/drawing/2014/main" id="{D7D22038-9AF2-49B5-837A-999F57C45B2A}"/>
              </a:ext>
            </a:extLst>
          </p:cNvPr>
          <p:cNvCxnSpPr>
            <a:cxnSpLocks/>
          </p:cNvCxnSpPr>
          <p:nvPr/>
        </p:nvCxnSpPr>
        <p:spPr>
          <a:xfrm>
            <a:off x="-3058459" y="3890665"/>
            <a:ext cx="2250141" cy="905453"/>
          </a:xfrm>
          <a:prstGeom prst="bentConnector3">
            <a:avLst>
              <a:gd name="adj1" fmla="val -598"/>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8FDE09F-7F33-4F7A-A965-DD78A05879D1}"/>
              </a:ext>
            </a:extLst>
          </p:cNvPr>
          <p:cNvPicPr>
            <a:picLocks noChangeAspect="1"/>
          </p:cNvPicPr>
          <p:nvPr/>
        </p:nvPicPr>
        <p:blipFill rotWithShape="1">
          <a:blip r:embed="rId5"/>
          <a:srcRect l="5780" t="13166" r="89343" b="7557"/>
          <a:stretch/>
        </p:blipFill>
        <p:spPr>
          <a:xfrm>
            <a:off x="3616325" y="6334483"/>
            <a:ext cx="238326" cy="259992"/>
          </a:xfrm>
          <a:prstGeom prst="rect">
            <a:avLst/>
          </a:prstGeom>
          <a:ln w="19050">
            <a:noFill/>
          </a:ln>
        </p:spPr>
      </p:pic>
      <p:pic>
        <p:nvPicPr>
          <p:cNvPr id="10" name="Picture 9">
            <a:extLst>
              <a:ext uri="{FF2B5EF4-FFF2-40B4-BE49-F238E27FC236}">
                <a16:creationId xmlns:a16="http://schemas.microsoft.com/office/drawing/2014/main" id="{0002568D-B49C-4D04-AB6F-22AF972CC285}"/>
              </a:ext>
            </a:extLst>
          </p:cNvPr>
          <p:cNvPicPr>
            <a:picLocks noChangeAspect="1"/>
          </p:cNvPicPr>
          <p:nvPr/>
        </p:nvPicPr>
        <p:blipFill rotWithShape="1">
          <a:blip r:embed="rId5"/>
          <a:srcRect l="23670" t="28040" r="64434" b="22268"/>
          <a:stretch/>
        </p:blipFill>
        <p:spPr>
          <a:xfrm>
            <a:off x="4479926" y="6373726"/>
            <a:ext cx="594973" cy="166773"/>
          </a:xfrm>
          <a:prstGeom prst="rect">
            <a:avLst/>
          </a:prstGeom>
          <a:ln w="19050">
            <a:noFill/>
          </a:ln>
        </p:spPr>
      </p:pic>
    </p:spTree>
    <p:extLst>
      <p:ext uri="{BB962C8B-B14F-4D97-AF65-F5344CB8AC3E}">
        <p14:creationId xmlns:p14="http://schemas.microsoft.com/office/powerpoint/2010/main" val="4197940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t="37" b="37"/>
          <a:stretch/>
        </p:blipFill>
        <p:spPr>
          <a:xfrm>
            <a:off x="985583" y="1721224"/>
            <a:ext cx="10421445" cy="5136776"/>
          </a:xfrm>
          <a:prstGeom prst="rect">
            <a:avLst/>
          </a:prstGeom>
        </p:spPr>
      </p:pic>
      <p:cxnSp>
        <p:nvCxnSpPr>
          <p:cNvPr id="4" name="Connector: Elbow 3">
            <a:extLst>
              <a:ext uri="{FF2B5EF4-FFF2-40B4-BE49-F238E27FC236}">
                <a16:creationId xmlns:a16="http://schemas.microsoft.com/office/drawing/2014/main" id="{EACC2755-FF00-4784-BDBC-EFAF2189E5A9}"/>
              </a:ext>
            </a:extLst>
          </p:cNvPr>
          <p:cNvCxnSpPr>
            <a:cxnSpLocks/>
          </p:cNvCxnSpPr>
          <p:nvPr/>
        </p:nvCxnSpPr>
        <p:spPr>
          <a:xfrm>
            <a:off x="1335741" y="3890665"/>
            <a:ext cx="2250141" cy="905453"/>
          </a:xfrm>
          <a:prstGeom prst="bentConnector3">
            <a:avLst>
              <a:gd name="adj1" fmla="val -598"/>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37A9D2E-E39B-47EC-8675-5EE964D26F6F}"/>
              </a:ext>
            </a:extLst>
          </p:cNvPr>
          <p:cNvSpPr/>
          <p:nvPr/>
        </p:nvSpPr>
        <p:spPr>
          <a:xfrm>
            <a:off x="571500" y="938501"/>
            <a:ext cx="9879141"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Add Marks to Individual Candidate</a:t>
            </a:r>
          </a:p>
        </p:txBody>
      </p:sp>
      <p:pic>
        <p:nvPicPr>
          <p:cNvPr id="20" name="Picture 19">
            <a:extLst>
              <a:ext uri="{FF2B5EF4-FFF2-40B4-BE49-F238E27FC236}">
                <a16:creationId xmlns:a16="http://schemas.microsoft.com/office/drawing/2014/main" id="{39207EED-A1EB-47B9-A776-0CEFC3B216AC}"/>
              </a:ext>
            </a:extLst>
          </p:cNvPr>
          <p:cNvPicPr>
            <a:picLocks noChangeAspect="1"/>
          </p:cNvPicPr>
          <p:nvPr/>
        </p:nvPicPr>
        <p:blipFill rotWithShape="1">
          <a:blip r:embed="rId4"/>
          <a:srcRect l="23366" r="32156" b="31945"/>
          <a:stretch/>
        </p:blipFill>
        <p:spPr>
          <a:xfrm>
            <a:off x="-5509481" y="1896811"/>
            <a:ext cx="5115033" cy="4531598"/>
          </a:xfrm>
          <a:prstGeom prst="rect">
            <a:avLst/>
          </a:prstGeom>
        </p:spPr>
      </p:pic>
      <p:pic>
        <p:nvPicPr>
          <p:cNvPr id="21" name="Picture 20">
            <a:extLst>
              <a:ext uri="{FF2B5EF4-FFF2-40B4-BE49-F238E27FC236}">
                <a16:creationId xmlns:a16="http://schemas.microsoft.com/office/drawing/2014/main" id="{350C325E-CB12-44FE-BA6D-70608AABFAE3}"/>
              </a:ext>
            </a:extLst>
          </p:cNvPr>
          <p:cNvPicPr>
            <a:picLocks noChangeAspect="1"/>
          </p:cNvPicPr>
          <p:nvPr/>
        </p:nvPicPr>
        <p:blipFill>
          <a:blip r:embed="rId5"/>
          <a:stretch>
            <a:fillRect/>
          </a:stretch>
        </p:blipFill>
        <p:spPr>
          <a:xfrm>
            <a:off x="281720" y="-659413"/>
            <a:ext cx="5115032" cy="350967"/>
          </a:xfrm>
          <a:prstGeom prst="rect">
            <a:avLst/>
          </a:prstGeom>
        </p:spPr>
      </p:pic>
      <p:pic>
        <p:nvPicPr>
          <p:cNvPr id="22" name="Picture 21">
            <a:extLst>
              <a:ext uri="{FF2B5EF4-FFF2-40B4-BE49-F238E27FC236}">
                <a16:creationId xmlns:a16="http://schemas.microsoft.com/office/drawing/2014/main" id="{5999434C-1DCD-423C-8559-B14E80A8C5C2}"/>
              </a:ext>
            </a:extLst>
          </p:cNvPr>
          <p:cNvPicPr>
            <a:picLocks noChangeAspect="1"/>
          </p:cNvPicPr>
          <p:nvPr/>
        </p:nvPicPr>
        <p:blipFill rotWithShape="1">
          <a:blip r:embed="rId6"/>
          <a:srcRect t="17995"/>
          <a:stretch/>
        </p:blipFill>
        <p:spPr>
          <a:xfrm>
            <a:off x="12364084" y="1414832"/>
            <a:ext cx="6338468" cy="2445677"/>
          </a:xfrm>
          <a:prstGeom prst="rect">
            <a:avLst/>
          </a:prstGeom>
        </p:spPr>
      </p:pic>
      <p:pic>
        <p:nvPicPr>
          <p:cNvPr id="23" name="Picture 22">
            <a:extLst>
              <a:ext uri="{FF2B5EF4-FFF2-40B4-BE49-F238E27FC236}">
                <a16:creationId xmlns:a16="http://schemas.microsoft.com/office/drawing/2014/main" id="{154A1F1E-B599-475D-B488-B028CB3F9526}"/>
              </a:ext>
            </a:extLst>
          </p:cNvPr>
          <p:cNvPicPr>
            <a:picLocks noChangeAspect="1"/>
          </p:cNvPicPr>
          <p:nvPr/>
        </p:nvPicPr>
        <p:blipFill>
          <a:blip r:embed="rId7"/>
          <a:stretch>
            <a:fillRect/>
          </a:stretch>
        </p:blipFill>
        <p:spPr>
          <a:xfrm>
            <a:off x="5683884" y="7062938"/>
            <a:ext cx="6338467" cy="2445677"/>
          </a:xfrm>
          <a:prstGeom prst="rect">
            <a:avLst/>
          </a:prstGeom>
        </p:spPr>
      </p:pic>
      <p:sp>
        <p:nvSpPr>
          <p:cNvPr id="24" name="Rectangle: Rounded Corners 23">
            <a:extLst>
              <a:ext uri="{FF2B5EF4-FFF2-40B4-BE49-F238E27FC236}">
                <a16:creationId xmlns:a16="http://schemas.microsoft.com/office/drawing/2014/main" id="{9497E2B4-55B6-41B7-AF82-493ADE23D1E6}"/>
              </a:ext>
            </a:extLst>
          </p:cNvPr>
          <p:cNvSpPr/>
          <p:nvPr/>
        </p:nvSpPr>
        <p:spPr>
          <a:xfrm>
            <a:off x="12543205" y="3487269"/>
            <a:ext cx="4592083" cy="25101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18EEF3FD-A771-4D2B-9FBD-8CBAE541BF46}"/>
              </a:ext>
            </a:extLst>
          </p:cNvPr>
          <p:cNvSpPr/>
          <p:nvPr/>
        </p:nvSpPr>
        <p:spPr>
          <a:xfrm>
            <a:off x="5737675" y="8865347"/>
            <a:ext cx="4096610" cy="33169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CF169689-C1F5-40FC-B816-650F70F90AA9}"/>
              </a:ext>
            </a:extLst>
          </p:cNvPr>
          <p:cNvPicPr>
            <a:picLocks noChangeAspect="1"/>
          </p:cNvPicPr>
          <p:nvPr/>
        </p:nvPicPr>
        <p:blipFill rotWithShape="1">
          <a:blip r:embed="rId8"/>
          <a:srcRect l="23670" t="28040" r="64434" b="22268"/>
          <a:stretch/>
        </p:blipFill>
        <p:spPr>
          <a:xfrm>
            <a:off x="4429126" y="4712731"/>
            <a:ext cx="594973" cy="166773"/>
          </a:xfrm>
          <a:prstGeom prst="rect">
            <a:avLst/>
          </a:prstGeom>
          <a:ln w="19050">
            <a:noFill/>
          </a:ln>
        </p:spPr>
      </p:pic>
      <p:grpSp>
        <p:nvGrpSpPr>
          <p:cNvPr id="13" name="Group 12">
            <a:extLst>
              <a:ext uri="{FF2B5EF4-FFF2-40B4-BE49-F238E27FC236}">
                <a16:creationId xmlns:a16="http://schemas.microsoft.com/office/drawing/2014/main" id="{244312B3-A2AD-451A-9AFB-3C5ECA218C57}"/>
              </a:ext>
            </a:extLst>
          </p:cNvPr>
          <p:cNvGrpSpPr/>
          <p:nvPr/>
        </p:nvGrpSpPr>
        <p:grpSpPr>
          <a:xfrm>
            <a:off x="1173479" y="3469448"/>
            <a:ext cx="5593081" cy="408935"/>
            <a:chOff x="3875482" y="241202"/>
            <a:chExt cx="6145687" cy="449339"/>
          </a:xfrm>
        </p:grpSpPr>
        <p:pic>
          <p:nvPicPr>
            <p:cNvPr id="8" name="Picture 7">
              <a:extLst>
                <a:ext uri="{FF2B5EF4-FFF2-40B4-BE49-F238E27FC236}">
                  <a16:creationId xmlns:a16="http://schemas.microsoft.com/office/drawing/2014/main" id="{F51BD6DF-731E-49AC-9F70-BC1FC605B48B}"/>
                </a:ext>
              </a:extLst>
            </p:cNvPr>
            <p:cNvPicPr>
              <a:picLocks noChangeAspect="1"/>
            </p:cNvPicPr>
            <p:nvPr/>
          </p:nvPicPr>
          <p:blipFill rotWithShape="1">
            <a:blip r:embed="rId9"/>
            <a:srcRect t="3521" r="55092"/>
            <a:stretch/>
          </p:blipFill>
          <p:spPr>
            <a:xfrm>
              <a:off x="3875482" y="249668"/>
              <a:ext cx="2562813" cy="440873"/>
            </a:xfrm>
            <a:prstGeom prst="rect">
              <a:avLst/>
            </a:prstGeom>
          </p:spPr>
        </p:pic>
        <p:pic>
          <p:nvPicPr>
            <p:cNvPr id="10" name="Picture 9">
              <a:extLst>
                <a:ext uri="{FF2B5EF4-FFF2-40B4-BE49-F238E27FC236}">
                  <a16:creationId xmlns:a16="http://schemas.microsoft.com/office/drawing/2014/main" id="{FC0E186E-E0D1-480C-9799-F876F265847C}"/>
                </a:ext>
              </a:extLst>
            </p:cNvPr>
            <p:cNvPicPr>
              <a:picLocks noChangeAspect="1"/>
            </p:cNvPicPr>
            <p:nvPr/>
          </p:nvPicPr>
          <p:blipFill>
            <a:blip r:embed="rId10"/>
            <a:stretch>
              <a:fillRect/>
            </a:stretch>
          </p:blipFill>
          <p:spPr>
            <a:xfrm>
              <a:off x="9423693" y="241202"/>
              <a:ext cx="597476" cy="428624"/>
            </a:xfrm>
            <a:prstGeom prst="rect">
              <a:avLst/>
            </a:prstGeom>
          </p:spPr>
        </p:pic>
        <p:pic>
          <p:nvPicPr>
            <p:cNvPr id="26" name="Picture 25">
              <a:extLst>
                <a:ext uri="{FF2B5EF4-FFF2-40B4-BE49-F238E27FC236}">
                  <a16:creationId xmlns:a16="http://schemas.microsoft.com/office/drawing/2014/main" id="{56681481-BF74-49A8-B2BD-90D4E2D945BA}"/>
                </a:ext>
              </a:extLst>
            </p:cNvPr>
            <p:cNvPicPr>
              <a:picLocks noChangeAspect="1"/>
            </p:cNvPicPr>
            <p:nvPr/>
          </p:nvPicPr>
          <p:blipFill rotWithShape="1">
            <a:blip r:embed="rId3"/>
            <a:srcRect l="40865" t="56889" r="41531" b="37984"/>
            <a:stretch/>
          </p:blipFill>
          <p:spPr>
            <a:xfrm>
              <a:off x="6367097" y="249668"/>
              <a:ext cx="3068872" cy="440873"/>
            </a:xfrm>
            <a:prstGeom prst="rect">
              <a:avLst/>
            </a:prstGeom>
          </p:spPr>
        </p:pic>
      </p:grpSp>
    </p:spTree>
    <p:extLst>
      <p:ext uri="{BB962C8B-B14F-4D97-AF65-F5344CB8AC3E}">
        <p14:creationId xmlns:p14="http://schemas.microsoft.com/office/powerpoint/2010/main" val="2885445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l="23366" r="32156" b="80692"/>
          <a:stretch/>
        </p:blipFill>
        <p:spPr>
          <a:xfrm>
            <a:off x="281719" y="1896811"/>
            <a:ext cx="5115033" cy="1285660"/>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8501"/>
            <a:ext cx="11450851" cy="400110"/>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Admin Services – Save the  Marks  into Blockchain Smart Contract using  Metamask &amp; Local Ganache </a:t>
            </a:r>
          </a:p>
        </p:txBody>
      </p:sp>
      <p:pic>
        <p:nvPicPr>
          <p:cNvPr id="4" name="Picture 3">
            <a:extLst>
              <a:ext uri="{FF2B5EF4-FFF2-40B4-BE49-F238E27FC236}">
                <a16:creationId xmlns:a16="http://schemas.microsoft.com/office/drawing/2014/main" id="{C2B61074-117B-4901-AA16-AF738413385B}"/>
              </a:ext>
            </a:extLst>
          </p:cNvPr>
          <p:cNvPicPr>
            <a:picLocks noChangeAspect="1"/>
          </p:cNvPicPr>
          <p:nvPr/>
        </p:nvPicPr>
        <p:blipFill>
          <a:blip r:embed="rId4"/>
          <a:srcRect/>
          <a:stretch/>
        </p:blipFill>
        <p:spPr>
          <a:xfrm>
            <a:off x="355761" y="1448787"/>
            <a:ext cx="4966948" cy="350967"/>
          </a:xfrm>
          <a:prstGeom prst="rect">
            <a:avLst/>
          </a:prstGeom>
          <a:ln w="12700">
            <a:solidFill>
              <a:srgbClr val="FF0000"/>
            </a:solidFill>
          </a:ln>
        </p:spPr>
      </p:pic>
      <p:pic>
        <p:nvPicPr>
          <p:cNvPr id="9" name="Picture 8">
            <a:extLst>
              <a:ext uri="{FF2B5EF4-FFF2-40B4-BE49-F238E27FC236}">
                <a16:creationId xmlns:a16="http://schemas.microsoft.com/office/drawing/2014/main" id="{8A9004E4-125D-4D02-A20E-047555B5F353}"/>
              </a:ext>
            </a:extLst>
          </p:cNvPr>
          <p:cNvPicPr>
            <a:picLocks noChangeAspect="1"/>
          </p:cNvPicPr>
          <p:nvPr/>
        </p:nvPicPr>
        <p:blipFill rotWithShape="1">
          <a:blip r:embed="rId5"/>
          <a:srcRect t="17995"/>
          <a:stretch/>
        </p:blipFill>
        <p:spPr>
          <a:xfrm>
            <a:off x="5683884" y="1414832"/>
            <a:ext cx="6338468" cy="2445677"/>
          </a:xfrm>
          <a:prstGeom prst="rect">
            <a:avLst/>
          </a:prstGeom>
        </p:spPr>
      </p:pic>
      <p:pic>
        <p:nvPicPr>
          <p:cNvPr id="11" name="Picture 10">
            <a:extLst>
              <a:ext uri="{FF2B5EF4-FFF2-40B4-BE49-F238E27FC236}">
                <a16:creationId xmlns:a16="http://schemas.microsoft.com/office/drawing/2014/main" id="{DCC8DED0-C76B-45E0-8F96-2F7B88CC99FA}"/>
              </a:ext>
            </a:extLst>
          </p:cNvPr>
          <p:cNvPicPr>
            <a:picLocks noChangeAspect="1"/>
          </p:cNvPicPr>
          <p:nvPr/>
        </p:nvPicPr>
        <p:blipFill>
          <a:blip r:embed="rId6"/>
          <a:stretch>
            <a:fillRect/>
          </a:stretch>
        </p:blipFill>
        <p:spPr>
          <a:xfrm>
            <a:off x="5683884" y="3976838"/>
            <a:ext cx="6338467" cy="2445677"/>
          </a:xfrm>
          <a:prstGeom prst="rect">
            <a:avLst/>
          </a:prstGeom>
        </p:spPr>
      </p:pic>
      <p:sp>
        <p:nvSpPr>
          <p:cNvPr id="12" name="Rectangle: Rounded Corners 11">
            <a:extLst>
              <a:ext uri="{FF2B5EF4-FFF2-40B4-BE49-F238E27FC236}">
                <a16:creationId xmlns:a16="http://schemas.microsoft.com/office/drawing/2014/main" id="{05619C0A-F89E-4BCE-A421-E9DDC76313E7}"/>
              </a:ext>
            </a:extLst>
          </p:cNvPr>
          <p:cNvSpPr/>
          <p:nvPr/>
        </p:nvSpPr>
        <p:spPr>
          <a:xfrm>
            <a:off x="5824905" y="3487269"/>
            <a:ext cx="4592083" cy="25101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B248445-BE45-41AA-845A-3B2F47DAA4EC}"/>
              </a:ext>
            </a:extLst>
          </p:cNvPr>
          <p:cNvSpPr/>
          <p:nvPr/>
        </p:nvSpPr>
        <p:spPr>
          <a:xfrm>
            <a:off x="5737675" y="5728447"/>
            <a:ext cx="4096610" cy="33169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C2453279-D1ED-43E5-B150-1DB3CF581E59}"/>
              </a:ext>
            </a:extLst>
          </p:cNvPr>
          <p:cNvPicPr>
            <a:picLocks noChangeAspect="1"/>
          </p:cNvPicPr>
          <p:nvPr/>
        </p:nvPicPr>
        <p:blipFill rotWithShape="1">
          <a:blip r:embed="rId7"/>
          <a:srcRect l="20846" r="24673" b="4666"/>
          <a:stretch/>
        </p:blipFill>
        <p:spPr>
          <a:xfrm>
            <a:off x="716574" y="7400786"/>
            <a:ext cx="5109882" cy="5029583"/>
          </a:xfrm>
          <a:prstGeom prst="rect">
            <a:avLst/>
          </a:prstGeom>
        </p:spPr>
      </p:pic>
      <p:sp>
        <p:nvSpPr>
          <p:cNvPr id="16" name="Rectangle: Rounded Corners 15">
            <a:extLst>
              <a:ext uri="{FF2B5EF4-FFF2-40B4-BE49-F238E27FC236}">
                <a16:creationId xmlns:a16="http://schemas.microsoft.com/office/drawing/2014/main" id="{5F33692F-72C9-4274-A53F-F59B39A7ECCB}"/>
              </a:ext>
            </a:extLst>
          </p:cNvPr>
          <p:cNvSpPr/>
          <p:nvPr/>
        </p:nvSpPr>
        <p:spPr>
          <a:xfrm>
            <a:off x="716574" y="10731152"/>
            <a:ext cx="3530111" cy="3463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A1DD9D8-9B4C-4507-AC14-C09AB917356E}"/>
              </a:ext>
            </a:extLst>
          </p:cNvPr>
          <p:cNvPicPr>
            <a:picLocks noChangeAspect="1"/>
          </p:cNvPicPr>
          <p:nvPr/>
        </p:nvPicPr>
        <p:blipFill>
          <a:blip r:embed="rId8"/>
          <a:stretch>
            <a:fillRect/>
          </a:stretch>
        </p:blipFill>
        <p:spPr>
          <a:xfrm>
            <a:off x="6404536" y="-3931173"/>
            <a:ext cx="5265760" cy="3570007"/>
          </a:xfrm>
          <a:prstGeom prst="rect">
            <a:avLst/>
          </a:prstGeom>
        </p:spPr>
      </p:pic>
      <p:sp>
        <p:nvSpPr>
          <p:cNvPr id="19" name="Rectangle 18">
            <a:extLst>
              <a:ext uri="{FF2B5EF4-FFF2-40B4-BE49-F238E27FC236}">
                <a16:creationId xmlns:a16="http://schemas.microsoft.com/office/drawing/2014/main" id="{E2359563-D2F3-448E-845B-935E7BADD6AF}"/>
              </a:ext>
            </a:extLst>
          </p:cNvPr>
          <p:cNvSpPr/>
          <p:nvPr/>
        </p:nvSpPr>
        <p:spPr>
          <a:xfrm>
            <a:off x="6816725" y="-3206749"/>
            <a:ext cx="4565650" cy="190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A49EC0BA-6D54-445A-974D-5C8E9EB367F3}"/>
              </a:ext>
            </a:extLst>
          </p:cNvPr>
          <p:cNvPicPr>
            <a:picLocks noChangeAspect="1"/>
          </p:cNvPicPr>
          <p:nvPr/>
        </p:nvPicPr>
        <p:blipFill>
          <a:blip r:embed="rId9"/>
          <a:stretch>
            <a:fillRect/>
          </a:stretch>
        </p:blipFill>
        <p:spPr>
          <a:xfrm>
            <a:off x="12462436" y="1520686"/>
            <a:ext cx="5070889" cy="1335348"/>
          </a:xfrm>
          <a:prstGeom prst="rect">
            <a:avLst/>
          </a:prstGeom>
        </p:spPr>
      </p:pic>
      <p:sp>
        <p:nvSpPr>
          <p:cNvPr id="22" name="Rectangle: Rounded Corners 21">
            <a:extLst>
              <a:ext uri="{FF2B5EF4-FFF2-40B4-BE49-F238E27FC236}">
                <a16:creationId xmlns:a16="http://schemas.microsoft.com/office/drawing/2014/main" id="{6F405B11-5DC4-4F5B-BBFE-0024F0E4724A}"/>
              </a:ext>
            </a:extLst>
          </p:cNvPr>
          <p:cNvSpPr/>
          <p:nvPr/>
        </p:nvSpPr>
        <p:spPr>
          <a:xfrm>
            <a:off x="12423445" y="2188359"/>
            <a:ext cx="5109880" cy="66767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AEAC88EB-6D82-4195-9A2E-9A45F57421D5}"/>
              </a:ext>
            </a:extLst>
          </p:cNvPr>
          <p:cNvPicPr>
            <a:picLocks noChangeAspect="1"/>
          </p:cNvPicPr>
          <p:nvPr/>
        </p:nvPicPr>
        <p:blipFill rotWithShape="1">
          <a:blip r:embed="rId10"/>
          <a:srcRect l="5152" t="22793" r="2394" b="2583"/>
          <a:stretch/>
        </p:blipFill>
        <p:spPr>
          <a:xfrm>
            <a:off x="435737" y="3182471"/>
            <a:ext cx="4602428" cy="3598670"/>
          </a:xfrm>
          <a:prstGeom prst="rect">
            <a:avLst/>
          </a:prstGeom>
        </p:spPr>
      </p:pic>
      <p:pic>
        <p:nvPicPr>
          <p:cNvPr id="23" name="Picture 22">
            <a:extLst>
              <a:ext uri="{FF2B5EF4-FFF2-40B4-BE49-F238E27FC236}">
                <a16:creationId xmlns:a16="http://schemas.microsoft.com/office/drawing/2014/main" id="{83734E51-80D8-47FD-8BF5-F73C52DE6EB7}"/>
              </a:ext>
            </a:extLst>
          </p:cNvPr>
          <p:cNvPicPr>
            <a:picLocks noChangeAspect="1"/>
          </p:cNvPicPr>
          <p:nvPr/>
        </p:nvPicPr>
        <p:blipFill>
          <a:blip r:embed="rId11"/>
          <a:stretch>
            <a:fillRect/>
          </a:stretch>
        </p:blipFill>
        <p:spPr>
          <a:xfrm>
            <a:off x="969023" y="11460524"/>
            <a:ext cx="252448" cy="228632"/>
          </a:xfrm>
          <a:prstGeom prst="rect">
            <a:avLst/>
          </a:prstGeom>
        </p:spPr>
      </p:pic>
      <p:pic>
        <p:nvPicPr>
          <p:cNvPr id="25" name="Picture 24">
            <a:extLst>
              <a:ext uri="{FF2B5EF4-FFF2-40B4-BE49-F238E27FC236}">
                <a16:creationId xmlns:a16="http://schemas.microsoft.com/office/drawing/2014/main" id="{AC22BB4B-E7B5-4203-BA6B-42A7B5A0571A}"/>
              </a:ext>
            </a:extLst>
          </p:cNvPr>
          <p:cNvPicPr>
            <a:picLocks noChangeAspect="1"/>
          </p:cNvPicPr>
          <p:nvPr/>
        </p:nvPicPr>
        <p:blipFill rotWithShape="1">
          <a:blip r:embed="rId12"/>
          <a:srcRect l="23443" t="28208" r="64722" b="26392"/>
          <a:stretch/>
        </p:blipFill>
        <p:spPr>
          <a:xfrm>
            <a:off x="1813756" y="11497813"/>
            <a:ext cx="598450" cy="154054"/>
          </a:xfrm>
          <a:prstGeom prst="rect">
            <a:avLst/>
          </a:prstGeom>
        </p:spPr>
      </p:pic>
    </p:spTree>
    <p:extLst>
      <p:ext uri="{BB962C8B-B14F-4D97-AF65-F5344CB8AC3E}">
        <p14:creationId xmlns:p14="http://schemas.microsoft.com/office/powerpoint/2010/main" val="76866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t="6537" b="6537"/>
          <a:stretch/>
        </p:blipFill>
        <p:spPr>
          <a:xfrm>
            <a:off x="716574" y="1520686"/>
            <a:ext cx="5109882" cy="5029583"/>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8501"/>
            <a:ext cx="9879141"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View Candidate Results with Transaction Block ID</a:t>
            </a:r>
          </a:p>
        </p:txBody>
      </p:sp>
      <p:sp>
        <p:nvSpPr>
          <p:cNvPr id="6" name="Rectangle: Rounded Corners 5">
            <a:extLst>
              <a:ext uri="{FF2B5EF4-FFF2-40B4-BE49-F238E27FC236}">
                <a16:creationId xmlns:a16="http://schemas.microsoft.com/office/drawing/2014/main" id="{DBEC04F3-BCB3-4B47-88E3-71D85BB34ECA}"/>
              </a:ext>
            </a:extLst>
          </p:cNvPr>
          <p:cNvSpPr/>
          <p:nvPr/>
        </p:nvSpPr>
        <p:spPr>
          <a:xfrm>
            <a:off x="1037649" y="5465881"/>
            <a:ext cx="3530111" cy="3463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F1D889F5-3A2C-44C5-BFB4-DA72B7576FC0}"/>
              </a:ext>
            </a:extLst>
          </p:cNvPr>
          <p:cNvGrpSpPr/>
          <p:nvPr/>
        </p:nvGrpSpPr>
        <p:grpSpPr>
          <a:xfrm>
            <a:off x="6365545" y="1520686"/>
            <a:ext cx="5109880" cy="1335348"/>
            <a:chOff x="6365546" y="1520686"/>
            <a:chExt cx="5512689" cy="1440613"/>
          </a:xfrm>
        </p:grpSpPr>
        <p:pic>
          <p:nvPicPr>
            <p:cNvPr id="4" name="Picture 3">
              <a:extLst>
                <a:ext uri="{FF2B5EF4-FFF2-40B4-BE49-F238E27FC236}">
                  <a16:creationId xmlns:a16="http://schemas.microsoft.com/office/drawing/2014/main" id="{62D85961-6B9E-4F42-A06B-7032D6A4BB6E}"/>
                </a:ext>
              </a:extLst>
            </p:cNvPr>
            <p:cNvPicPr>
              <a:picLocks noChangeAspect="1"/>
            </p:cNvPicPr>
            <p:nvPr/>
          </p:nvPicPr>
          <p:blipFill>
            <a:blip r:embed="rId4"/>
            <a:stretch>
              <a:fillRect/>
            </a:stretch>
          </p:blipFill>
          <p:spPr>
            <a:xfrm>
              <a:off x="6407611" y="1520686"/>
              <a:ext cx="5470624" cy="1440613"/>
            </a:xfrm>
            <a:prstGeom prst="rect">
              <a:avLst/>
            </a:prstGeom>
          </p:spPr>
        </p:pic>
        <p:sp>
          <p:nvSpPr>
            <p:cNvPr id="9" name="Rectangle: Rounded Corners 8">
              <a:extLst>
                <a:ext uri="{FF2B5EF4-FFF2-40B4-BE49-F238E27FC236}">
                  <a16:creationId xmlns:a16="http://schemas.microsoft.com/office/drawing/2014/main" id="{EF5FAE27-CB6E-4E32-8B0A-C87ABE867912}"/>
                </a:ext>
              </a:extLst>
            </p:cNvPr>
            <p:cNvSpPr/>
            <p:nvPr/>
          </p:nvSpPr>
          <p:spPr>
            <a:xfrm>
              <a:off x="6365546" y="2240991"/>
              <a:ext cx="5512689" cy="72030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1" name="Picture 10">
            <a:extLst>
              <a:ext uri="{FF2B5EF4-FFF2-40B4-BE49-F238E27FC236}">
                <a16:creationId xmlns:a16="http://schemas.microsoft.com/office/drawing/2014/main" id="{CC0EFCF2-874F-47F5-9770-71D3BF996B8E}"/>
              </a:ext>
            </a:extLst>
          </p:cNvPr>
          <p:cNvPicPr>
            <a:picLocks noChangeAspect="1"/>
          </p:cNvPicPr>
          <p:nvPr/>
        </p:nvPicPr>
        <p:blipFill>
          <a:blip r:embed="rId5"/>
          <a:stretch>
            <a:fillRect/>
          </a:stretch>
        </p:blipFill>
        <p:spPr>
          <a:xfrm>
            <a:off x="6404536" y="3015727"/>
            <a:ext cx="5265760" cy="3570007"/>
          </a:xfrm>
          <a:prstGeom prst="rect">
            <a:avLst/>
          </a:prstGeom>
        </p:spPr>
      </p:pic>
      <p:sp>
        <p:nvSpPr>
          <p:cNvPr id="13" name="Rectangle 12">
            <a:extLst>
              <a:ext uri="{FF2B5EF4-FFF2-40B4-BE49-F238E27FC236}">
                <a16:creationId xmlns:a16="http://schemas.microsoft.com/office/drawing/2014/main" id="{8109B57E-451B-44D5-A5A2-E8409F0CCAA8}"/>
              </a:ext>
            </a:extLst>
          </p:cNvPr>
          <p:cNvSpPr/>
          <p:nvPr/>
        </p:nvSpPr>
        <p:spPr>
          <a:xfrm>
            <a:off x="6816725" y="3740151"/>
            <a:ext cx="4565650" cy="190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9B37873F-A1F5-4FBD-8A8E-B64AE275FEB6}"/>
              </a:ext>
            </a:extLst>
          </p:cNvPr>
          <p:cNvPicPr>
            <a:picLocks noChangeAspect="1"/>
          </p:cNvPicPr>
          <p:nvPr/>
        </p:nvPicPr>
        <p:blipFill rotWithShape="1">
          <a:blip r:embed="rId6"/>
          <a:srcRect l="23366" r="32156" b="31945"/>
          <a:stretch/>
        </p:blipFill>
        <p:spPr>
          <a:xfrm>
            <a:off x="-6017481" y="1896811"/>
            <a:ext cx="5115033" cy="4531598"/>
          </a:xfrm>
          <a:prstGeom prst="rect">
            <a:avLst/>
          </a:prstGeom>
        </p:spPr>
      </p:pic>
      <p:pic>
        <p:nvPicPr>
          <p:cNvPr id="15" name="Picture 14">
            <a:extLst>
              <a:ext uri="{FF2B5EF4-FFF2-40B4-BE49-F238E27FC236}">
                <a16:creationId xmlns:a16="http://schemas.microsoft.com/office/drawing/2014/main" id="{81B804AE-0566-4459-BD8C-2756AB7B559A}"/>
              </a:ext>
            </a:extLst>
          </p:cNvPr>
          <p:cNvPicPr>
            <a:picLocks noChangeAspect="1"/>
          </p:cNvPicPr>
          <p:nvPr/>
        </p:nvPicPr>
        <p:blipFill>
          <a:blip r:embed="rId7"/>
          <a:stretch>
            <a:fillRect/>
          </a:stretch>
        </p:blipFill>
        <p:spPr>
          <a:xfrm>
            <a:off x="12503784" y="3976838"/>
            <a:ext cx="6338467" cy="2445677"/>
          </a:xfrm>
          <a:prstGeom prst="rect">
            <a:avLst/>
          </a:prstGeom>
        </p:spPr>
      </p:pic>
      <p:sp>
        <p:nvSpPr>
          <p:cNvPr id="16" name="Rectangle: Rounded Corners 15">
            <a:extLst>
              <a:ext uri="{FF2B5EF4-FFF2-40B4-BE49-F238E27FC236}">
                <a16:creationId xmlns:a16="http://schemas.microsoft.com/office/drawing/2014/main" id="{BF0A15CC-D218-4835-A6E1-C7AB49999A89}"/>
              </a:ext>
            </a:extLst>
          </p:cNvPr>
          <p:cNvSpPr/>
          <p:nvPr/>
        </p:nvSpPr>
        <p:spPr>
          <a:xfrm>
            <a:off x="12557575" y="5728447"/>
            <a:ext cx="4096610" cy="33169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B109F307-1AC3-4AE4-81F4-7C8EC7E4D0D8}"/>
              </a:ext>
            </a:extLst>
          </p:cNvPr>
          <p:cNvPicPr>
            <a:picLocks noChangeAspect="1"/>
          </p:cNvPicPr>
          <p:nvPr/>
        </p:nvPicPr>
        <p:blipFill rotWithShape="1">
          <a:blip r:embed="rId8"/>
          <a:srcRect t="17995"/>
          <a:stretch/>
        </p:blipFill>
        <p:spPr>
          <a:xfrm>
            <a:off x="12516484" y="1414832"/>
            <a:ext cx="6338468" cy="2445677"/>
          </a:xfrm>
          <a:prstGeom prst="rect">
            <a:avLst/>
          </a:prstGeom>
        </p:spPr>
      </p:pic>
      <p:pic>
        <p:nvPicPr>
          <p:cNvPr id="20" name="Picture 19">
            <a:extLst>
              <a:ext uri="{FF2B5EF4-FFF2-40B4-BE49-F238E27FC236}">
                <a16:creationId xmlns:a16="http://schemas.microsoft.com/office/drawing/2014/main" id="{B7796955-7B06-4B39-BC56-B9CD6D68FD2E}"/>
              </a:ext>
            </a:extLst>
          </p:cNvPr>
          <p:cNvPicPr>
            <a:picLocks noChangeAspect="1"/>
          </p:cNvPicPr>
          <p:nvPr/>
        </p:nvPicPr>
        <p:blipFill>
          <a:blip r:embed="rId9"/>
          <a:srcRect l="457" r="457"/>
          <a:stretch/>
        </p:blipFill>
        <p:spPr>
          <a:xfrm>
            <a:off x="1573507" y="-5497147"/>
            <a:ext cx="9044986" cy="5134708"/>
          </a:xfrm>
          <a:prstGeom prst="rect">
            <a:avLst/>
          </a:prstGeom>
        </p:spPr>
      </p:pic>
      <p:sp>
        <p:nvSpPr>
          <p:cNvPr id="19" name="Rectangle: Rounded Corners 18">
            <a:extLst>
              <a:ext uri="{FF2B5EF4-FFF2-40B4-BE49-F238E27FC236}">
                <a16:creationId xmlns:a16="http://schemas.microsoft.com/office/drawing/2014/main" id="{305427D7-0093-4A3C-BAB3-8B791F9AE468}"/>
              </a:ext>
            </a:extLst>
          </p:cNvPr>
          <p:cNvSpPr/>
          <p:nvPr/>
        </p:nvSpPr>
        <p:spPr>
          <a:xfrm>
            <a:off x="12657505" y="3487269"/>
            <a:ext cx="4592083" cy="25101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8A915A13-AB48-4A7D-ACAB-12CF71EBFD03}"/>
              </a:ext>
            </a:extLst>
          </p:cNvPr>
          <p:cNvPicPr>
            <a:picLocks noChangeAspect="1"/>
          </p:cNvPicPr>
          <p:nvPr/>
        </p:nvPicPr>
        <p:blipFill>
          <a:blip r:embed="rId10"/>
          <a:stretch>
            <a:fillRect/>
          </a:stretch>
        </p:blipFill>
        <p:spPr>
          <a:xfrm>
            <a:off x="-5858431" y="6057041"/>
            <a:ext cx="380355" cy="344473"/>
          </a:xfrm>
          <a:prstGeom prst="rect">
            <a:avLst/>
          </a:prstGeom>
        </p:spPr>
      </p:pic>
      <p:pic>
        <p:nvPicPr>
          <p:cNvPr id="23" name="Picture 22">
            <a:extLst>
              <a:ext uri="{FF2B5EF4-FFF2-40B4-BE49-F238E27FC236}">
                <a16:creationId xmlns:a16="http://schemas.microsoft.com/office/drawing/2014/main" id="{A1C5F960-9A1E-41BD-A484-BBEBF7AAA97D}"/>
              </a:ext>
            </a:extLst>
          </p:cNvPr>
          <p:cNvPicPr>
            <a:picLocks noChangeAspect="1"/>
          </p:cNvPicPr>
          <p:nvPr/>
        </p:nvPicPr>
        <p:blipFill>
          <a:blip r:embed="rId11"/>
          <a:stretch>
            <a:fillRect/>
          </a:stretch>
        </p:blipFill>
        <p:spPr>
          <a:xfrm>
            <a:off x="-4899996" y="6138772"/>
            <a:ext cx="556596" cy="165144"/>
          </a:xfrm>
          <a:prstGeom prst="rect">
            <a:avLst/>
          </a:prstGeom>
        </p:spPr>
      </p:pic>
    </p:spTree>
    <p:extLst>
      <p:ext uri="{BB962C8B-B14F-4D97-AF65-F5344CB8AC3E}">
        <p14:creationId xmlns:p14="http://schemas.microsoft.com/office/powerpoint/2010/main" val="1835546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8" y="1652953"/>
            <a:ext cx="9044986" cy="5134708"/>
          </a:xfrm>
          <a:prstGeom prst="rect">
            <a:avLst/>
          </a:prstGeom>
        </p:spPr>
      </p:pic>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6" name="Picture 5">
            <a:extLst>
              <a:ext uri="{FF2B5EF4-FFF2-40B4-BE49-F238E27FC236}">
                <a16:creationId xmlns:a16="http://schemas.microsoft.com/office/drawing/2014/main" id="{F7467AE3-8089-40F2-A07D-89EF7A392ED0}"/>
              </a:ext>
            </a:extLst>
          </p:cNvPr>
          <p:cNvPicPr>
            <a:picLocks noChangeAspect="1"/>
          </p:cNvPicPr>
          <p:nvPr/>
        </p:nvPicPr>
        <p:blipFill>
          <a:blip r:embed="rId4"/>
          <a:srcRect l="457" r="457"/>
          <a:stretch/>
        </p:blipFill>
        <p:spPr>
          <a:xfrm>
            <a:off x="1607524" y="-5859968"/>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499" y="931898"/>
            <a:ext cx="11059257"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Candidate ID Card  Information send into smart contract</a:t>
            </a:r>
          </a:p>
        </p:txBody>
      </p:sp>
    </p:spTree>
    <p:extLst>
      <p:ext uri="{BB962C8B-B14F-4D97-AF65-F5344CB8AC3E}">
        <p14:creationId xmlns:p14="http://schemas.microsoft.com/office/powerpoint/2010/main" val="2572204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607524" y="1582232"/>
            <a:ext cx="9293469" cy="5275768"/>
          </a:xfrm>
          <a:prstGeom prst="rect">
            <a:avLst/>
          </a:prstGeom>
        </p:spPr>
      </p:pic>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6" name="Picture 5">
            <a:extLst>
              <a:ext uri="{FF2B5EF4-FFF2-40B4-BE49-F238E27FC236}">
                <a16:creationId xmlns:a16="http://schemas.microsoft.com/office/drawing/2014/main" id="{1FA89715-B97B-4852-8E98-E13DD6247910}"/>
              </a:ext>
            </a:extLst>
          </p:cNvPr>
          <p:cNvPicPr>
            <a:picLocks noChangeAspect="1"/>
          </p:cNvPicPr>
          <p:nvPr/>
        </p:nvPicPr>
        <p:blipFill>
          <a:blip r:embed="rId4"/>
          <a:srcRect l="457" r="457"/>
          <a:stretch/>
        </p:blipFill>
        <p:spPr>
          <a:xfrm>
            <a:off x="1607525" y="-5859968"/>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List of candidate certificate status view (certificate) </a:t>
            </a:r>
          </a:p>
        </p:txBody>
      </p:sp>
      <p:pic>
        <p:nvPicPr>
          <p:cNvPr id="10" name="Picture 9">
            <a:extLst>
              <a:ext uri="{FF2B5EF4-FFF2-40B4-BE49-F238E27FC236}">
                <a16:creationId xmlns:a16="http://schemas.microsoft.com/office/drawing/2014/main" id="{597EDF51-BFFE-478C-917F-29D3A58C7925}"/>
              </a:ext>
            </a:extLst>
          </p:cNvPr>
          <p:cNvPicPr>
            <a:picLocks noChangeAspect="1"/>
          </p:cNvPicPr>
          <p:nvPr/>
        </p:nvPicPr>
        <p:blipFill rotWithShape="1">
          <a:blip r:embed="rId5"/>
          <a:srcRect l="23443" t="28208" r="64722" b="26392"/>
          <a:stretch/>
        </p:blipFill>
        <p:spPr>
          <a:xfrm>
            <a:off x="5824905" y="-1403153"/>
            <a:ext cx="598450" cy="154054"/>
          </a:xfrm>
          <a:prstGeom prst="rect">
            <a:avLst/>
          </a:prstGeom>
        </p:spPr>
      </p:pic>
    </p:spTree>
    <p:extLst>
      <p:ext uri="{BB962C8B-B14F-4D97-AF65-F5344CB8AC3E}">
        <p14:creationId xmlns:p14="http://schemas.microsoft.com/office/powerpoint/2010/main" val="1490553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l="11722" t="10840" r="7003" b="8744"/>
          <a:stretch/>
        </p:blipFill>
        <p:spPr>
          <a:xfrm>
            <a:off x="1916723" y="1738179"/>
            <a:ext cx="8791763" cy="4893058"/>
          </a:xfrm>
          <a:prstGeom prst="rect">
            <a:avLst/>
          </a:prstGeom>
        </p:spPr>
      </p:pic>
      <p:pic>
        <p:nvPicPr>
          <p:cNvPr id="6" name="Picture 5">
            <a:extLst>
              <a:ext uri="{FF2B5EF4-FFF2-40B4-BE49-F238E27FC236}">
                <a16:creationId xmlns:a16="http://schemas.microsoft.com/office/drawing/2014/main" id="{1E73F171-D655-44E4-AEF4-7A5E44397CA4}"/>
              </a:ext>
            </a:extLst>
          </p:cNvPr>
          <p:cNvPicPr>
            <a:picLocks noChangeAspect="1"/>
          </p:cNvPicPr>
          <p:nvPr/>
        </p:nvPicPr>
        <p:blipFill>
          <a:blip r:embed="rId4"/>
          <a:srcRect l="457" r="457"/>
          <a:stretch/>
        </p:blipFill>
        <p:spPr>
          <a:xfrm>
            <a:off x="1607526" y="7339622"/>
            <a:ext cx="9293469" cy="5055577"/>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Services – Certificate Generation Panel – for Degree</a:t>
            </a:r>
          </a:p>
        </p:txBody>
      </p:sp>
      <p:pic>
        <p:nvPicPr>
          <p:cNvPr id="9" name="Picture 8">
            <a:extLst>
              <a:ext uri="{FF2B5EF4-FFF2-40B4-BE49-F238E27FC236}">
                <a16:creationId xmlns:a16="http://schemas.microsoft.com/office/drawing/2014/main" id="{4A3EF017-06A5-4C3E-B4A2-5909BC971307}"/>
              </a:ext>
            </a:extLst>
          </p:cNvPr>
          <p:cNvPicPr>
            <a:picLocks noChangeAspect="1"/>
          </p:cNvPicPr>
          <p:nvPr/>
        </p:nvPicPr>
        <p:blipFill rotWithShape="1">
          <a:blip r:embed="rId5">
            <a:clrChange>
              <a:clrFrom>
                <a:srgbClr val="FFFFFF"/>
              </a:clrFrom>
              <a:clrTo>
                <a:srgbClr val="FFFFFF">
                  <a:alpha val="0"/>
                </a:srgbClr>
              </a:clrTo>
            </a:clrChange>
          </a:blip>
          <a:srcRect l="6369" t="5407" r="11369"/>
          <a:stretch/>
        </p:blipFill>
        <p:spPr>
          <a:xfrm>
            <a:off x="5050188" y="9852170"/>
            <a:ext cx="211930" cy="199394"/>
          </a:xfrm>
          <a:prstGeom prst="rect">
            <a:avLst/>
          </a:prstGeom>
        </p:spPr>
      </p:pic>
    </p:spTree>
    <p:extLst>
      <p:ext uri="{BB962C8B-B14F-4D97-AF65-F5344CB8AC3E}">
        <p14:creationId xmlns:p14="http://schemas.microsoft.com/office/powerpoint/2010/main" val="2874882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607526" y="1802422"/>
            <a:ext cx="9293469" cy="5055577"/>
          </a:xfrm>
          <a:prstGeom prst="rect">
            <a:avLst/>
          </a:prstGeom>
        </p:spPr>
      </p:pic>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707886"/>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Certificate Generation – Process flow One - </a:t>
            </a:r>
          </a:p>
          <a:p>
            <a:r>
              <a:rPr lang="en-US" sz="1600" b="0" cap="none" spc="0" dirty="0">
                <a:ln w="0"/>
                <a:solidFill>
                  <a:schemeClr val="tx1"/>
                </a:solidFill>
                <a:effectLst>
                  <a:outerShdw blurRad="38100" dist="19050" dir="2700000" algn="tl" rotWithShape="0">
                    <a:schemeClr val="dk1">
                      <a:alpha val="40000"/>
                    </a:schemeClr>
                  </a:outerShdw>
                </a:effectLst>
              </a:rPr>
              <a:t>connect </a:t>
            </a:r>
            <a:r>
              <a:rPr lang="en-US" sz="1600" b="0" cap="none" spc="0" dirty="0" err="1">
                <a:ln w="0"/>
                <a:solidFill>
                  <a:schemeClr val="tx1"/>
                </a:solidFill>
                <a:effectLst>
                  <a:outerShdw blurRad="38100" dist="19050" dir="2700000" algn="tl" rotWithShape="0">
                    <a:schemeClr val="dk1">
                      <a:alpha val="40000"/>
                    </a:schemeClr>
                  </a:outerShdw>
                </a:effectLst>
              </a:rPr>
              <a:t>metamask</a:t>
            </a:r>
            <a:r>
              <a:rPr lang="en-US" sz="1600" b="0" cap="none" spc="0" dirty="0">
                <a:ln w="0"/>
                <a:solidFill>
                  <a:schemeClr val="tx1"/>
                </a:solidFill>
                <a:effectLst>
                  <a:outerShdw blurRad="38100" dist="19050" dir="2700000" algn="tl" rotWithShape="0">
                    <a:schemeClr val="dk1">
                      <a:alpha val="40000"/>
                    </a:schemeClr>
                  </a:outerShdw>
                </a:effectLst>
              </a:rPr>
              <a:t> by clicking on Mint Cert button</a:t>
            </a:r>
          </a:p>
        </p:txBody>
      </p:sp>
      <p:pic>
        <p:nvPicPr>
          <p:cNvPr id="9" name="Picture 8">
            <a:extLst>
              <a:ext uri="{FF2B5EF4-FFF2-40B4-BE49-F238E27FC236}">
                <a16:creationId xmlns:a16="http://schemas.microsoft.com/office/drawing/2014/main" id="{0A9238A8-AD27-4B75-922E-47EE549E4B83}"/>
              </a:ext>
            </a:extLst>
          </p:cNvPr>
          <p:cNvPicPr>
            <a:picLocks noChangeAspect="1"/>
          </p:cNvPicPr>
          <p:nvPr/>
        </p:nvPicPr>
        <p:blipFill rotWithShape="1">
          <a:blip r:embed="rId4"/>
          <a:srcRect l="6369" t="5407" r="11369"/>
          <a:stretch/>
        </p:blipFill>
        <p:spPr>
          <a:xfrm>
            <a:off x="5055395" y="4309774"/>
            <a:ext cx="211930" cy="199394"/>
          </a:xfrm>
          <a:prstGeom prst="rect">
            <a:avLst/>
          </a:prstGeom>
        </p:spPr>
      </p:pic>
      <p:pic>
        <p:nvPicPr>
          <p:cNvPr id="13" name="Picture 12">
            <a:extLst>
              <a:ext uri="{FF2B5EF4-FFF2-40B4-BE49-F238E27FC236}">
                <a16:creationId xmlns:a16="http://schemas.microsoft.com/office/drawing/2014/main" id="{C42E0E8E-632F-4DF1-A0B4-FFA28E7B741F}"/>
              </a:ext>
            </a:extLst>
          </p:cNvPr>
          <p:cNvPicPr>
            <a:picLocks noChangeAspect="1"/>
          </p:cNvPicPr>
          <p:nvPr/>
        </p:nvPicPr>
        <p:blipFill rotWithShape="1">
          <a:blip r:embed="rId5"/>
          <a:srcRect t="24682" b="15843"/>
          <a:stretch/>
        </p:blipFill>
        <p:spPr>
          <a:xfrm>
            <a:off x="5751703" y="4359156"/>
            <a:ext cx="635814" cy="111244"/>
          </a:xfrm>
          <a:prstGeom prst="rect">
            <a:avLst/>
          </a:prstGeom>
        </p:spPr>
      </p:pic>
      <p:grpSp>
        <p:nvGrpSpPr>
          <p:cNvPr id="12" name="Group 11">
            <a:extLst>
              <a:ext uri="{FF2B5EF4-FFF2-40B4-BE49-F238E27FC236}">
                <a16:creationId xmlns:a16="http://schemas.microsoft.com/office/drawing/2014/main" id="{DDB19013-00DD-4FA0-A061-E2EA17EC3011}"/>
              </a:ext>
            </a:extLst>
          </p:cNvPr>
          <p:cNvGrpSpPr/>
          <p:nvPr/>
        </p:nvGrpSpPr>
        <p:grpSpPr>
          <a:xfrm>
            <a:off x="1607527" y="-5347678"/>
            <a:ext cx="9293469" cy="5055577"/>
            <a:chOff x="1607527" y="-5347678"/>
            <a:chExt cx="9293469" cy="5055577"/>
          </a:xfrm>
        </p:grpSpPr>
        <p:grpSp>
          <p:nvGrpSpPr>
            <p:cNvPr id="10" name="Group 9">
              <a:extLst>
                <a:ext uri="{FF2B5EF4-FFF2-40B4-BE49-F238E27FC236}">
                  <a16:creationId xmlns:a16="http://schemas.microsoft.com/office/drawing/2014/main" id="{6A9480A3-5D7C-49B9-B930-5F01818AEB74}"/>
                </a:ext>
              </a:extLst>
            </p:cNvPr>
            <p:cNvGrpSpPr/>
            <p:nvPr/>
          </p:nvGrpSpPr>
          <p:grpSpPr>
            <a:xfrm>
              <a:off x="1607527" y="-5347678"/>
              <a:ext cx="9293469" cy="5055577"/>
              <a:chOff x="1607527" y="-5347678"/>
              <a:chExt cx="9293469" cy="5055577"/>
            </a:xfrm>
          </p:grpSpPr>
          <p:pic>
            <p:nvPicPr>
              <p:cNvPr id="6" name="Picture 5">
                <a:extLst>
                  <a:ext uri="{FF2B5EF4-FFF2-40B4-BE49-F238E27FC236}">
                    <a16:creationId xmlns:a16="http://schemas.microsoft.com/office/drawing/2014/main" id="{3813C09E-4ACD-41D5-AF57-FA34A06DC4E1}"/>
                  </a:ext>
                </a:extLst>
              </p:cNvPr>
              <p:cNvPicPr>
                <a:picLocks noChangeAspect="1"/>
              </p:cNvPicPr>
              <p:nvPr/>
            </p:nvPicPr>
            <p:blipFill>
              <a:blip r:embed="rId6"/>
              <a:srcRect t="1645" b="1645"/>
              <a:stretch/>
            </p:blipFill>
            <p:spPr>
              <a:xfrm>
                <a:off x="1607527" y="-5347678"/>
                <a:ext cx="9293469" cy="5055577"/>
              </a:xfrm>
              <a:prstGeom prst="rect">
                <a:avLst/>
              </a:prstGeom>
            </p:spPr>
          </p:pic>
          <p:pic>
            <p:nvPicPr>
              <p:cNvPr id="11" name="Picture 10">
                <a:extLst>
                  <a:ext uri="{FF2B5EF4-FFF2-40B4-BE49-F238E27FC236}">
                    <a16:creationId xmlns:a16="http://schemas.microsoft.com/office/drawing/2014/main" id="{C623D821-28C2-4001-A81C-27ACEB344743}"/>
                  </a:ext>
                </a:extLst>
              </p:cNvPr>
              <p:cNvPicPr>
                <a:picLocks noChangeAspect="1"/>
              </p:cNvPicPr>
              <p:nvPr/>
            </p:nvPicPr>
            <p:blipFill rotWithShape="1">
              <a:blip r:embed="rId4"/>
              <a:srcRect l="6369" t="5407" r="11369"/>
              <a:stretch/>
            </p:blipFill>
            <p:spPr>
              <a:xfrm>
                <a:off x="3950495" y="-3128516"/>
                <a:ext cx="211930" cy="199394"/>
              </a:xfrm>
              <a:prstGeom prst="rect">
                <a:avLst/>
              </a:prstGeom>
            </p:spPr>
          </p:pic>
        </p:grpSp>
        <p:pic>
          <p:nvPicPr>
            <p:cNvPr id="15" name="Picture 14">
              <a:extLst>
                <a:ext uri="{FF2B5EF4-FFF2-40B4-BE49-F238E27FC236}">
                  <a16:creationId xmlns:a16="http://schemas.microsoft.com/office/drawing/2014/main" id="{F1D4F4CC-3C90-4F7E-B36F-363F7320ACE2}"/>
                </a:ext>
              </a:extLst>
            </p:cNvPr>
            <p:cNvPicPr>
              <a:picLocks noChangeAspect="1"/>
            </p:cNvPicPr>
            <p:nvPr/>
          </p:nvPicPr>
          <p:blipFill rotWithShape="1">
            <a:blip r:embed="rId5"/>
            <a:srcRect t="24682" b="15843"/>
            <a:stretch/>
          </p:blipFill>
          <p:spPr>
            <a:xfrm>
              <a:off x="4631511" y="-3075649"/>
              <a:ext cx="635814" cy="111244"/>
            </a:xfrm>
            <a:prstGeom prst="rect">
              <a:avLst/>
            </a:prstGeom>
          </p:spPr>
        </p:pic>
      </p:grpSp>
    </p:spTree>
    <p:extLst>
      <p:ext uri="{BB962C8B-B14F-4D97-AF65-F5344CB8AC3E}">
        <p14:creationId xmlns:p14="http://schemas.microsoft.com/office/powerpoint/2010/main" val="306875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t="1645" b="1645"/>
          <a:stretch/>
        </p:blipFill>
        <p:spPr>
          <a:xfrm>
            <a:off x="1455127" y="1802422"/>
            <a:ext cx="9293469" cy="5055577"/>
          </a:xfrm>
          <a:prstGeom prst="rect">
            <a:avLst/>
          </a:prstGeom>
        </p:spPr>
      </p:pic>
      <p:pic>
        <p:nvPicPr>
          <p:cNvPr id="8" name="Picture 7">
            <a:extLst>
              <a:ext uri="{FF2B5EF4-FFF2-40B4-BE49-F238E27FC236}">
                <a16:creationId xmlns:a16="http://schemas.microsoft.com/office/drawing/2014/main" id="{09B3139F-DD2F-46FD-A802-4DC9B28C289E}"/>
              </a:ext>
            </a:extLst>
          </p:cNvPr>
          <p:cNvPicPr>
            <a:picLocks noChangeAspect="1"/>
          </p:cNvPicPr>
          <p:nvPr/>
        </p:nvPicPr>
        <p:blipFill>
          <a:blip r:embed="rId4"/>
          <a:srcRect t="1645" b="1645"/>
          <a:stretch/>
        </p:blipFill>
        <p:spPr>
          <a:xfrm>
            <a:off x="1391627" y="7339622"/>
            <a:ext cx="9293469" cy="5055577"/>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707886"/>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Certificate Generation – Process flow Two - </a:t>
            </a:r>
          </a:p>
          <a:p>
            <a:r>
              <a:rPr lang="en-US" sz="1600" b="0" cap="none" spc="0" dirty="0">
                <a:ln w="0"/>
                <a:solidFill>
                  <a:schemeClr val="tx1"/>
                </a:solidFill>
                <a:effectLst>
                  <a:outerShdw blurRad="38100" dist="19050" dir="2700000" algn="tl" rotWithShape="0">
                    <a:schemeClr val="dk1">
                      <a:alpha val="40000"/>
                    </a:schemeClr>
                  </a:outerShdw>
                </a:effectLst>
              </a:rPr>
              <a:t>Transaction process  using Either (localhost – ganache)</a:t>
            </a:r>
          </a:p>
        </p:txBody>
      </p:sp>
      <p:pic>
        <p:nvPicPr>
          <p:cNvPr id="9" name="Picture 8">
            <a:extLst>
              <a:ext uri="{FF2B5EF4-FFF2-40B4-BE49-F238E27FC236}">
                <a16:creationId xmlns:a16="http://schemas.microsoft.com/office/drawing/2014/main" id="{1A5734CF-E53F-4075-8E2B-2975A0382FC2}"/>
              </a:ext>
            </a:extLst>
          </p:cNvPr>
          <p:cNvPicPr>
            <a:picLocks noChangeAspect="1"/>
          </p:cNvPicPr>
          <p:nvPr/>
        </p:nvPicPr>
        <p:blipFill rotWithShape="1">
          <a:blip r:embed="rId5"/>
          <a:srcRect l="6369" t="5407" r="11369"/>
          <a:stretch/>
        </p:blipFill>
        <p:spPr>
          <a:xfrm>
            <a:off x="3807620" y="4014499"/>
            <a:ext cx="211930" cy="199394"/>
          </a:xfrm>
          <a:prstGeom prst="rect">
            <a:avLst/>
          </a:prstGeom>
        </p:spPr>
      </p:pic>
      <p:pic>
        <p:nvPicPr>
          <p:cNvPr id="4" name="Picture 3">
            <a:extLst>
              <a:ext uri="{FF2B5EF4-FFF2-40B4-BE49-F238E27FC236}">
                <a16:creationId xmlns:a16="http://schemas.microsoft.com/office/drawing/2014/main" id="{22F636BB-0D50-4045-B4EF-EF0BF7E854D2}"/>
              </a:ext>
            </a:extLst>
          </p:cNvPr>
          <p:cNvPicPr>
            <a:picLocks noChangeAspect="1"/>
          </p:cNvPicPr>
          <p:nvPr/>
        </p:nvPicPr>
        <p:blipFill rotWithShape="1">
          <a:blip r:embed="rId6"/>
          <a:srcRect t="24682" b="15843"/>
          <a:stretch/>
        </p:blipFill>
        <p:spPr>
          <a:xfrm>
            <a:off x="4521880" y="4070231"/>
            <a:ext cx="502557" cy="87929"/>
          </a:xfrm>
          <a:prstGeom prst="rect">
            <a:avLst/>
          </a:prstGeom>
        </p:spPr>
      </p:pic>
      <p:pic>
        <p:nvPicPr>
          <p:cNvPr id="10" name="Picture 9">
            <a:extLst>
              <a:ext uri="{FF2B5EF4-FFF2-40B4-BE49-F238E27FC236}">
                <a16:creationId xmlns:a16="http://schemas.microsoft.com/office/drawing/2014/main" id="{49D1CA6A-C61F-48C1-A54E-65CBC2E86EC4}"/>
              </a:ext>
            </a:extLst>
          </p:cNvPr>
          <p:cNvPicPr>
            <a:picLocks noChangeAspect="1"/>
          </p:cNvPicPr>
          <p:nvPr/>
        </p:nvPicPr>
        <p:blipFill rotWithShape="1">
          <a:blip r:embed="rId5"/>
          <a:srcRect l="6369" t="5407" r="11369"/>
          <a:stretch/>
        </p:blipFill>
        <p:spPr>
          <a:xfrm>
            <a:off x="3708741" y="10110499"/>
            <a:ext cx="211930" cy="199394"/>
          </a:xfrm>
          <a:prstGeom prst="rect">
            <a:avLst/>
          </a:prstGeom>
        </p:spPr>
      </p:pic>
      <p:pic>
        <p:nvPicPr>
          <p:cNvPr id="11" name="Picture 10">
            <a:extLst>
              <a:ext uri="{FF2B5EF4-FFF2-40B4-BE49-F238E27FC236}">
                <a16:creationId xmlns:a16="http://schemas.microsoft.com/office/drawing/2014/main" id="{2D097DD7-AE6E-434B-952A-4BF94A59F294}"/>
              </a:ext>
            </a:extLst>
          </p:cNvPr>
          <p:cNvPicPr>
            <a:picLocks noChangeAspect="1"/>
          </p:cNvPicPr>
          <p:nvPr/>
        </p:nvPicPr>
        <p:blipFill rotWithShape="1">
          <a:blip r:embed="rId6"/>
          <a:srcRect t="24682" b="15843"/>
          <a:stretch/>
        </p:blipFill>
        <p:spPr>
          <a:xfrm>
            <a:off x="4423001" y="10158611"/>
            <a:ext cx="601436" cy="105229"/>
          </a:xfrm>
          <a:prstGeom prst="rect">
            <a:avLst/>
          </a:prstGeom>
        </p:spPr>
      </p:pic>
    </p:spTree>
    <p:extLst>
      <p:ext uri="{BB962C8B-B14F-4D97-AF65-F5344CB8AC3E}">
        <p14:creationId xmlns:p14="http://schemas.microsoft.com/office/powerpoint/2010/main" val="42851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l="6102" t="10222" r="31906" b="28556"/>
          <a:stretch/>
        </p:blipFill>
        <p:spPr>
          <a:xfrm>
            <a:off x="3372217" y="1639784"/>
            <a:ext cx="4905374" cy="2725014"/>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707886"/>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Certificate Generation – Process flow Four - </a:t>
            </a:r>
          </a:p>
          <a:p>
            <a:r>
              <a:rPr lang="en-US" sz="1600" b="0" cap="none" spc="0" dirty="0">
                <a:ln w="0"/>
                <a:solidFill>
                  <a:schemeClr val="tx1"/>
                </a:solidFill>
                <a:effectLst>
                  <a:outerShdw blurRad="38100" dist="19050" dir="2700000" algn="tl" rotWithShape="0">
                    <a:schemeClr val="dk1">
                      <a:alpha val="40000"/>
                    </a:schemeClr>
                  </a:outerShdw>
                </a:effectLst>
              </a:rPr>
              <a:t>Generated new  certificate</a:t>
            </a:r>
          </a:p>
        </p:txBody>
      </p:sp>
      <p:pic>
        <p:nvPicPr>
          <p:cNvPr id="4" name="Picture 3">
            <a:extLst>
              <a:ext uri="{FF2B5EF4-FFF2-40B4-BE49-F238E27FC236}">
                <a16:creationId xmlns:a16="http://schemas.microsoft.com/office/drawing/2014/main" id="{5A0986B4-55FA-439A-973A-07F9254F0EFB}"/>
              </a:ext>
            </a:extLst>
          </p:cNvPr>
          <p:cNvPicPr>
            <a:picLocks noChangeAspect="1"/>
          </p:cNvPicPr>
          <p:nvPr/>
        </p:nvPicPr>
        <p:blipFill>
          <a:blip r:embed="rId4"/>
          <a:stretch>
            <a:fillRect/>
          </a:stretch>
        </p:blipFill>
        <p:spPr>
          <a:xfrm>
            <a:off x="2963741" y="4519246"/>
            <a:ext cx="6311887" cy="2285523"/>
          </a:xfrm>
          <a:prstGeom prst="rect">
            <a:avLst/>
          </a:prstGeom>
        </p:spPr>
      </p:pic>
      <p:sp>
        <p:nvSpPr>
          <p:cNvPr id="8" name="Rectangle 7">
            <a:extLst>
              <a:ext uri="{FF2B5EF4-FFF2-40B4-BE49-F238E27FC236}">
                <a16:creationId xmlns:a16="http://schemas.microsoft.com/office/drawing/2014/main" id="{C829350B-50B4-44E7-8E65-8164EC65A22B}"/>
              </a:ext>
            </a:extLst>
          </p:cNvPr>
          <p:cNvSpPr/>
          <p:nvPr/>
        </p:nvSpPr>
        <p:spPr>
          <a:xfrm>
            <a:off x="662058" y="7221568"/>
            <a:ext cx="4349557" cy="70788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5D3BA318-B21D-4F42-B6A0-49A3CB108BDE}"/>
              </a:ext>
            </a:extLst>
          </p:cNvPr>
          <p:cNvPicPr>
            <a:picLocks noChangeAspect="1"/>
          </p:cNvPicPr>
          <p:nvPr/>
        </p:nvPicPr>
        <p:blipFill rotWithShape="1">
          <a:blip r:embed="rId4"/>
          <a:srcRect t="43856"/>
          <a:stretch/>
        </p:blipFill>
        <p:spPr>
          <a:xfrm>
            <a:off x="5554804" y="-1343018"/>
            <a:ext cx="5579362" cy="1134279"/>
          </a:xfrm>
          <a:prstGeom prst="rect">
            <a:avLst/>
          </a:prstGeom>
          <a:ln>
            <a:solidFill>
              <a:schemeClr val="tx1">
                <a:lumMod val="65000"/>
                <a:lumOff val="35000"/>
              </a:schemeClr>
            </a:solidFill>
          </a:ln>
        </p:spPr>
      </p:pic>
      <p:pic>
        <p:nvPicPr>
          <p:cNvPr id="10" name="Picture 9">
            <a:extLst>
              <a:ext uri="{FF2B5EF4-FFF2-40B4-BE49-F238E27FC236}">
                <a16:creationId xmlns:a16="http://schemas.microsoft.com/office/drawing/2014/main" id="{022B6AE7-8981-40A4-AFDF-11A9163E33E6}"/>
              </a:ext>
            </a:extLst>
          </p:cNvPr>
          <p:cNvPicPr>
            <a:picLocks noChangeAspect="1"/>
          </p:cNvPicPr>
          <p:nvPr/>
        </p:nvPicPr>
        <p:blipFill>
          <a:blip r:embed="rId5"/>
          <a:stretch>
            <a:fillRect/>
          </a:stretch>
        </p:blipFill>
        <p:spPr>
          <a:xfrm>
            <a:off x="12878968" y="2944799"/>
            <a:ext cx="5579362" cy="2577382"/>
          </a:xfrm>
          <a:prstGeom prst="rect">
            <a:avLst/>
          </a:prstGeom>
          <a:ln>
            <a:solidFill>
              <a:schemeClr val="tx1">
                <a:lumMod val="50000"/>
                <a:lumOff val="50000"/>
              </a:schemeClr>
            </a:solidFill>
          </a:ln>
        </p:spPr>
      </p:pic>
      <p:sp>
        <p:nvSpPr>
          <p:cNvPr id="11" name="Rectangle 10">
            <a:extLst>
              <a:ext uri="{FF2B5EF4-FFF2-40B4-BE49-F238E27FC236}">
                <a16:creationId xmlns:a16="http://schemas.microsoft.com/office/drawing/2014/main" id="{3ED3CABF-4741-481D-8D96-429CA5A67CBD}"/>
              </a:ext>
            </a:extLst>
          </p:cNvPr>
          <p:cNvSpPr/>
          <p:nvPr/>
        </p:nvSpPr>
        <p:spPr>
          <a:xfrm>
            <a:off x="13205750" y="4392398"/>
            <a:ext cx="5178965" cy="10584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74F1483B-D890-405A-B6F3-3E7497638C00}"/>
              </a:ext>
            </a:extLst>
          </p:cNvPr>
          <p:cNvPicPr>
            <a:picLocks noChangeAspect="1"/>
          </p:cNvPicPr>
          <p:nvPr/>
        </p:nvPicPr>
        <p:blipFill rotWithShape="1">
          <a:blip r:embed="rId6"/>
          <a:srcRect l="29914" t="75235" r="30474" b="10222"/>
          <a:stretch/>
        </p:blipFill>
        <p:spPr>
          <a:xfrm>
            <a:off x="5563769" y="7100919"/>
            <a:ext cx="5579362" cy="1152189"/>
          </a:xfrm>
          <a:prstGeom prst="rect">
            <a:avLst/>
          </a:prstGeom>
          <a:ln>
            <a:solidFill>
              <a:schemeClr val="tx1">
                <a:lumMod val="85000"/>
                <a:lumOff val="15000"/>
              </a:schemeClr>
            </a:solidFill>
          </a:ln>
        </p:spPr>
      </p:pic>
      <p:sp>
        <p:nvSpPr>
          <p:cNvPr id="13" name="Rectangle 12">
            <a:extLst>
              <a:ext uri="{FF2B5EF4-FFF2-40B4-BE49-F238E27FC236}">
                <a16:creationId xmlns:a16="http://schemas.microsoft.com/office/drawing/2014/main" id="{F25712D3-E43F-470F-B66C-36CD73E0B6DB}"/>
              </a:ext>
            </a:extLst>
          </p:cNvPr>
          <p:cNvSpPr/>
          <p:nvPr/>
        </p:nvSpPr>
        <p:spPr>
          <a:xfrm>
            <a:off x="5632642" y="7158068"/>
            <a:ext cx="5436873" cy="95625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8E8C544-F4D2-481A-BBBF-68D189B4281E}"/>
              </a:ext>
            </a:extLst>
          </p:cNvPr>
          <p:cNvPicPr>
            <a:picLocks noChangeAspect="1"/>
          </p:cNvPicPr>
          <p:nvPr/>
        </p:nvPicPr>
        <p:blipFill rotWithShape="1">
          <a:blip r:embed="rId7"/>
          <a:srcRect l="73" r="73"/>
          <a:stretch/>
        </p:blipFill>
        <p:spPr>
          <a:xfrm>
            <a:off x="-5496859" y="1636977"/>
            <a:ext cx="4806367" cy="4697506"/>
          </a:xfrm>
          <a:prstGeom prst="rect">
            <a:avLst/>
          </a:prstGeom>
        </p:spPr>
      </p:pic>
      <p:pic>
        <p:nvPicPr>
          <p:cNvPr id="15" name="Picture 14">
            <a:extLst>
              <a:ext uri="{FF2B5EF4-FFF2-40B4-BE49-F238E27FC236}">
                <a16:creationId xmlns:a16="http://schemas.microsoft.com/office/drawing/2014/main" id="{54BCCED3-493F-4073-AEE0-1C27DB44FAD6}"/>
              </a:ext>
            </a:extLst>
          </p:cNvPr>
          <p:cNvPicPr>
            <a:picLocks noChangeAspect="1"/>
          </p:cNvPicPr>
          <p:nvPr/>
        </p:nvPicPr>
        <p:blipFill rotWithShape="1">
          <a:blip r:embed="rId8">
            <a:clrChange>
              <a:clrFrom>
                <a:srgbClr val="FFFFFF"/>
              </a:clrFrom>
              <a:clrTo>
                <a:srgbClr val="FFFFFF">
                  <a:alpha val="0"/>
                </a:srgbClr>
              </a:clrTo>
            </a:clrChange>
          </a:blip>
          <a:srcRect l="6369" t="5407" r="11369"/>
          <a:stretch/>
        </p:blipFill>
        <p:spPr>
          <a:xfrm>
            <a:off x="4880223" y="3366799"/>
            <a:ext cx="211930" cy="199394"/>
          </a:xfrm>
          <a:prstGeom prst="rect">
            <a:avLst/>
          </a:prstGeom>
        </p:spPr>
      </p:pic>
      <p:pic>
        <p:nvPicPr>
          <p:cNvPr id="16" name="Picture 15">
            <a:extLst>
              <a:ext uri="{FF2B5EF4-FFF2-40B4-BE49-F238E27FC236}">
                <a16:creationId xmlns:a16="http://schemas.microsoft.com/office/drawing/2014/main" id="{A285F1E3-0738-4DA9-A1A5-230B8C411608}"/>
              </a:ext>
            </a:extLst>
          </p:cNvPr>
          <p:cNvPicPr>
            <a:picLocks noChangeAspect="1"/>
          </p:cNvPicPr>
          <p:nvPr/>
        </p:nvPicPr>
        <p:blipFill rotWithShape="1">
          <a:blip r:embed="rId9"/>
          <a:srcRect t="24682" b="15843"/>
          <a:stretch/>
        </p:blipFill>
        <p:spPr>
          <a:xfrm>
            <a:off x="5471205" y="3422531"/>
            <a:ext cx="502557" cy="87929"/>
          </a:xfrm>
          <a:prstGeom prst="rect">
            <a:avLst/>
          </a:prstGeom>
        </p:spPr>
      </p:pic>
    </p:spTree>
    <p:extLst>
      <p:ext uri="{BB962C8B-B14F-4D97-AF65-F5344CB8AC3E}">
        <p14:creationId xmlns:p14="http://schemas.microsoft.com/office/powerpoint/2010/main" val="3566926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t="1668" b="1638"/>
          <a:stretch/>
        </p:blipFill>
        <p:spPr>
          <a:xfrm>
            <a:off x="421341" y="1638519"/>
            <a:ext cx="4806367" cy="4695964"/>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707886"/>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Certificate Generation – Process flow Four - </a:t>
            </a:r>
          </a:p>
          <a:p>
            <a:r>
              <a:rPr lang="en-US" sz="1600" b="0" cap="none" spc="0" dirty="0">
                <a:ln w="0"/>
                <a:solidFill>
                  <a:schemeClr val="tx1"/>
                </a:solidFill>
                <a:effectLst>
                  <a:outerShdw blurRad="38100" dist="19050" dir="2700000" algn="tl" rotWithShape="0">
                    <a:schemeClr val="dk1">
                      <a:alpha val="40000"/>
                    </a:schemeClr>
                  </a:outerShdw>
                </a:effectLst>
              </a:rPr>
              <a:t>Final certificate preview  with Smart Contract  &amp; Database </a:t>
            </a:r>
            <a:r>
              <a:rPr lang="en-US" sz="1600" b="0" cap="none" spc="0" dirty="0" err="1">
                <a:ln w="0"/>
                <a:solidFill>
                  <a:schemeClr val="tx1"/>
                </a:solidFill>
                <a:effectLst>
                  <a:outerShdw blurRad="38100" dist="19050" dir="2700000" algn="tl" rotWithShape="0">
                    <a:schemeClr val="dk1">
                      <a:alpha val="40000"/>
                    </a:schemeClr>
                  </a:outerShdw>
                </a:effectLst>
              </a:rPr>
              <a:t>Infprmation</a:t>
            </a:r>
            <a:endParaRPr lang="en-US" sz="16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1EE34B42-7AD2-4126-A0E6-4ADDC8D68B03}"/>
              </a:ext>
            </a:extLst>
          </p:cNvPr>
          <p:cNvPicPr>
            <a:picLocks noChangeAspect="1"/>
          </p:cNvPicPr>
          <p:nvPr/>
        </p:nvPicPr>
        <p:blipFill rotWithShape="1">
          <a:blip r:embed="rId4"/>
          <a:srcRect t="43856"/>
          <a:stretch/>
        </p:blipFill>
        <p:spPr>
          <a:xfrm>
            <a:off x="5554804" y="1743082"/>
            <a:ext cx="5579362" cy="1134279"/>
          </a:xfrm>
          <a:prstGeom prst="rect">
            <a:avLst/>
          </a:prstGeom>
          <a:ln>
            <a:solidFill>
              <a:schemeClr val="tx1">
                <a:lumMod val="65000"/>
                <a:lumOff val="35000"/>
              </a:schemeClr>
            </a:solidFill>
          </a:ln>
        </p:spPr>
      </p:pic>
      <p:pic>
        <p:nvPicPr>
          <p:cNvPr id="4" name="Picture 3">
            <a:extLst>
              <a:ext uri="{FF2B5EF4-FFF2-40B4-BE49-F238E27FC236}">
                <a16:creationId xmlns:a16="http://schemas.microsoft.com/office/drawing/2014/main" id="{1E1AAAD5-081E-46E9-82A6-4AD142C4ECAD}"/>
              </a:ext>
            </a:extLst>
          </p:cNvPr>
          <p:cNvPicPr>
            <a:picLocks noChangeAspect="1"/>
          </p:cNvPicPr>
          <p:nvPr/>
        </p:nvPicPr>
        <p:blipFill>
          <a:blip r:embed="rId5"/>
          <a:stretch>
            <a:fillRect/>
          </a:stretch>
        </p:blipFill>
        <p:spPr>
          <a:xfrm>
            <a:off x="5563768" y="2944799"/>
            <a:ext cx="5579362" cy="2577382"/>
          </a:xfrm>
          <a:prstGeom prst="rect">
            <a:avLst/>
          </a:prstGeom>
          <a:ln>
            <a:solidFill>
              <a:schemeClr val="tx1">
                <a:lumMod val="50000"/>
                <a:lumOff val="50000"/>
              </a:schemeClr>
            </a:solidFill>
          </a:ln>
        </p:spPr>
      </p:pic>
      <p:pic>
        <p:nvPicPr>
          <p:cNvPr id="11" name="Picture 10">
            <a:extLst>
              <a:ext uri="{FF2B5EF4-FFF2-40B4-BE49-F238E27FC236}">
                <a16:creationId xmlns:a16="http://schemas.microsoft.com/office/drawing/2014/main" id="{3F920DB3-DE60-4D28-8F4E-DFCFCEC62A0A}"/>
              </a:ext>
            </a:extLst>
          </p:cNvPr>
          <p:cNvPicPr>
            <a:picLocks noChangeAspect="1"/>
          </p:cNvPicPr>
          <p:nvPr/>
        </p:nvPicPr>
        <p:blipFill rotWithShape="1">
          <a:blip r:embed="rId6"/>
          <a:srcRect l="29914" t="75235" r="30474" b="10222"/>
          <a:stretch/>
        </p:blipFill>
        <p:spPr>
          <a:xfrm>
            <a:off x="5563769" y="5589619"/>
            <a:ext cx="5579362" cy="1152189"/>
          </a:xfrm>
          <a:prstGeom prst="rect">
            <a:avLst/>
          </a:prstGeom>
          <a:ln>
            <a:solidFill>
              <a:schemeClr val="tx1">
                <a:lumMod val="85000"/>
                <a:lumOff val="15000"/>
              </a:schemeClr>
            </a:solidFill>
          </a:ln>
        </p:spPr>
      </p:pic>
      <p:sp>
        <p:nvSpPr>
          <p:cNvPr id="12" name="Rectangle 11">
            <a:extLst>
              <a:ext uri="{FF2B5EF4-FFF2-40B4-BE49-F238E27FC236}">
                <a16:creationId xmlns:a16="http://schemas.microsoft.com/office/drawing/2014/main" id="{36F1C63D-4D5C-4FE2-BD00-F692933C0938}"/>
              </a:ext>
            </a:extLst>
          </p:cNvPr>
          <p:cNvSpPr/>
          <p:nvPr/>
        </p:nvSpPr>
        <p:spPr>
          <a:xfrm>
            <a:off x="421341" y="5468187"/>
            <a:ext cx="4806367" cy="8662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75B3DE3E-F2B1-494F-B02F-F3BF14DB6181}"/>
              </a:ext>
            </a:extLst>
          </p:cNvPr>
          <p:cNvSpPr/>
          <p:nvPr/>
        </p:nvSpPr>
        <p:spPr>
          <a:xfrm>
            <a:off x="5632642" y="5646768"/>
            <a:ext cx="5436873" cy="95625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E46680FA-37AB-4D18-A1BE-25A65D36C8D9}"/>
              </a:ext>
            </a:extLst>
          </p:cNvPr>
          <p:cNvSpPr/>
          <p:nvPr/>
        </p:nvSpPr>
        <p:spPr>
          <a:xfrm>
            <a:off x="5890550" y="4392398"/>
            <a:ext cx="5178965" cy="10584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F05CEF3B-26EC-4CF6-99E8-147391F0CCCE}"/>
              </a:ext>
            </a:extLst>
          </p:cNvPr>
          <p:cNvPicPr>
            <a:picLocks noChangeAspect="1"/>
          </p:cNvPicPr>
          <p:nvPr/>
        </p:nvPicPr>
        <p:blipFill>
          <a:blip r:embed="rId4"/>
          <a:stretch>
            <a:fillRect/>
          </a:stretch>
        </p:blipFill>
        <p:spPr>
          <a:xfrm>
            <a:off x="2963741" y="7135446"/>
            <a:ext cx="6311887" cy="2285523"/>
          </a:xfrm>
          <a:prstGeom prst="rect">
            <a:avLst/>
          </a:prstGeom>
        </p:spPr>
      </p:pic>
      <p:pic>
        <p:nvPicPr>
          <p:cNvPr id="16" name="Picture 15">
            <a:extLst>
              <a:ext uri="{FF2B5EF4-FFF2-40B4-BE49-F238E27FC236}">
                <a16:creationId xmlns:a16="http://schemas.microsoft.com/office/drawing/2014/main" id="{622C154B-F778-469E-9E66-3141389FCDB1}"/>
              </a:ext>
            </a:extLst>
          </p:cNvPr>
          <p:cNvPicPr>
            <a:picLocks noChangeAspect="1"/>
          </p:cNvPicPr>
          <p:nvPr/>
        </p:nvPicPr>
        <p:blipFill rotWithShape="1">
          <a:blip r:embed="rId7"/>
          <a:srcRect l="6102" t="10222" r="31906" b="28556"/>
          <a:stretch/>
        </p:blipFill>
        <p:spPr>
          <a:xfrm>
            <a:off x="3372217" y="-3389416"/>
            <a:ext cx="4905374" cy="2725014"/>
          </a:xfrm>
          <a:prstGeom prst="rect">
            <a:avLst/>
          </a:prstGeom>
        </p:spPr>
      </p:pic>
      <p:pic>
        <p:nvPicPr>
          <p:cNvPr id="17" name="Picture 16">
            <a:extLst>
              <a:ext uri="{FF2B5EF4-FFF2-40B4-BE49-F238E27FC236}">
                <a16:creationId xmlns:a16="http://schemas.microsoft.com/office/drawing/2014/main" id="{88F90054-4CFE-49CA-95AA-0D6CCFC0A9C4}"/>
              </a:ext>
            </a:extLst>
          </p:cNvPr>
          <p:cNvPicPr>
            <a:picLocks noChangeAspect="1"/>
          </p:cNvPicPr>
          <p:nvPr/>
        </p:nvPicPr>
        <p:blipFill rotWithShape="1">
          <a:blip r:embed="rId8"/>
          <a:srcRect t="24682" b="15843"/>
          <a:stretch/>
        </p:blipFill>
        <p:spPr>
          <a:xfrm>
            <a:off x="5433796" y="-1612662"/>
            <a:ext cx="505042" cy="88364"/>
          </a:xfrm>
          <a:prstGeom prst="rect">
            <a:avLst/>
          </a:prstGeom>
        </p:spPr>
      </p:pic>
      <p:pic>
        <p:nvPicPr>
          <p:cNvPr id="19" name="Picture 18">
            <a:extLst>
              <a:ext uri="{FF2B5EF4-FFF2-40B4-BE49-F238E27FC236}">
                <a16:creationId xmlns:a16="http://schemas.microsoft.com/office/drawing/2014/main" id="{F068D352-23E2-456F-A9F5-698F58ED25CF}"/>
              </a:ext>
            </a:extLst>
          </p:cNvPr>
          <p:cNvPicPr>
            <a:picLocks noChangeAspect="1"/>
          </p:cNvPicPr>
          <p:nvPr/>
        </p:nvPicPr>
        <p:blipFill rotWithShape="1">
          <a:blip r:embed="rId9">
            <a:clrChange>
              <a:clrFrom>
                <a:srgbClr val="FFFFFF"/>
              </a:clrFrom>
              <a:clrTo>
                <a:srgbClr val="FFFFFF">
                  <a:alpha val="0"/>
                </a:srgbClr>
              </a:clrTo>
            </a:clrChange>
          </a:blip>
          <a:srcRect l="6369" t="5407" r="11369"/>
          <a:stretch/>
        </p:blipFill>
        <p:spPr>
          <a:xfrm>
            <a:off x="4875460" y="-1677703"/>
            <a:ext cx="211930" cy="199394"/>
          </a:xfrm>
          <a:prstGeom prst="rect">
            <a:avLst/>
          </a:prstGeom>
        </p:spPr>
      </p:pic>
    </p:spTree>
    <p:extLst>
      <p:ext uri="{BB962C8B-B14F-4D97-AF65-F5344CB8AC3E}">
        <p14:creationId xmlns:p14="http://schemas.microsoft.com/office/powerpoint/2010/main" val="3334678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a:t>
            </a:r>
          </a:p>
        </p:txBody>
      </p:sp>
    </p:spTree>
    <p:extLst>
      <p:ext uri="{BB962C8B-B14F-4D97-AF65-F5344CB8AC3E}">
        <p14:creationId xmlns:p14="http://schemas.microsoft.com/office/powerpoint/2010/main" val="1667574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Enroll new Courses</a:t>
            </a:r>
          </a:p>
        </p:txBody>
      </p:sp>
      <p:grpSp>
        <p:nvGrpSpPr>
          <p:cNvPr id="9" name="Group 8">
            <a:extLst>
              <a:ext uri="{FF2B5EF4-FFF2-40B4-BE49-F238E27FC236}">
                <a16:creationId xmlns:a16="http://schemas.microsoft.com/office/drawing/2014/main" id="{3B937E03-9984-4A82-BE68-CADFF45D9F66}"/>
              </a:ext>
            </a:extLst>
          </p:cNvPr>
          <p:cNvGrpSpPr/>
          <p:nvPr/>
        </p:nvGrpSpPr>
        <p:grpSpPr>
          <a:xfrm>
            <a:off x="1455127" y="1582232"/>
            <a:ext cx="9293469" cy="5275768"/>
            <a:chOff x="1455127" y="1582232"/>
            <a:chExt cx="9293469" cy="5275768"/>
          </a:xfrm>
        </p:grpSpPr>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pic>
          <p:nvPicPr>
            <p:cNvPr id="8" name="Picture 7">
              <a:extLst>
                <a:ext uri="{FF2B5EF4-FFF2-40B4-BE49-F238E27FC236}">
                  <a16:creationId xmlns:a16="http://schemas.microsoft.com/office/drawing/2014/main" id="{F356CDAF-50C0-407D-8125-029C4EFA8F7F}"/>
                </a:ext>
              </a:extLst>
            </p:cNvPr>
            <p:cNvPicPr>
              <a:picLocks noChangeAspect="1"/>
            </p:cNvPicPr>
            <p:nvPr/>
          </p:nvPicPr>
          <p:blipFill rotWithShape="1">
            <a:blip r:embed="rId4"/>
            <a:srcRect l="1772" t="3643" r="1256" b="1995"/>
            <a:stretch/>
          </p:blipFill>
          <p:spPr>
            <a:xfrm>
              <a:off x="3211330" y="2131196"/>
              <a:ext cx="1836919" cy="1104921"/>
            </a:xfrm>
            <a:prstGeom prst="rect">
              <a:avLst/>
            </a:prstGeom>
          </p:spPr>
        </p:pic>
      </p:grpSp>
    </p:spTree>
    <p:extLst>
      <p:ext uri="{BB962C8B-B14F-4D97-AF65-F5344CB8AC3E}">
        <p14:creationId xmlns:p14="http://schemas.microsoft.com/office/powerpoint/2010/main" val="2796807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latin typeface="+mj-lt"/>
                <a:ea typeface="Arial" pitchFamily="34" charset="-122"/>
                <a:cs typeface="Arial" pitchFamily="34" charset="-120"/>
              </a:rPr>
              <a:t>Project </a:t>
            </a:r>
            <a:r>
              <a:rPr lang="en-IN" altLang="en-US" sz="3200" spc="150" dirty="0">
                <a:solidFill>
                  <a:srgbClr val="0070C0"/>
                </a:solidFill>
                <a:latin typeface="+mj-lt"/>
                <a:ea typeface="Arial" pitchFamily="34" charset="-122"/>
                <a:cs typeface="Arial" pitchFamily="34" charset="-120"/>
              </a:rPr>
              <a:t>Screenshots -</a:t>
            </a:r>
            <a:r>
              <a:rPr lang="en-IN" altLang="en-US" sz="3200" dirty="0">
                <a:solidFill>
                  <a:srgbClr val="0F172A"/>
                </a:solidFill>
                <a:latin typeface="+mj-lt"/>
                <a:ea typeface="Arial" pitchFamily="34" charset="-122"/>
                <a:cs typeface="Arial" pitchFamily="34" charset="-120"/>
              </a:rPr>
              <a:t> </a:t>
            </a:r>
            <a:endParaRPr lang="en" sz="3200" dirty="0">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9131794"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Dashboard Services  - Request for ID Approval</a:t>
            </a:r>
          </a:p>
        </p:txBody>
      </p:sp>
      <p:pic>
        <p:nvPicPr>
          <p:cNvPr id="6" name="Picture 5">
            <a:extLst>
              <a:ext uri="{FF2B5EF4-FFF2-40B4-BE49-F238E27FC236}">
                <a16:creationId xmlns:a16="http://schemas.microsoft.com/office/drawing/2014/main" id="{6C517744-C577-4AA6-8907-B94D5A32ED05}"/>
              </a:ext>
            </a:extLst>
          </p:cNvPr>
          <p:cNvPicPr>
            <a:picLocks noChangeAspect="1"/>
          </p:cNvPicPr>
          <p:nvPr/>
        </p:nvPicPr>
        <p:blipFill rotWithShape="1">
          <a:blip r:embed="rId4">
            <a:clrChange>
              <a:clrFrom>
                <a:srgbClr val="FFFFFF"/>
              </a:clrFrom>
              <a:clrTo>
                <a:srgbClr val="FFFFFF">
                  <a:alpha val="0"/>
                </a:srgbClr>
              </a:clrTo>
            </a:clrChange>
          </a:blip>
          <a:srcRect l="6369" t="5407" r="11369"/>
          <a:stretch/>
        </p:blipFill>
        <p:spPr>
          <a:xfrm>
            <a:off x="4925467" y="3623974"/>
            <a:ext cx="211930" cy="199394"/>
          </a:xfrm>
          <a:prstGeom prst="rect">
            <a:avLst/>
          </a:prstGeom>
        </p:spPr>
      </p:pic>
      <p:sp>
        <p:nvSpPr>
          <p:cNvPr id="8" name="Rectangle 7">
            <a:extLst>
              <a:ext uri="{FF2B5EF4-FFF2-40B4-BE49-F238E27FC236}">
                <a16:creationId xmlns:a16="http://schemas.microsoft.com/office/drawing/2014/main" id="{9D657F60-542E-47E1-8FB5-48476ACB4ADC}"/>
              </a:ext>
            </a:extLst>
          </p:cNvPr>
          <p:cNvSpPr/>
          <p:nvPr/>
        </p:nvSpPr>
        <p:spPr>
          <a:xfrm>
            <a:off x="5179219" y="3623974"/>
            <a:ext cx="545306" cy="92549"/>
          </a:xfrm>
          <a:prstGeom prst="rect">
            <a:avLst/>
          </a:prstGeom>
          <a:solidFill>
            <a:srgbClr val="ED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244BE6F3-74E2-4761-9C57-481D85F4D8E3}"/>
              </a:ext>
            </a:extLst>
          </p:cNvPr>
          <p:cNvPicPr>
            <a:picLocks noChangeAspect="1"/>
          </p:cNvPicPr>
          <p:nvPr/>
        </p:nvPicPr>
        <p:blipFill rotWithShape="1">
          <a:blip r:embed="rId5">
            <a:grayscl/>
            <a:extLst>
              <a:ext uri="{BEBA8EAE-BF5A-486C-A8C5-ECC9F3942E4B}">
                <a14:imgProps xmlns:a14="http://schemas.microsoft.com/office/drawing/2010/main">
                  <a14:imgLayer r:embed="rId6">
                    <a14:imgEffect>
                      <a14:brightnessContrast contrast="20000"/>
                    </a14:imgEffect>
                  </a14:imgLayer>
                </a14:imgProps>
              </a:ext>
            </a:extLst>
          </a:blip>
          <a:srcRect l="11791" t="4518" r="22325" b="15560"/>
          <a:stretch/>
        </p:blipFill>
        <p:spPr>
          <a:xfrm>
            <a:off x="5164931" y="3631122"/>
            <a:ext cx="466725" cy="90992"/>
          </a:xfrm>
          <a:prstGeom prst="rect">
            <a:avLst/>
          </a:prstGeom>
        </p:spPr>
      </p:pic>
    </p:spTree>
    <p:extLst>
      <p:ext uri="{BB962C8B-B14F-4D97-AF65-F5344CB8AC3E}">
        <p14:creationId xmlns:p14="http://schemas.microsoft.com/office/powerpoint/2010/main" val="2344201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Payment for ID generation  by Admin Site</a:t>
            </a:r>
          </a:p>
        </p:txBody>
      </p:sp>
      <p:pic>
        <p:nvPicPr>
          <p:cNvPr id="6" name="Picture 5">
            <a:extLst>
              <a:ext uri="{FF2B5EF4-FFF2-40B4-BE49-F238E27FC236}">
                <a16:creationId xmlns:a16="http://schemas.microsoft.com/office/drawing/2014/main" id="{1CF2716A-DB92-4851-847C-895DAD1ED061}"/>
              </a:ext>
            </a:extLst>
          </p:cNvPr>
          <p:cNvPicPr>
            <a:picLocks noChangeAspect="1"/>
          </p:cNvPicPr>
          <p:nvPr/>
        </p:nvPicPr>
        <p:blipFill rotWithShape="1">
          <a:blip r:embed="rId4">
            <a:clrChange>
              <a:clrFrom>
                <a:srgbClr val="FFFFFF"/>
              </a:clrFrom>
              <a:clrTo>
                <a:srgbClr val="FFFFFF">
                  <a:alpha val="0"/>
                </a:srgbClr>
              </a:clrTo>
            </a:clrChange>
          </a:blip>
          <a:srcRect l="6369" t="5407" r="11369"/>
          <a:stretch/>
        </p:blipFill>
        <p:spPr>
          <a:xfrm>
            <a:off x="3777705" y="3329303"/>
            <a:ext cx="211930" cy="199394"/>
          </a:xfrm>
          <a:prstGeom prst="rect">
            <a:avLst/>
          </a:prstGeom>
        </p:spPr>
      </p:pic>
      <p:pic>
        <p:nvPicPr>
          <p:cNvPr id="4" name="Picture 3">
            <a:extLst>
              <a:ext uri="{FF2B5EF4-FFF2-40B4-BE49-F238E27FC236}">
                <a16:creationId xmlns:a16="http://schemas.microsoft.com/office/drawing/2014/main" id="{D3F626AC-10B9-42DF-851E-6BB1F2C2E8C8}"/>
              </a:ext>
            </a:extLst>
          </p:cNvPr>
          <p:cNvPicPr>
            <a:picLocks noChangeAspect="1"/>
          </p:cNvPicPr>
          <p:nvPr/>
        </p:nvPicPr>
        <p:blipFill rotWithShape="1">
          <a:blip r:embed="rId5"/>
          <a:srcRect t="26215"/>
          <a:stretch/>
        </p:blipFill>
        <p:spPr>
          <a:xfrm>
            <a:off x="3989635" y="3336446"/>
            <a:ext cx="557696" cy="104056"/>
          </a:xfrm>
          <a:prstGeom prst="rect">
            <a:avLst/>
          </a:prstGeom>
        </p:spPr>
      </p:pic>
    </p:spTree>
    <p:extLst>
      <p:ext uri="{BB962C8B-B14F-4D97-AF65-F5344CB8AC3E}">
        <p14:creationId xmlns:p14="http://schemas.microsoft.com/office/powerpoint/2010/main" val="2432198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ID generation  by Admin Site</a:t>
            </a:r>
          </a:p>
        </p:txBody>
      </p:sp>
    </p:spTree>
    <p:extLst>
      <p:ext uri="{BB962C8B-B14F-4D97-AF65-F5344CB8AC3E}">
        <p14:creationId xmlns:p14="http://schemas.microsoft.com/office/powerpoint/2010/main" val="1310379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607526"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Result view after published fo</a:t>
            </a:r>
            <a:r>
              <a:rPr lang="en-US" sz="2400" dirty="0">
                <a:ln w="0"/>
                <a:effectLst>
                  <a:outerShdw blurRad="38100" dist="19050" dir="2700000" algn="tl" rotWithShape="0">
                    <a:schemeClr val="dk1">
                      <a:alpha val="40000"/>
                    </a:schemeClr>
                  </a:outerShdw>
                </a:effectLst>
              </a:rPr>
              <a:t>r enrolled courses</a:t>
            </a:r>
            <a:endParaRPr lang="en-US" sz="2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5F75DC9D-ABB3-43CC-A25A-9702FEB221B9}"/>
              </a:ext>
            </a:extLst>
          </p:cNvPr>
          <p:cNvPicPr>
            <a:picLocks noChangeAspect="1"/>
          </p:cNvPicPr>
          <p:nvPr/>
        </p:nvPicPr>
        <p:blipFill>
          <a:blip r:embed="rId4"/>
          <a:srcRect l="457" r="457"/>
          <a:stretch/>
        </p:blipFill>
        <p:spPr>
          <a:xfrm>
            <a:off x="1607527" y="-5834568"/>
            <a:ext cx="9293469" cy="5275768"/>
          </a:xfrm>
          <a:prstGeom prst="rect">
            <a:avLst/>
          </a:prstGeom>
        </p:spPr>
      </p:pic>
    </p:spTree>
    <p:extLst>
      <p:ext uri="{BB962C8B-B14F-4D97-AF65-F5344CB8AC3E}">
        <p14:creationId xmlns:p14="http://schemas.microsoft.com/office/powerpoint/2010/main" val="86132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1C47CB-DBEE-4160-951D-C4577122C7C8}"/>
              </a:ext>
            </a:extLst>
          </p:cNvPr>
          <p:cNvPicPr>
            <a:picLocks noChangeAspect="1"/>
          </p:cNvPicPr>
          <p:nvPr/>
        </p:nvPicPr>
        <p:blipFill>
          <a:blip r:embed="rId3"/>
          <a:srcRect l="457" r="457"/>
          <a:stretch/>
        </p:blipFill>
        <p:spPr>
          <a:xfrm>
            <a:off x="1607527" y="-5707568"/>
            <a:ext cx="9293469" cy="5275768"/>
          </a:xfrm>
          <a:prstGeom prst="rect">
            <a:avLst/>
          </a:prstGeom>
        </p:spPr>
      </p:pic>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4"/>
          <a:srcRect l="457" r="457"/>
          <a:stretch/>
        </p:blipFill>
        <p:spPr>
          <a:xfrm>
            <a:off x="1607526"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Certificate status view</a:t>
            </a:r>
          </a:p>
        </p:txBody>
      </p:sp>
    </p:spTree>
    <p:extLst>
      <p:ext uri="{BB962C8B-B14F-4D97-AF65-F5344CB8AC3E}">
        <p14:creationId xmlns:p14="http://schemas.microsoft.com/office/powerpoint/2010/main" val="471471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b="1"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b="1"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b="1"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a:blip r:embed="rId3"/>
          <a:srcRect l="457" r="457"/>
          <a:stretch/>
        </p:blipFill>
        <p:spPr>
          <a:xfrm>
            <a:off x="1455127" y="1582232"/>
            <a:ext cx="9293469" cy="5275768"/>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Candidate Dashboard Services  - Certificate Final Certificate view</a:t>
            </a:r>
          </a:p>
        </p:txBody>
      </p:sp>
      <p:pic>
        <p:nvPicPr>
          <p:cNvPr id="6" name="Picture 5">
            <a:extLst>
              <a:ext uri="{FF2B5EF4-FFF2-40B4-BE49-F238E27FC236}">
                <a16:creationId xmlns:a16="http://schemas.microsoft.com/office/drawing/2014/main" id="{608589F4-4828-4ABF-901C-34B96D20ADC1}"/>
              </a:ext>
            </a:extLst>
          </p:cNvPr>
          <p:cNvPicPr>
            <a:picLocks noChangeAspect="1"/>
          </p:cNvPicPr>
          <p:nvPr/>
        </p:nvPicPr>
        <p:blipFill rotWithShape="1">
          <a:blip r:embed="rId4"/>
          <a:srcRect l="36783" r="24596"/>
          <a:stretch/>
        </p:blipFill>
        <p:spPr>
          <a:xfrm>
            <a:off x="-4063999" y="1582232"/>
            <a:ext cx="3466732" cy="5049005"/>
          </a:xfrm>
          <a:prstGeom prst="rect">
            <a:avLst/>
          </a:prstGeom>
        </p:spPr>
      </p:pic>
      <p:pic>
        <p:nvPicPr>
          <p:cNvPr id="8" name="Picture 7">
            <a:extLst>
              <a:ext uri="{FF2B5EF4-FFF2-40B4-BE49-F238E27FC236}">
                <a16:creationId xmlns:a16="http://schemas.microsoft.com/office/drawing/2014/main" id="{3BC68CC5-9CC2-4593-88FF-2087EB81C140}"/>
              </a:ext>
            </a:extLst>
          </p:cNvPr>
          <p:cNvPicPr>
            <a:picLocks noChangeAspect="1"/>
          </p:cNvPicPr>
          <p:nvPr/>
        </p:nvPicPr>
        <p:blipFill rotWithShape="1">
          <a:blip r:embed="rId5"/>
          <a:srcRect l="36434" r="24188"/>
          <a:stretch/>
        </p:blipFill>
        <p:spPr>
          <a:xfrm>
            <a:off x="4246684" y="-5339269"/>
            <a:ext cx="3534508" cy="5049005"/>
          </a:xfrm>
          <a:prstGeom prst="rect">
            <a:avLst/>
          </a:prstGeom>
        </p:spPr>
      </p:pic>
      <p:pic>
        <p:nvPicPr>
          <p:cNvPr id="9" name="Picture 8">
            <a:extLst>
              <a:ext uri="{FF2B5EF4-FFF2-40B4-BE49-F238E27FC236}">
                <a16:creationId xmlns:a16="http://schemas.microsoft.com/office/drawing/2014/main" id="{C7118FC6-0A04-4522-8A57-552B7A359880}"/>
              </a:ext>
            </a:extLst>
          </p:cNvPr>
          <p:cNvPicPr>
            <a:picLocks noChangeAspect="1"/>
          </p:cNvPicPr>
          <p:nvPr/>
        </p:nvPicPr>
        <p:blipFill rotWithShape="1">
          <a:blip r:embed="rId6"/>
          <a:srcRect l="37233" r="24144"/>
          <a:stretch/>
        </p:blipFill>
        <p:spPr>
          <a:xfrm>
            <a:off x="12916267" y="1582232"/>
            <a:ext cx="3466732" cy="5049005"/>
          </a:xfrm>
          <a:prstGeom prst="rect">
            <a:avLst/>
          </a:prstGeom>
        </p:spPr>
      </p:pic>
    </p:spTree>
    <p:extLst>
      <p:ext uri="{BB962C8B-B14F-4D97-AF65-F5344CB8AC3E}">
        <p14:creationId xmlns:p14="http://schemas.microsoft.com/office/powerpoint/2010/main" val="727925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extBox 19"/>
          <p:cNvSpPr/>
          <p:nvPr/>
        </p:nvSpPr>
        <p:spPr>
          <a:xfrm>
            <a:off x="561243" y="523517"/>
            <a:ext cx="5263662" cy="428625"/>
          </a:xfrm>
          <a:prstGeom prst="rect">
            <a:avLst/>
          </a:prstGeom>
          <a:noFill/>
          <a:ln/>
        </p:spPr>
        <p:txBody>
          <a:bodyPr wrap="none" lIns="0" tIns="0" rIns="0" bIns="0" rtlCol="0" anchor="t">
            <a:noAutofit/>
          </a:bodyPr>
          <a:lstStyle/>
          <a:p>
            <a:pPr marL="0" indent="0" algn="l">
              <a:lnSpc>
                <a:spcPct val="100000"/>
              </a:lnSpc>
              <a:buNone/>
            </a:pPr>
            <a:r>
              <a:rPr lang="en-IN" altLang="en-US" sz="3200" spc="150" dirty="0">
                <a:solidFill>
                  <a:srgbClr val="0033CC"/>
                </a:solidFill>
                <a:effectLst>
                  <a:outerShdw blurRad="38100" dist="38100" dir="2700000" algn="tl">
                    <a:srgbClr val="000000">
                      <a:alpha val="43137"/>
                    </a:srgbClr>
                  </a:outerShdw>
                </a:effectLst>
                <a:latin typeface="+mj-lt"/>
                <a:ea typeface="Arial" pitchFamily="34" charset="-122"/>
                <a:cs typeface="Arial" pitchFamily="34" charset="-120"/>
              </a:rPr>
              <a:t>Project </a:t>
            </a:r>
            <a:r>
              <a:rPr lang="en-IN" altLang="en-US" sz="3200" spc="150" dirty="0">
                <a:solidFill>
                  <a:srgbClr val="0070C0"/>
                </a:solidFill>
                <a:effectLst>
                  <a:outerShdw blurRad="38100" dist="38100" dir="2700000" algn="tl">
                    <a:srgbClr val="000000">
                      <a:alpha val="43137"/>
                    </a:srgbClr>
                  </a:outerShdw>
                </a:effectLst>
                <a:latin typeface="+mj-lt"/>
                <a:ea typeface="Arial" pitchFamily="34" charset="-122"/>
                <a:cs typeface="Arial" pitchFamily="34" charset="-120"/>
              </a:rPr>
              <a:t>Screenshots -</a:t>
            </a:r>
            <a:r>
              <a:rPr lang="en-IN" altLang="en-US" sz="3200" dirty="0">
                <a:solidFill>
                  <a:srgbClr val="0F172A"/>
                </a:solidFill>
                <a:effectLst>
                  <a:outerShdw blurRad="38100" dist="38100" dir="2700000" algn="tl">
                    <a:srgbClr val="000000">
                      <a:alpha val="43137"/>
                    </a:srgbClr>
                  </a:outerShdw>
                </a:effectLst>
                <a:latin typeface="+mj-lt"/>
                <a:ea typeface="Arial" pitchFamily="34" charset="-122"/>
                <a:cs typeface="Arial" pitchFamily="34" charset="-120"/>
              </a:rPr>
              <a:t> </a:t>
            </a:r>
            <a:endParaRPr lang="en" sz="3200" dirty="0">
              <a:effectLst>
                <a:outerShdw blurRad="38100" dist="38100" dir="2700000" algn="tl">
                  <a:srgbClr val="000000">
                    <a:alpha val="43137"/>
                  </a:srgbClr>
                </a:outerShdw>
              </a:effectLst>
              <a:latin typeface="+mj-lt"/>
            </a:endParaRPr>
          </a:p>
        </p:txBody>
      </p:sp>
      <p:sp>
        <p:nvSpPr>
          <p:cNvPr id="18" name="TextBox 24">
            <a:extLst>
              <a:ext uri="{FF2B5EF4-FFF2-40B4-BE49-F238E27FC236}">
                <a16:creationId xmlns:a16="http://schemas.microsoft.com/office/drawing/2014/main" id="{D81CFE83-5657-437B-8A69-DB5E85258164}"/>
              </a:ext>
            </a:extLst>
          </p:cNvPr>
          <p:cNvSpPr/>
          <p:nvPr/>
        </p:nvSpPr>
        <p:spPr>
          <a:xfrm>
            <a:off x="571500" y="226763"/>
            <a:ext cx="1767254" cy="223837"/>
          </a:xfrm>
          <a:prstGeom prst="rect">
            <a:avLst/>
          </a:prstGeom>
          <a:noFill/>
          <a:ln/>
        </p:spPr>
        <p:txBody>
          <a:bodyPr wrap="none" lIns="0" tIns="0" rIns="0" bIns="0" rtlCol="0" anchor="t">
            <a:normAutofit/>
          </a:bodyPr>
          <a:lstStyle/>
          <a:p>
            <a:pPr marL="0" indent="0" algn="l">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pic>
        <p:nvPicPr>
          <p:cNvPr id="3" name="Picture 2">
            <a:extLst>
              <a:ext uri="{FF2B5EF4-FFF2-40B4-BE49-F238E27FC236}">
                <a16:creationId xmlns:a16="http://schemas.microsoft.com/office/drawing/2014/main" id="{9BE6178A-3D3A-4A1A-AA28-83E74E817E10}"/>
              </a:ext>
            </a:extLst>
          </p:cNvPr>
          <p:cNvPicPr>
            <a:picLocks noChangeAspect="1"/>
          </p:cNvPicPr>
          <p:nvPr/>
        </p:nvPicPr>
        <p:blipFill rotWithShape="1">
          <a:blip r:embed="rId3"/>
          <a:srcRect l="36783" r="24596"/>
          <a:stretch/>
        </p:blipFill>
        <p:spPr>
          <a:xfrm>
            <a:off x="457201" y="1582232"/>
            <a:ext cx="3466732" cy="5049005"/>
          </a:xfrm>
          <a:prstGeom prst="rect">
            <a:avLst/>
          </a:prstGeom>
        </p:spPr>
      </p:pic>
      <p:sp>
        <p:nvSpPr>
          <p:cNvPr id="7" name="Rectangle 6">
            <a:extLst>
              <a:ext uri="{FF2B5EF4-FFF2-40B4-BE49-F238E27FC236}">
                <a16:creationId xmlns:a16="http://schemas.microsoft.com/office/drawing/2014/main" id="{937A9D2E-E39B-47EC-8675-5EE964D26F6F}"/>
              </a:ext>
            </a:extLst>
          </p:cNvPr>
          <p:cNvSpPr/>
          <p:nvPr/>
        </p:nvSpPr>
        <p:spPr>
          <a:xfrm>
            <a:off x="571500" y="931898"/>
            <a:ext cx="10744200" cy="461665"/>
          </a:xfrm>
          <a:prstGeom prst="rect">
            <a:avLst/>
          </a:prstGeom>
          <a:noFill/>
        </p:spPr>
        <p:txBody>
          <a:bodyPr wrap="square" lIns="91440" tIns="45720" rIns="91440" bIns="45720">
            <a:spAutoFit/>
          </a:bodyPr>
          <a:lstStyle/>
          <a:p>
            <a:r>
              <a:rPr lang="en-US" sz="2400" b="0" cap="none" spc="0" dirty="0">
                <a:ln w="0"/>
                <a:solidFill>
                  <a:schemeClr val="tx1"/>
                </a:solidFill>
                <a:effectLst>
                  <a:outerShdw blurRad="38100" dist="19050" dir="2700000" algn="tl" rotWithShape="0">
                    <a:schemeClr val="dk1">
                      <a:alpha val="40000"/>
                    </a:schemeClr>
                  </a:outerShdw>
                </a:effectLst>
              </a:rPr>
              <a:t>Admin Dashboard Services  - Student Search view</a:t>
            </a:r>
          </a:p>
        </p:txBody>
      </p:sp>
      <p:pic>
        <p:nvPicPr>
          <p:cNvPr id="6" name="Picture 5">
            <a:extLst>
              <a:ext uri="{FF2B5EF4-FFF2-40B4-BE49-F238E27FC236}">
                <a16:creationId xmlns:a16="http://schemas.microsoft.com/office/drawing/2014/main" id="{4160F383-9D1B-4605-B70A-EB744C3A586C}"/>
              </a:ext>
            </a:extLst>
          </p:cNvPr>
          <p:cNvPicPr>
            <a:picLocks noChangeAspect="1"/>
          </p:cNvPicPr>
          <p:nvPr/>
        </p:nvPicPr>
        <p:blipFill rotWithShape="1">
          <a:blip r:embed="rId4"/>
          <a:srcRect l="36434" r="24188"/>
          <a:stretch/>
        </p:blipFill>
        <p:spPr>
          <a:xfrm>
            <a:off x="4246684" y="1582231"/>
            <a:ext cx="3534508" cy="5049005"/>
          </a:xfrm>
          <a:prstGeom prst="rect">
            <a:avLst/>
          </a:prstGeom>
        </p:spPr>
      </p:pic>
      <p:pic>
        <p:nvPicPr>
          <p:cNvPr id="8" name="Picture 7">
            <a:extLst>
              <a:ext uri="{FF2B5EF4-FFF2-40B4-BE49-F238E27FC236}">
                <a16:creationId xmlns:a16="http://schemas.microsoft.com/office/drawing/2014/main" id="{6BF4F0E9-5A42-4AF4-8F87-6E568A502869}"/>
              </a:ext>
            </a:extLst>
          </p:cNvPr>
          <p:cNvPicPr>
            <a:picLocks noChangeAspect="1"/>
          </p:cNvPicPr>
          <p:nvPr/>
        </p:nvPicPr>
        <p:blipFill rotWithShape="1">
          <a:blip r:embed="rId5"/>
          <a:srcRect l="37233" r="24144"/>
          <a:stretch/>
        </p:blipFill>
        <p:spPr>
          <a:xfrm>
            <a:off x="8268067" y="1582232"/>
            <a:ext cx="3466732" cy="5049005"/>
          </a:xfrm>
          <a:prstGeom prst="rect">
            <a:avLst/>
          </a:prstGeom>
        </p:spPr>
      </p:pic>
      <p:pic>
        <p:nvPicPr>
          <p:cNvPr id="9" name="Picture 8">
            <a:extLst>
              <a:ext uri="{FF2B5EF4-FFF2-40B4-BE49-F238E27FC236}">
                <a16:creationId xmlns:a16="http://schemas.microsoft.com/office/drawing/2014/main" id="{21C86C38-8686-4196-9FA0-FE6D110BA8B5}"/>
              </a:ext>
            </a:extLst>
          </p:cNvPr>
          <p:cNvPicPr>
            <a:picLocks noChangeAspect="1"/>
          </p:cNvPicPr>
          <p:nvPr/>
        </p:nvPicPr>
        <p:blipFill>
          <a:blip r:embed="rId6"/>
          <a:srcRect l="457" r="457"/>
          <a:stretch/>
        </p:blipFill>
        <p:spPr>
          <a:xfrm>
            <a:off x="1455127" y="7627432"/>
            <a:ext cx="9293469" cy="5275768"/>
          </a:xfrm>
          <a:prstGeom prst="rect">
            <a:avLst/>
          </a:prstGeom>
        </p:spPr>
      </p:pic>
      <p:pic>
        <p:nvPicPr>
          <p:cNvPr id="10" name="Picture 9">
            <a:extLst>
              <a:ext uri="{FF2B5EF4-FFF2-40B4-BE49-F238E27FC236}">
                <a16:creationId xmlns:a16="http://schemas.microsoft.com/office/drawing/2014/main" id="{87237203-2083-44D9-9117-5AD452D2A6F9}"/>
              </a:ext>
            </a:extLst>
          </p:cNvPr>
          <p:cNvPicPr>
            <a:picLocks noChangeAspect="1"/>
          </p:cNvPicPr>
          <p:nvPr/>
        </p:nvPicPr>
        <p:blipFill rotWithShape="1">
          <a:blip r:embed="rId7"/>
          <a:srcRect l="22230" r="22230"/>
          <a:stretch/>
        </p:blipFill>
        <p:spPr>
          <a:xfrm>
            <a:off x="-5857142" y="1582231"/>
            <a:ext cx="4985238" cy="5049005"/>
          </a:xfrm>
          <a:prstGeom prst="rect">
            <a:avLst/>
          </a:prstGeom>
        </p:spPr>
      </p:pic>
      <p:pic>
        <p:nvPicPr>
          <p:cNvPr id="11" name="Picture 10">
            <a:extLst>
              <a:ext uri="{FF2B5EF4-FFF2-40B4-BE49-F238E27FC236}">
                <a16:creationId xmlns:a16="http://schemas.microsoft.com/office/drawing/2014/main" id="{2DBE7552-0B1F-4E14-B89B-692167A2F0F1}"/>
              </a:ext>
            </a:extLst>
          </p:cNvPr>
          <p:cNvPicPr>
            <a:picLocks noChangeAspect="1"/>
          </p:cNvPicPr>
          <p:nvPr/>
        </p:nvPicPr>
        <p:blipFill rotWithShape="1">
          <a:blip r:embed="rId8"/>
          <a:srcRect l="39329" r="23672"/>
          <a:stretch/>
        </p:blipFill>
        <p:spPr>
          <a:xfrm>
            <a:off x="5504901" y="-5859970"/>
            <a:ext cx="2804746" cy="5049005"/>
          </a:xfrm>
          <a:prstGeom prst="rect">
            <a:avLst/>
          </a:prstGeom>
        </p:spPr>
      </p:pic>
      <p:pic>
        <p:nvPicPr>
          <p:cNvPr id="12" name="Picture 11">
            <a:extLst>
              <a:ext uri="{FF2B5EF4-FFF2-40B4-BE49-F238E27FC236}">
                <a16:creationId xmlns:a16="http://schemas.microsoft.com/office/drawing/2014/main" id="{6BB38193-937A-4FD3-88EE-0290AABA9AED}"/>
              </a:ext>
            </a:extLst>
          </p:cNvPr>
          <p:cNvPicPr>
            <a:picLocks noChangeAspect="1"/>
          </p:cNvPicPr>
          <p:nvPr/>
        </p:nvPicPr>
        <p:blipFill rotWithShape="1">
          <a:blip r:embed="rId9"/>
          <a:srcRect l="40252" t="57995" r="23408" b="8222"/>
          <a:stretch/>
        </p:blipFill>
        <p:spPr>
          <a:xfrm>
            <a:off x="12908452" y="1582230"/>
            <a:ext cx="3261946" cy="1705708"/>
          </a:xfrm>
          <a:prstGeom prst="rect">
            <a:avLst/>
          </a:prstGeom>
        </p:spPr>
      </p:pic>
      <p:pic>
        <p:nvPicPr>
          <p:cNvPr id="13" name="Picture 12">
            <a:extLst>
              <a:ext uri="{FF2B5EF4-FFF2-40B4-BE49-F238E27FC236}">
                <a16:creationId xmlns:a16="http://schemas.microsoft.com/office/drawing/2014/main" id="{5F09321D-DCF0-4A50-B5FA-67B918F13D2A}"/>
              </a:ext>
            </a:extLst>
          </p:cNvPr>
          <p:cNvPicPr>
            <a:picLocks noChangeAspect="1"/>
          </p:cNvPicPr>
          <p:nvPr/>
        </p:nvPicPr>
        <p:blipFill rotWithShape="1">
          <a:blip r:embed="rId10"/>
          <a:srcRect l="41106" t="59744" r="25505" b="9871"/>
          <a:stretch/>
        </p:blipFill>
        <p:spPr>
          <a:xfrm>
            <a:off x="8514253" y="7283938"/>
            <a:ext cx="3091776" cy="1582616"/>
          </a:xfrm>
          <a:prstGeom prst="rect">
            <a:avLst/>
          </a:prstGeom>
        </p:spPr>
      </p:pic>
      <p:pic>
        <p:nvPicPr>
          <p:cNvPr id="15" name="Picture 14">
            <a:extLst>
              <a:ext uri="{FF2B5EF4-FFF2-40B4-BE49-F238E27FC236}">
                <a16:creationId xmlns:a16="http://schemas.microsoft.com/office/drawing/2014/main" id="{72B484D0-4583-4324-A332-1006254ABB3A}"/>
              </a:ext>
            </a:extLst>
          </p:cNvPr>
          <p:cNvPicPr>
            <a:picLocks noChangeAspect="1"/>
          </p:cNvPicPr>
          <p:nvPr/>
        </p:nvPicPr>
        <p:blipFill rotWithShape="1">
          <a:blip r:embed="rId11"/>
          <a:srcRect l="30726" t="71193" r="28409" b="18548"/>
          <a:stretch/>
        </p:blipFill>
        <p:spPr>
          <a:xfrm>
            <a:off x="749910" y="3152777"/>
            <a:ext cx="557396" cy="80962"/>
          </a:xfrm>
          <a:prstGeom prst="rect">
            <a:avLst/>
          </a:prstGeom>
        </p:spPr>
      </p:pic>
    </p:spTree>
    <p:extLst>
      <p:ext uri="{BB962C8B-B14F-4D97-AF65-F5344CB8AC3E}">
        <p14:creationId xmlns:p14="http://schemas.microsoft.com/office/powerpoint/2010/main" val="796276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_type_image"/>
          <p:cNvPicPr>
            <a:picLocks noChangeAspect="1"/>
          </p:cNvPicPr>
          <p:nvPr/>
        </p:nvPicPr>
        <p:blipFill>
          <a:blip r:embed="rId2"/>
          <a:stretch>
            <a:fillRect/>
          </a:stretch>
        </p:blipFill>
        <p:spPr>
          <a:xfrm>
            <a:off x="0" y="0"/>
            <a:ext cx="12192000" cy="6858000"/>
          </a:xfrm>
          <a:prstGeom prst="rect">
            <a:avLst/>
          </a:prstGeom>
        </p:spPr>
      </p:pic>
      <p:sp>
        <p:nvSpPr>
          <p:cNvPr id="5" name="TextBox 48"/>
          <p:cNvSpPr/>
          <p:nvPr/>
        </p:nvSpPr>
        <p:spPr>
          <a:xfrm>
            <a:off x="2562969" y="1962150"/>
            <a:ext cx="7065913" cy="190500"/>
          </a:xfrm>
          <a:prstGeom prst="rect">
            <a:avLst/>
          </a:prstGeom>
          <a:noFill/>
          <a:ln/>
        </p:spPr>
        <p:txBody>
          <a:bodyPr wrap="none" lIns="0" tIns="0" rIns="0" bIns="0" rtlCol="0" anchor="t">
            <a:normAutofit/>
          </a:bodyPr>
          <a:lstStyle/>
          <a:p>
            <a:pPr marL="0" indent="0" algn="ctr">
              <a:lnSpc>
                <a:spcPct val="100000"/>
              </a:lnSpc>
              <a:buNone/>
            </a:pPr>
            <a:r>
              <a:rPr lang="ja" altLang="en-US" sz="1050" b="1" kern="0" spc="210" dirty="0">
                <a:solidFill>
                  <a:srgbClr val="0052FF">
                    <a:alpha val="80000"/>
                  </a:srgbClr>
                </a:solidFill>
                <a:latin typeface="Meiryo UI" pitchFamily="34" charset="0"/>
                <a:ea typeface="Meiryo UI" pitchFamily="34" charset="-122"/>
                <a:cs typeface="Meiryo UI" pitchFamily="34" charset="-120"/>
              </a:rPr>
              <a:t>CONCLUSION</a:t>
            </a:r>
            <a:endParaRPr lang="ja" sz="1050" dirty="0"/>
          </a:p>
        </p:txBody>
      </p:sp>
      <p:sp>
        <p:nvSpPr>
          <p:cNvPr id="6" name="TextBox 50"/>
          <p:cNvSpPr/>
          <p:nvPr/>
        </p:nvSpPr>
        <p:spPr>
          <a:xfrm>
            <a:off x="2562969" y="2381250"/>
            <a:ext cx="7065913" cy="857250"/>
          </a:xfrm>
          <a:prstGeom prst="rect">
            <a:avLst/>
          </a:prstGeom>
          <a:noFill/>
          <a:ln/>
        </p:spPr>
        <p:txBody>
          <a:bodyPr wrap="none" lIns="0" tIns="0" rIns="0" bIns="0" rtlCol="0" anchor="t"/>
          <a:lstStyle/>
          <a:p>
            <a:pPr marL="0" indent="0" algn="ctr">
              <a:lnSpc>
                <a:spcPts val="6300"/>
              </a:lnSpc>
              <a:buNone/>
            </a:pPr>
            <a:r>
              <a:rPr lang="ja" altLang="en-US" sz="6300" kern="0" spc="200" dirty="0">
                <a:solidFill>
                  <a:srgbClr val="0F172A"/>
                </a:solidFill>
                <a:latin typeface="Meiryo UI" pitchFamily="34" charset="0"/>
                <a:ea typeface="Meiryo UI" pitchFamily="34" charset="-122"/>
                <a:cs typeface="Meiryo UI" pitchFamily="34" charset="-120"/>
              </a:rPr>
              <a:t>THE FUTURE OF</a:t>
            </a:r>
            <a:endParaRPr lang="ja" sz="6300" spc="200" dirty="0"/>
          </a:p>
        </p:txBody>
      </p:sp>
      <p:sp>
        <p:nvSpPr>
          <p:cNvPr id="7" name="TextBox 61"/>
          <p:cNvSpPr/>
          <p:nvPr/>
        </p:nvSpPr>
        <p:spPr>
          <a:xfrm>
            <a:off x="3205163" y="4362450"/>
            <a:ext cx="5781526" cy="619125"/>
          </a:xfrm>
          <a:prstGeom prst="rect">
            <a:avLst/>
          </a:prstGeom>
          <a:noFill/>
          <a:ln/>
        </p:spPr>
        <p:txBody>
          <a:bodyPr wrap="none" lIns="0" tIns="0" rIns="0" bIns="0" rtlCol="0" anchor="t"/>
          <a:lstStyle/>
          <a:p>
            <a:pPr marL="0" indent="0" algn="ctr">
              <a:lnSpc>
                <a:spcPts val="2438"/>
              </a:lnSpc>
              <a:buNone/>
            </a:pPr>
            <a:r>
              <a:rPr lang="ja" altLang="en-US" sz="1500" i="1" dirty="0">
                <a:solidFill>
                  <a:srgbClr val="0F172A">
                    <a:alpha val="80000"/>
                  </a:srgbClr>
                </a:solidFill>
                <a:latin typeface="Meiryo UI" pitchFamily="34" charset="0"/>
                <a:ea typeface="Meiryo UI" pitchFamily="34" charset="-122"/>
                <a:cs typeface="Meiryo UI" pitchFamily="34" charset="-120"/>
              </a:rPr>
              <a:t>"Restoring trust in academic credentials through decentralized</a:t>
            </a:r>
            <a:endParaRPr lang="ja" sz="1500" dirty="0"/>
          </a:p>
          <a:p>
            <a:pPr marL="0" indent="0" algn="ctr">
              <a:lnSpc>
                <a:spcPts val="2438"/>
              </a:lnSpc>
              <a:buNone/>
            </a:pPr>
            <a:r>
              <a:rPr lang="ja" altLang="en-US" sz="1500" i="1" dirty="0">
                <a:solidFill>
                  <a:srgbClr val="0F172A">
                    <a:alpha val="80000"/>
                  </a:srgbClr>
                </a:solidFill>
                <a:latin typeface="Meiryo UI" pitchFamily="34" charset="0"/>
                <a:ea typeface="Meiryo UI" pitchFamily="34" charset="-122"/>
                <a:cs typeface="Meiryo UI" pitchFamily="34" charset="-120"/>
              </a:rPr>
              <a:t>innovation."</a:t>
            </a:r>
            <a:endParaRPr lang="ja" sz="1500" dirty="0"/>
          </a:p>
        </p:txBody>
      </p:sp>
      <p:sp>
        <p:nvSpPr>
          <p:cNvPr id="10" name="TextBox 9">
            <a:extLst>
              <a:ext uri="{FF2B5EF4-FFF2-40B4-BE49-F238E27FC236}">
                <a16:creationId xmlns:a16="http://schemas.microsoft.com/office/drawing/2014/main" id="{59B303F5-FB07-46B3-BAB6-94113F42756F}"/>
              </a:ext>
            </a:extLst>
          </p:cNvPr>
          <p:cNvSpPr txBox="1"/>
          <p:nvPr/>
        </p:nvSpPr>
        <p:spPr>
          <a:xfrm>
            <a:off x="3016420" y="3519094"/>
            <a:ext cx="6159010" cy="307777"/>
          </a:xfrm>
          <a:prstGeom prst="rect">
            <a:avLst/>
          </a:prstGeom>
          <a:noFill/>
        </p:spPr>
        <p:txBody>
          <a:bodyPr wrap="square">
            <a:spAutoFit/>
          </a:bodyPr>
          <a:lstStyle/>
          <a:p>
            <a:pPr algn="l"/>
            <a:r>
              <a:rPr lang="en-IN" sz="1400" i="0" dirty="0">
                <a:solidFill>
                  <a:srgbClr val="1F2328"/>
                </a:solidFill>
                <a:effectLst/>
                <a:latin typeface="Meiryo UI" panose="020B0604030504040204" pitchFamily="34" charset="-128"/>
                <a:ea typeface="Meiryo UI" panose="020B0604030504040204" pitchFamily="34" charset="-128"/>
              </a:rPr>
              <a:t>Repository Link :</a:t>
            </a:r>
          </a:p>
        </p:txBody>
      </p:sp>
      <p:sp>
        <p:nvSpPr>
          <p:cNvPr id="12" name="TextBox 11">
            <a:extLst>
              <a:ext uri="{FF2B5EF4-FFF2-40B4-BE49-F238E27FC236}">
                <a16:creationId xmlns:a16="http://schemas.microsoft.com/office/drawing/2014/main" id="{6440CEFA-CF7C-44B0-98E0-F94FCCEDF5AD}"/>
              </a:ext>
            </a:extLst>
          </p:cNvPr>
          <p:cNvSpPr txBox="1"/>
          <p:nvPr/>
        </p:nvSpPr>
        <p:spPr>
          <a:xfrm>
            <a:off x="4616621" y="3500734"/>
            <a:ext cx="5012261" cy="307777"/>
          </a:xfrm>
          <a:prstGeom prst="rect">
            <a:avLst/>
          </a:prstGeom>
          <a:noFill/>
        </p:spPr>
        <p:txBody>
          <a:bodyPr wrap="square">
            <a:spAutoFit/>
          </a:bodyPr>
          <a:lstStyle/>
          <a:p>
            <a:r>
              <a:rPr lang="en-IN" sz="1400" b="0" i="0" u="sng" dirty="0">
                <a:solidFill>
                  <a:srgbClr val="0969DA"/>
                </a:solidFill>
                <a:effectLst/>
                <a:latin typeface="Mona Sans VF"/>
                <a:hlinkClick r:id="rId3"/>
              </a:rPr>
              <a:t>https://github.com/saikatssg/student-education-portal/tree/main</a:t>
            </a:r>
            <a:endParaRPr lang="en-IN" sz="1400" dirty="0"/>
          </a:p>
        </p:txBody>
      </p:sp>
      <p:sp>
        <p:nvSpPr>
          <p:cNvPr id="13" name="TextBox 24">
            <a:extLst>
              <a:ext uri="{FF2B5EF4-FFF2-40B4-BE49-F238E27FC236}">
                <a16:creationId xmlns:a16="http://schemas.microsoft.com/office/drawing/2014/main" id="{971F8DC1-FFF5-483C-9643-991D17EA9321}"/>
              </a:ext>
            </a:extLst>
          </p:cNvPr>
          <p:cNvSpPr/>
          <p:nvPr/>
        </p:nvSpPr>
        <p:spPr>
          <a:xfrm>
            <a:off x="5212298" y="827574"/>
            <a:ext cx="1767254" cy="223837"/>
          </a:xfrm>
          <a:prstGeom prst="rect">
            <a:avLst/>
          </a:prstGeom>
          <a:noFill/>
          <a:ln/>
        </p:spPr>
        <p:txBody>
          <a:bodyPr wrap="none" lIns="0" tIns="0" rIns="0" bIns="0" rtlCol="0" anchor="t">
            <a:normAutofit/>
          </a:bodyPr>
          <a:lstStyle/>
          <a:p>
            <a:pPr marL="0" indent="0" algn="ctr">
              <a:lnSpc>
                <a:spcPct val="100000"/>
              </a:lnSpc>
              <a:buNone/>
            </a:pPr>
            <a:r>
              <a:rPr lang="en-IN" altLang="en-US" sz="1200" b="1" kern="0" spc="146" dirty="0">
                <a:solidFill>
                  <a:schemeClr val="accent2">
                    <a:lumMod val="75000"/>
                  </a:schemeClr>
                </a:solidFill>
                <a:latin typeface="JetBrains Mono" pitchFamily="34" charset="0"/>
                <a:ea typeface="JetBrains Mono" pitchFamily="34" charset="-122"/>
                <a:cs typeface="JetBrains Mono" pitchFamily="34" charset="-120"/>
              </a:rPr>
              <a:t>EDUCATE</a:t>
            </a:r>
            <a:r>
              <a:rPr lang="en-IN" altLang="en-US" sz="1200" b="1" kern="0" spc="146" dirty="0">
                <a:solidFill>
                  <a:srgbClr val="0052FF"/>
                </a:solidFill>
                <a:latin typeface="JetBrains Mono" pitchFamily="34" charset="0"/>
                <a:ea typeface="JetBrains Mono" pitchFamily="34" charset="-122"/>
                <a:cs typeface="JetBrains Mono" pitchFamily="34" charset="-120"/>
              </a:rPr>
              <a:t> Portal</a:t>
            </a:r>
          </a:p>
        </p:txBody>
      </p:sp>
    </p:spTree>
    <p:extLst>
      <p:ext uri="{BB962C8B-B14F-4D97-AF65-F5344CB8AC3E}">
        <p14:creationId xmlns:p14="http://schemas.microsoft.com/office/powerpoint/2010/main" val="1461310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2439</TotalTime>
  <Words>3741</Words>
  <Application>Microsoft Office PowerPoint</Application>
  <PresentationFormat>Widescreen</PresentationFormat>
  <Paragraphs>564</Paragraphs>
  <Slides>44</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44</vt:i4>
      </vt:variant>
    </vt:vector>
  </HeadingPairs>
  <TitlesOfParts>
    <vt:vector size="60" baseType="lpstr">
      <vt:lpstr>Meiryo UI</vt:lpstr>
      <vt:lpstr>Arial</vt:lpstr>
      <vt:lpstr>Calibri</vt:lpstr>
      <vt:lpstr>Calibri Light</vt:lpstr>
      <vt:lpstr>DejaVu Sans Mono</vt:lpstr>
      <vt:lpstr>DM Sans</vt:lpstr>
      <vt:lpstr>Google Sans Text</vt:lpstr>
      <vt:lpstr>Inter</vt:lpstr>
      <vt:lpstr>JetBrains Mono</vt:lpstr>
      <vt:lpstr>Liberation Mono</vt:lpstr>
      <vt:lpstr>Mona Sans VF</vt:lpstr>
      <vt:lpstr>Segoe UI Light</vt:lpstr>
      <vt:lpstr>Segoe UI Variable Text Light</vt:lpstr>
      <vt:lpstr>Space Grotesk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Nielit</cp:lastModifiedBy>
  <cp:revision>178</cp:revision>
  <dcterms:created xsi:type="dcterms:W3CDTF">2026-09-22T05:48:56Z</dcterms:created>
  <dcterms:modified xsi:type="dcterms:W3CDTF">2026-10-05T11:34:05Z</dcterms:modified>
</cp:coreProperties>
</file>